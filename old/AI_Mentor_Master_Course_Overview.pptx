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COURSE TRAILER INTRO:</a:t>
            </a:r>
          </a:p>
          <a:p>
            <a:r>
              <a:t>"Welcome to the master orientation of AI Mentor, proudly produced by R.K. SKILLFORGE!</a:t>
            </a:r>
          </a:p>
          <a:p>
            <a:r>
              <a:t>In a world where new AI tools drop every single week, thousands of tutorials flood YouTube, and job descriptions feel like impossible wishlists, self-learning has become overwhelming.</a:t>
            </a:r>
          </a:p>
          <a:p>
            <a:r>
              <a:t>AI Mentor is a comprehensive, 100% free masterclass designed to take you from a spark of raw curiosity to real-world career mastery.</a:t>
            </a:r>
          </a:p>
          <a:p>
            <a:r>
              <a:t>In this overview video, we will walk you through our complete curriculum, our philosophy, and how this course will transform the way you learn and work forever.</a:t>
            </a:r>
          </a:p>
          <a:p>
            <a:r>
              <a:t>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what makes AI Mentor unique:</a:t>
            </a:r>
          </a:p>
          <a:p>
            <a:r>
              <a:t>Created by R.K. SKILLFORGE, this entire course is completely open and free. There is no $2,000 paywall, no hidden subscription, and no locked Discord channel.</a:t>
            </a:r>
          </a:p>
          <a:p>
            <a:r>
              <a:t>Whether you speak English, Hindi, or Hinglish, and whether you are a high school student, a university graduate, or a professional looking to switch into tech, this course is tailored for you.</a:t>
            </a:r>
          </a:p>
          <a:p>
            <a:r>
              <a:t>You don't need an engineering degree to start. All you need is curiosity and the discipline to follow our frameworks."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"By the time you complete this course, you will possess 6 superpower capabilities:</a:t>
            </a:r>
          </a:p>
          <a:p>
            <a:r>
              <a:t>You will know how to evaluate any skill, separate enduring principles from temporary fads, build a customized learning roadmap, use generative AI without becoming mentally dependent on it, network with real industry mentors, and turn that skill into cold hard cash or a high-paying job offer.</a:t>
            </a:r>
          </a:p>
          <a:p>
            <a:r>
              <a:t>These are the meta-skills that will keep you ahead of the curve for the rest of your career."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the 8-step journey on this screen.</a:t>
            </a:r>
          </a:p>
          <a:p>
            <a:r>
              <a:t>Most self-taught learners fail because they try to jump from Step 1 directly to Step 8. They see an interesting technology, watch two videos, and start applying for senior jobs.</a:t>
            </a:r>
          </a:p>
          <a:p>
            <a:r>
              <a:t>When you follow this sequence—Interest, Explore, Understand, Learn, Practice, Connect, Opportunity, Career—every step builds natural momentum.</a:t>
            </a:r>
          </a:p>
          <a:p>
            <a:r>
              <a:t>You never feel lost, because you always know the exact next milestone to conquer."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are the 6 traps that kill 95% of self-learning journeys:</a:t>
            </a:r>
          </a:p>
          <a:p>
            <a:r>
              <a:t>Lack of knowledge, resource overload, FOMO, disconnected roadmaps, lack of real mentorship, and blind trust in AI.</a:t>
            </a:r>
          </a:p>
          <a:p>
            <a:r>
              <a:t>If you have ever started an online course and quit after three weeks, or felt overwhelmed by the sheer volume of tutorials on YouTube, you have been a victim of these exact traps.</a:t>
            </a:r>
          </a:p>
          <a:p>
            <a:r>
              <a:t>AI Mentor was engineered specifically to solve every single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the 10-part solution from R.K. SKILLFORGE.</a:t>
            </a:r>
          </a:p>
          <a:p>
            <a:r>
              <a:t>Instead of giving you a random playlist of videos, AI Mentor gives you a complete operating system.</a:t>
            </a:r>
          </a:p>
          <a:p>
            <a:r>
              <a:t>We show you what direction to take, what fundamentals to focus on, how to verify AI answers, how to reach out to real human mentors, and how to position yourself for career opportunities.</a:t>
            </a:r>
          </a:p>
          <a:p>
            <a:r>
              <a:t>This is how you build an unshakeable career foundation."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"Take a close look at this slide.</a:t>
            </a:r>
          </a:p>
          <a:p>
            <a:r>
              <a:t>The AI Mentor Creed on the left is our central philosophy: 'Don't learn everything. Understand what matters. Build strong fundamentals. Use AI wisely. Learn from real people. Take action. Keep improving.'</a:t>
            </a:r>
          </a:p>
          <a:p>
            <a:r>
              <a:t>And remember our core equation: AI can help you learn faster, but real people help you understand reality.</a:t>
            </a:r>
          </a:p>
          <a:p>
            <a:r>
              <a:t>When you pair the incredible research velocity of AI with the lived wisdom of experienced human mentors, you become unstoppable."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complete five-module curriculum:</a:t>
            </a:r>
          </a:p>
          <a:p>
            <a:r>
              <a:t>Module 00: Introduction — mindset and philosophy.</a:t>
            </a:r>
          </a:p>
          <a:p>
            <a:r>
              <a:t>Module 01: Find Your Way — skill diagnostic and roadmap construction.</a:t>
            </a:r>
          </a:p>
          <a:p>
            <a:r>
              <a:t>Module 02: Make an Online Presence — content creation and personal branding.</a:t>
            </a:r>
          </a:p>
          <a:p>
            <a:r>
              <a:t>Module 03: Make Money With Your Skills — freelancing, contracts, and retainers.</a:t>
            </a:r>
          </a:p>
          <a:p>
            <a:r>
              <a:t>Module 04: Preparation For Job Hunting — resumes, technical interviews, and offer letters.</a:t>
            </a:r>
          </a:p>
          <a:p>
            <a:r>
              <a:t>Every module has its own dedicated video walkthrough and open-source materials ready for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wanted to make sure you have direct access to AI assistance right inside your favorite tools.</a:t>
            </a:r>
          </a:p>
          <a:p>
            <a:r>
              <a:t>That is why every module in AI Mentor includes two ready-to-use assets:</a:t>
            </a:r>
          </a:p>
          <a:p>
            <a:r>
              <a:t>First, pre-packaged .skill jars for Claude Projects and Antigravity agents.</a:t>
            </a:r>
          </a:p>
          <a:p>
            <a:r>
              <a:t>Second, universal copy-paste markdown prompts that work inside ChatGPT, Gemini, Claude, or local offline LLMs.</a:t>
            </a:r>
          </a:p>
          <a:p>
            <a:r>
              <a:t>You can turn any AI into your personal career coach in 30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are the most common questions learners ask us:</a:t>
            </a:r>
          </a:p>
          <a:p>
            <a:r>
              <a:t>Do you need a computer science degree? Absolutely not. Basic internet knowledge is enough.</a:t>
            </a:r>
          </a:p>
          <a:p>
            <a:r>
              <a:t>Does this replace a human mentor? No! AI accelerates your research, but human mentors give you perspective and trust.</a:t>
            </a:r>
          </a:p>
          <a:p>
            <a:r>
              <a:t>And yes, this entire curriculum is 100% free forever from R.K. SKILLFORGE. No upselling, no gatekeeping."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"Ready to begin? Here is your exact 3-step action plan:</a:t>
            </a:r>
          </a:p>
          <a:p>
            <a:r>
              <a:t>Step 1: Star and clone our GitHub repository so you have all the prompt files on your machine.</a:t>
            </a:r>
          </a:p>
          <a:p>
            <a:r>
              <a:t>Step 2: Watch Lesson 0.1 to lock in your mindset.</a:t>
            </a:r>
          </a:p>
          <a:p>
            <a:r>
              <a:t>Step 3: Dive into Module 01: Find Your Way and generate your personal roadmap.</a:t>
            </a:r>
          </a:p>
          <a:p>
            <a:r>
              <a:t>Stop waiting for the 'perfect time'. Start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FINAL MASTER OUTRO:</a:t>
            </a:r>
          </a:p>
          <a:p>
            <a:r>
              <a:t>"Thank you for watching the master overview of AI Mentor, brought to you by R.K. SKILLFORGE.</a:t>
            </a:r>
          </a:p>
          <a:p>
            <a:r>
              <a:t>This course represents hundreds of hours of research, synthesis, and real-world engineering experience—delivered 100% free to empower learners worldwide.</a:t>
            </a:r>
          </a:p>
          <a:p>
            <a:r>
              <a:t>If you're excited about this journey, hit the Like button, Subscribe to the channel, and star our GitHub repository.</a:t>
            </a:r>
          </a:p>
          <a:p>
            <a:r>
              <a:t>Leave a comment with what topic or skill you want to master first.</a:t>
            </a:r>
          </a:p>
          <a:p>
            <a:r>
              <a:t>I will see you in Module 00: Introduction to AI Mentor!"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097280"/>
            <a:ext cx="6217920" cy="411480"/>
          </a:xfrm>
          <a:prstGeom prst="rect">
            <a:avLst/>
          </a:prstGeom>
          <a:noFill/>
        </p:spPr>
        <p:txBody>
          <a:bodyPr wrap="none">
            <a:spAutoFit/>
          </a:bodyPr>
          <a:lstStyle/>
          <a:p>
            <a:pPr>
              <a:defRPr sz="1400" b="1">
                <a:solidFill>
                  <a:srgbClr val="2DD4BF"/>
                </a:solidFill>
              </a:defRPr>
            </a:pPr>
            <a:r>
              <a:t>🚀 R.K. SKILLFORGE PRESENTS</a:t>
            </a:r>
          </a:p>
        </p:txBody>
      </p:sp>
      <p:sp>
        <p:nvSpPr>
          <p:cNvPr id="5" name="TextBox 4"/>
          <p:cNvSpPr txBox="1"/>
          <p:nvPr/>
        </p:nvSpPr>
        <p:spPr>
          <a:xfrm>
            <a:off x="1051560" y="1600200"/>
            <a:ext cx="6217920" cy="1554480"/>
          </a:xfrm>
          <a:prstGeom prst="rect">
            <a:avLst/>
          </a:prstGeom>
          <a:noFill/>
        </p:spPr>
        <p:txBody>
          <a:bodyPr wrap="square">
            <a:spAutoFit/>
          </a:bodyPr>
          <a:lstStyle/>
          <a:p>
            <a:pPr>
              <a:defRPr sz="4600" b="1">
                <a:solidFill>
                  <a:srgbClr val="F8FAFC"/>
                </a:solidFill>
              </a:defRPr>
            </a:pPr>
            <a:r>
              <a:t>AI MENTOR</a:t>
            </a:r>
          </a:p>
          <a:p>
            <a:pPr>
              <a:defRPr sz="2100" b="1">
                <a:solidFill>
                  <a:srgbClr val="38BDF8"/>
                </a:solidFill>
              </a:defRPr>
            </a:pPr>
            <a:r>
              <a:t>The Complete Master Curriculum Overview</a:t>
            </a:r>
          </a:p>
        </p:txBody>
      </p:sp>
      <p:sp>
        <p:nvSpPr>
          <p:cNvPr id="6" name="TextBox 5"/>
          <p:cNvSpPr txBox="1"/>
          <p:nvPr/>
        </p:nvSpPr>
        <p:spPr>
          <a:xfrm>
            <a:off x="1051560" y="3291840"/>
            <a:ext cx="6217920" cy="1097280"/>
          </a:xfrm>
          <a:prstGeom prst="rect">
            <a:avLst/>
          </a:prstGeom>
          <a:noFill/>
        </p:spPr>
        <p:txBody>
          <a:bodyPr wrap="square">
            <a:spAutoFit/>
          </a:bodyPr>
          <a:lstStyle/>
          <a:p>
            <a:pPr>
              <a:defRPr sz="1700">
                <a:solidFill>
                  <a:srgbClr val="F8FAFC"/>
                </a:solidFill>
              </a:defRPr>
            </a:pPr>
            <a:r>
              <a:t>Transforming Vague Curiosity into Informed Action</a:t>
            </a:r>
          </a:p>
          <a:p>
            <a:pPr>
              <a:spcBef>
                <a:spcPts val="600"/>
              </a:spcBef>
              <a:defRPr sz="2200" b="1">
                <a:solidFill>
                  <a:srgbClr val="FBBF24"/>
                </a:solidFill>
              </a:defRPr>
            </a:pPr>
            <a:r>
              <a:t>Interest  ➔  Passion  ➔  Career</a:t>
            </a:r>
          </a:p>
        </p:txBody>
      </p:sp>
      <p:sp>
        <p:nvSpPr>
          <p:cNvPr id="7" name="Rounded Rectangle 6"/>
          <p:cNvSpPr/>
          <p:nvPr/>
        </p:nvSpPr>
        <p:spPr>
          <a:xfrm>
            <a:off x="7333488" y="1298448"/>
            <a:ext cx="4169664" cy="2414016"/>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 Mentor Thumbnail.png"/>
          <p:cNvPicPr>
            <a:picLocks noChangeAspect="1"/>
          </p:cNvPicPr>
          <p:nvPr/>
        </p:nvPicPr>
        <p:blipFill>
          <a:blip r:embed="rId2"/>
          <a:stretch>
            <a:fillRect/>
          </a:stretch>
        </p:blipFill>
        <p:spPr>
          <a:xfrm>
            <a:off x="7406640" y="1371600"/>
            <a:ext cx="4023360" cy="2267712"/>
          </a:xfrm>
          <a:prstGeom prst="rect">
            <a:avLst/>
          </a:prstGeom>
        </p:spPr>
      </p:pic>
      <p:sp>
        <p:nvSpPr>
          <p:cNvPr id="9" name="Rounded Rectangle 8"/>
          <p:cNvSpPr/>
          <p:nvPr/>
        </p:nvSpPr>
        <p:spPr>
          <a:xfrm>
            <a:off x="7406640" y="3840480"/>
            <a:ext cx="4023360" cy="16459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2DD4BF"/>
                </a:solidFill>
              </a:defRPr>
            </a:pPr>
            <a:r>
              <a:t>🎓 100% Free Lifetime Masterclass</a:t>
            </a:r>
          </a:p>
          <a:p>
            <a:pPr>
              <a:spcBef>
                <a:spcPts val="400"/>
              </a:spcBef>
              <a:defRPr sz="1200">
                <a:solidFill>
                  <a:srgbClr val="94A3B8"/>
                </a:solidFill>
              </a:defRPr>
            </a:pPr>
            <a:r>
              <a:t>Instructor: R.K. SKILLFORGE</a:t>
            </a:r>
            <a:br/>
            <a:r>
              <a:t>Modules: 5 Comprehensive Lessons</a:t>
            </a:r>
            <a:br/>
            <a:r>
              <a:t>Format: Complete YouTube &amp; GitHub Suite</a:t>
            </a:r>
          </a:p>
        </p:txBody>
      </p:sp>
      <p:sp>
        <p:nvSpPr>
          <p:cNvPr id="10" name="Rounded Rectangle 9"/>
          <p:cNvSpPr/>
          <p:nvPr/>
        </p:nvSpPr>
        <p:spPr>
          <a:xfrm>
            <a:off x="1051560" y="4754880"/>
            <a:ext cx="6035040" cy="7315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200" b="1">
                <a:solidFill>
                  <a:srgbClr val="F8FAFC"/>
                </a:solidFill>
              </a:defRPr>
            </a:pPr>
            <a:r>
              <a:t>Produced &amp; Engineered by R.K. SKILLFORGE</a:t>
            </a:r>
          </a:p>
          <a:p>
            <a:pPr>
              <a:defRPr sz="1100">
                <a:solidFill>
                  <a:srgbClr val="94A3B8"/>
                </a:solidFill>
              </a:defRPr>
            </a:pPr>
            <a:r>
              <a:t>A complete blueprint to navigate the modern AI-driven career landscape.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Course Overview &amp; Key Metadata</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2</a:t>
            </a:r>
          </a:p>
        </p:txBody>
      </p:sp>
      <p:sp>
        <p:nvSpPr>
          <p:cNvPr id="8" name="Rounded Rectangle 7"/>
          <p:cNvSpPr/>
          <p:nvPr/>
        </p:nvSpPr>
        <p:spPr>
          <a:xfrm>
            <a:off x="731520" y="1645920"/>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2DD4BF"/>
                </a:solidFill>
              </a:defRPr>
            </a:pPr>
            <a:r>
              <a:t>COURSE TITLE</a:t>
            </a:r>
          </a:p>
          <a:p>
            <a:pPr>
              <a:spcBef>
                <a:spcPts val="300"/>
              </a:spcBef>
              <a:defRPr sz="1400" b="1">
                <a:solidFill>
                  <a:srgbClr val="F8FAFC"/>
                </a:solidFill>
              </a:defRPr>
            </a:pPr>
            <a:r>
              <a:t>AI Mentor: Masterclass Series</a:t>
            </a:r>
          </a:p>
        </p:txBody>
      </p:sp>
      <p:sp>
        <p:nvSpPr>
          <p:cNvPr id="9" name="Rounded Rectangle 8"/>
          <p:cNvSpPr/>
          <p:nvPr/>
        </p:nvSpPr>
        <p:spPr>
          <a:xfrm>
            <a:off x="6336792" y="1645920"/>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FBBF24"/>
                </a:solidFill>
              </a:defRPr>
            </a:pPr>
            <a:r>
              <a:t>TAGLINE / SUBTITLE</a:t>
            </a:r>
          </a:p>
          <a:p>
            <a:pPr>
              <a:spcBef>
                <a:spcPts val="300"/>
              </a:spcBef>
              <a:defRPr sz="1400" b="1">
                <a:solidFill>
                  <a:srgbClr val="F8FAFC"/>
                </a:solidFill>
              </a:defRPr>
            </a:pPr>
            <a:r>
              <a:t>From Interest to Passion, From Passion to Career</a:t>
            </a:r>
          </a:p>
        </p:txBody>
      </p:sp>
      <p:sp>
        <p:nvSpPr>
          <p:cNvPr id="10" name="Rounded Rectangle 9"/>
          <p:cNvSpPr/>
          <p:nvPr/>
        </p:nvSpPr>
        <p:spPr>
          <a:xfrm>
            <a:off x="731520" y="2761488"/>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2DD4BF"/>
                </a:solidFill>
              </a:defRPr>
            </a:pPr>
            <a:r>
              <a:t>INSTRUCTOR &amp; CREATOR</a:t>
            </a:r>
          </a:p>
          <a:p>
            <a:pPr>
              <a:spcBef>
                <a:spcPts val="300"/>
              </a:spcBef>
              <a:defRPr sz="1400" b="1">
                <a:solidFill>
                  <a:srgbClr val="F8FAFC"/>
                </a:solidFill>
              </a:defRPr>
            </a:pPr>
            <a:r>
              <a:t>R.K. SKILLFORGE</a:t>
            </a:r>
          </a:p>
        </p:txBody>
      </p:sp>
      <p:sp>
        <p:nvSpPr>
          <p:cNvPr id="11" name="Rounded Rectangle 10"/>
          <p:cNvSpPr/>
          <p:nvPr/>
        </p:nvSpPr>
        <p:spPr>
          <a:xfrm>
            <a:off x="6336792" y="2761488"/>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FBBF24"/>
                </a:solidFill>
              </a:defRPr>
            </a:pPr>
            <a:r>
              <a:t>DIFFICULTY LEVEL</a:t>
            </a:r>
          </a:p>
          <a:p>
            <a:pPr>
              <a:spcBef>
                <a:spcPts val="300"/>
              </a:spcBef>
              <a:defRPr sz="1400" b="1">
                <a:solidFill>
                  <a:srgbClr val="F8FAFC"/>
                </a:solidFill>
              </a:defRPr>
            </a:pPr>
            <a:r>
              <a:t>Beginner to Career-Ready (No prior code needed)</a:t>
            </a:r>
          </a:p>
        </p:txBody>
      </p:sp>
      <p:sp>
        <p:nvSpPr>
          <p:cNvPr id="12" name="Rounded Rectangle 11"/>
          <p:cNvSpPr/>
          <p:nvPr/>
        </p:nvSpPr>
        <p:spPr>
          <a:xfrm>
            <a:off x="731520" y="3877056"/>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2DD4BF"/>
                </a:solidFill>
              </a:defRPr>
            </a:pPr>
            <a:r>
              <a:t>TEACHING LANGUAGES</a:t>
            </a:r>
          </a:p>
          <a:p>
            <a:pPr>
              <a:spcBef>
                <a:spcPts val="300"/>
              </a:spcBef>
              <a:defRPr sz="1400" b="1">
                <a:solidFill>
                  <a:srgbClr val="F8FAFC"/>
                </a:solidFill>
              </a:defRPr>
            </a:pPr>
            <a:r>
              <a:t>English / Hindi / Hinglish</a:t>
            </a:r>
          </a:p>
        </p:txBody>
      </p:sp>
      <p:sp>
        <p:nvSpPr>
          <p:cNvPr id="13" name="Rounded Rectangle 12"/>
          <p:cNvSpPr/>
          <p:nvPr/>
        </p:nvSpPr>
        <p:spPr>
          <a:xfrm>
            <a:off x="6336792" y="3877056"/>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FBBF24"/>
                </a:solidFill>
              </a:defRPr>
            </a:pPr>
            <a:r>
              <a:t>TOTAL MODULES</a:t>
            </a:r>
          </a:p>
          <a:p>
            <a:pPr>
              <a:spcBef>
                <a:spcPts val="300"/>
              </a:spcBef>
              <a:defRPr sz="1400" b="1">
                <a:solidFill>
                  <a:srgbClr val="F8FAFC"/>
                </a:solidFill>
              </a:defRPr>
            </a:pPr>
            <a:r>
              <a:t>5 Comprehensive Master Modules + Skill Jars</a:t>
            </a:r>
          </a:p>
        </p:txBody>
      </p:sp>
      <p:sp>
        <p:nvSpPr>
          <p:cNvPr id="14" name="Rounded Rectangle 13"/>
          <p:cNvSpPr/>
          <p:nvPr/>
        </p:nvSpPr>
        <p:spPr>
          <a:xfrm>
            <a:off x="731520" y="4992624"/>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2DD4BF"/>
                </a:solidFill>
              </a:defRPr>
            </a:pPr>
            <a:r>
              <a:t>TUITION / PRICING</a:t>
            </a:r>
          </a:p>
          <a:p>
            <a:pPr>
              <a:spcBef>
                <a:spcPts val="300"/>
              </a:spcBef>
              <a:defRPr sz="1400" b="1">
                <a:solidFill>
                  <a:srgbClr val="F8FAFC"/>
                </a:solidFill>
              </a:defRPr>
            </a:pPr>
            <a:r>
              <a:t>100% Free (YouTube &amp; GitHub Open Source)</a:t>
            </a:r>
          </a:p>
        </p:txBody>
      </p:sp>
      <p:sp>
        <p:nvSpPr>
          <p:cNvPr id="15" name="Rounded Rectangle 14"/>
          <p:cNvSpPr/>
          <p:nvPr/>
        </p:nvSpPr>
        <p:spPr>
          <a:xfrm>
            <a:off x="6336792" y="4992624"/>
            <a:ext cx="5120640" cy="9144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46304"/>
          <a:lstStyle/>
          <a:p>
            <a:pPr algn="ctr">
              <a:defRPr sz="1100" b="1">
                <a:solidFill>
                  <a:srgbClr val="FBBF24"/>
                </a:solidFill>
              </a:defRPr>
            </a:pPr>
            <a:r>
              <a:t>ACCESS DURATION</a:t>
            </a:r>
          </a:p>
          <a:p>
            <a:pPr>
              <a:spcBef>
                <a:spcPts val="300"/>
              </a:spcBef>
              <a:defRPr sz="1400" b="1">
                <a:solidFill>
                  <a:srgbClr val="F8FAFC"/>
                </a:solidFill>
              </a:defRPr>
            </a:pPr>
            <a:r>
              <a:t>Lifetime Free Access with Continuous Updates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What You'll Learn: 6 Master Capabilities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3</a:t>
            </a:r>
          </a:p>
        </p:txBody>
      </p:sp>
      <p:sp>
        <p:nvSpPr>
          <p:cNvPr id="8" name="Rounded Rectangle 7"/>
          <p:cNvSpPr/>
          <p:nvPr/>
        </p:nvSpPr>
        <p:spPr>
          <a:xfrm>
            <a:off x="731520" y="1645920"/>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a:lstStyle/>
          <a:p>
            <a:pPr algn="ctr">
              <a:defRPr sz="1600" b="1">
                <a:solidFill>
                  <a:srgbClr val="38BDF8"/>
                </a:solidFill>
              </a:defRPr>
            </a:pPr>
            <a:r>
              <a:t>01. Deep Topic &amp; Role Exploration</a:t>
            </a:r>
          </a:p>
          <a:p>
            <a:pPr>
              <a:spcBef>
                <a:spcPts val="400"/>
              </a:spcBef>
              <a:defRPr sz="1300">
                <a:solidFill>
                  <a:srgbClr val="E2E8F0"/>
                </a:solidFill>
              </a:defRPr>
            </a:pPr>
            <a:r>
              <a:t>Uncover the real-world value, hiring industries, and actual daily duties of any technical domain.</a:t>
            </a:r>
          </a:p>
        </p:txBody>
      </p:sp>
      <p:sp>
        <p:nvSpPr>
          <p:cNvPr id="9" name="Rounded Rectangle 8"/>
          <p:cNvSpPr/>
          <p:nvPr/>
        </p:nvSpPr>
        <p:spPr>
          <a:xfrm>
            <a:off x="6336792" y="1645920"/>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a:lstStyle/>
          <a:p>
            <a:pPr algn="ctr">
              <a:defRPr sz="1600" b="1">
                <a:solidFill>
                  <a:srgbClr val="2DD4BF"/>
                </a:solidFill>
              </a:defRPr>
            </a:pPr>
            <a:r>
              <a:t>02. Fundamentals Over Fleeting Hype</a:t>
            </a:r>
          </a:p>
          <a:p>
            <a:pPr>
              <a:spcBef>
                <a:spcPts val="400"/>
              </a:spcBef>
              <a:defRPr sz="1300">
                <a:solidFill>
                  <a:srgbClr val="E2E8F0"/>
                </a:solidFill>
              </a:defRPr>
            </a:pPr>
            <a:r>
              <a:t>Isolate timeless principles that last 20+ years from temporary weekly software trends.</a:t>
            </a:r>
          </a:p>
        </p:txBody>
      </p:sp>
      <p:sp>
        <p:nvSpPr>
          <p:cNvPr id="10" name="Rounded Rectangle 9"/>
          <p:cNvSpPr/>
          <p:nvPr/>
        </p:nvSpPr>
        <p:spPr>
          <a:xfrm>
            <a:off x="731520" y="3127248"/>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a:lstStyle/>
          <a:p>
            <a:pPr algn="ctr">
              <a:defRPr sz="1600" b="1">
                <a:solidFill>
                  <a:srgbClr val="FBBF24"/>
                </a:solidFill>
              </a:defRPr>
            </a:pPr>
            <a:r>
              <a:t>03. Practical Step-by-Step Roadmaps</a:t>
            </a:r>
          </a:p>
          <a:p>
            <a:pPr>
              <a:spcBef>
                <a:spcPts val="400"/>
              </a:spcBef>
              <a:defRPr sz="1300">
                <a:solidFill>
                  <a:srgbClr val="E2E8F0"/>
                </a:solidFill>
              </a:defRPr>
            </a:pPr>
            <a:r>
              <a:t>Engineer milestone-driven paths from beginner fundamentals to production deployments.</a:t>
            </a:r>
          </a:p>
        </p:txBody>
      </p:sp>
      <p:sp>
        <p:nvSpPr>
          <p:cNvPr id="11" name="Rounded Rectangle 10"/>
          <p:cNvSpPr/>
          <p:nvPr/>
        </p:nvSpPr>
        <p:spPr>
          <a:xfrm>
            <a:off x="6336792" y="3127248"/>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a:lstStyle/>
          <a:p>
            <a:pPr algn="ctr">
              <a:defRPr sz="1600" b="1">
                <a:solidFill>
                  <a:srgbClr val="A78BFA"/>
                </a:solidFill>
              </a:defRPr>
            </a:pPr>
            <a:r>
              <a:t>04. Critical AI Literacy Without Dependency</a:t>
            </a:r>
          </a:p>
          <a:p>
            <a:pPr>
              <a:spcBef>
                <a:spcPts val="400"/>
              </a:spcBef>
              <a:defRPr sz="1300">
                <a:solidFill>
                  <a:srgbClr val="E2E8F0"/>
                </a:solidFill>
              </a:defRPr>
            </a:pPr>
            <a:r>
              <a:t>Leverage AI for rapid research and coding while protecting independent thinking and debugging grit.</a:t>
            </a:r>
          </a:p>
        </p:txBody>
      </p:sp>
      <p:sp>
        <p:nvSpPr>
          <p:cNvPr id="12" name="Rounded Rectangle 11"/>
          <p:cNvSpPr/>
          <p:nvPr/>
        </p:nvSpPr>
        <p:spPr>
          <a:xfrm>
            <a:off x="731520" y="4608576"/>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a:lstStyle/>
          <a:p>
            <a:pPr algn="ctr">
              <a:defRPr sz="1600" b="1">
                <a:solidFill>
                  <a:srgbClr val="2DD4BF"/>
                </a:solidFill>
              </a:defRPr>
            </a:pPr>
            <a:r>
              <a:t>05. Human Mentorship Integration</a:t>
            </a:r>
          </a:p>
          <a:p>
            <a:pPr>
              <a:spcBef>
                <a:spcPts val="400"/>
              </a:spcBef>
              <a:defRPr sz="1300">
                <a:solidFill>
                  <a:srgbClr val="E2E8F0"/>
                </a:solidFill>
              </a:defRPr>
            </a:pPr>
            <a:r>
              <a:t>Master authentic professional outreach to connect with experienced veterans who have walked the path.</a:t>
            </a:r>
          </a:p>
        </p:txBody>
      </p:sp>
      <p:sp>
        <p:nvSpPr>
          <p:cNvPr id="13" name="Rounded Rectangle 12"/>
          <p:cNvSpPr/>
          <p:nvPr/>
        </p:nvSpPr>
        <p:spPr>
          <a:xfrm>
            <a:off x="6336792" y="4608576"/>
            <a:ext cx="5120640" cy="1261872"/>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64592"/>
          <a:lstStyle/>
          <a:p>
            <a:pPr algn="ctr">
              <a:defRPr sz="1600" b="1">
                <a:solidFill>
                  <a:srgbClr val="38BDF8"/>
                </a:solidFill>
              </a:defRPr>
            </a:pPr>
            <a:r>
              <a:t>06. Commercial Monetization &amp; Employment</a:t>
            </a:r>
          </a:p>
          <a:p>
            <a:pPr>
              <a:spcBef>
                <a:spcPts val="400"/>
              </a:spcBef>
              <a:defRPr sz="1300">
                <a:solidFill>
                  <a:srgbClr val="E2E8F0"/>
                </a:solidFill>
              </a:defRPr>
            </a:pPr>
            <a:r>
              <a:t>Package your skills into high-ticket freelance retainers or dominate technical hiring pipelines.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Master Learning Journey: From Curiosity to Career</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4</a:t>
            </a:r>
          </a:p>
        </p:txBody>
      </p:sp>
      <p:sp>
        <p:nvSpPr>
          <p:cNvPr id="8" name="Rounded Rectangle 7"/>
          <p:cNvSpPr/>
          <p:nvPr/>
        </p:nvSpPr>
        <p:spPr>
          <a:xfrm>
            <a:off x="731520" y="1645920"/>
            <a:ext cx="246888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1. INTEREST</a:t>
            </a:r>
          </a:p>
          <a:p>
            <a:pPr>
              <a:spcBef>
                <a:spcPts val="800"/>
              </a:spcBef>
              <a:defRPr sz="1300">
                <a:solidFill>
                  <a:srgbClr val="94A3B8"/>
                </a:solidFill>
              </a:defRPr>
            </a:pPr>
            <a:r>
              <a:t>Curiosity &amp; initial spark</a:t>
            </a:r>
          </a:p>
        </p:txBody>
      </p:sp>
      <p:sp>
        <p:nvSpPr>
          <p:cNvPr id="9" name="Rounded Rectangle 8"/>
          <p:cNvSpPr/>
          <p:nvPr/>
        </p:nvSpPr>
        <p:spPr>
          <a:xfrm>
            <a:off x="3483864" y="1645920"/>
            <a:ext cx="246888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2. EXPLORE</a:t>
            </a:r>
          </a:p>
          <a:p>
            <a:pPr>
              <a:spcBef>
                <a:spcPts val="800"/>
              </a:spcBef>
              <a:defRPr sz="1300">
                <a:solidFill>
                  <a:srgbClr val="94A3B8"/>
                </a:solidFill>
              </a:defRPr>
            </a:pPr>
            <a:r>
              <a:t>Market &amp; role analysis</a:t>
            </a:r>
          </a:p>
        </p:txBody>
      </p:sp>
      <p:sp>
        <p:nvSpPr>
          <p:cNvPr id="10" name="Rounded Rectangle 9"/>
          <p:cNvSpPr/>
          <p:nvPr/>
        </p:nvSpPr>
        <p:spPr>
          <a:xfrm>
            <a:off x="6236208" y="1645920"/>
            <a:ext cx="24688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3. UNDERSTAND</a:t>
            </a:r>
          </a:p>
          <a:p>
            <a:pPr>
              <a:spcBef>
                <a:spcPts val="800"/>
              </a:spcBef>
              <a:defRPr sz="1300">
                <a:solidFill>
                  <a:srgbClr val="94A3B8"/>
                </a:solidFill>
              </a:defRPr>
            </a:pPr>
            <a:r>
              <a:t>Core responsibilities &amp; duties</a:t>
            </a:r>
          </a:p>
        </p:txBody>
      </p:sp>
      <p:sp>
        <p:nvSpPr>
          <p:cNvPr id="11" name="Rounded Rectangle 10"/>
          <p:cNvSpPr/>
          <p:nvPr/>
        </p:nvSpPr>
        <p:spPr>
          <a:xfrm>
            <a:off x="8988552" y="1645920"/>
            <a:ext cx="24688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4. LEARN</a:t>
            </a:r>
          </a:p>
          <a:p>
            <a:pPr>
              <a:spcBef>
                <a:spcPts val="800"/>
              </a:spcBef>
              <a:defRPr sz="1300">
                <a:solidFill>
                  <a:srgbClr val="94A3B8"/>
                </a:solidFill>
              </a:defRPr>
            </a:pPr>
            <a:r>
              <a:t>Curated primary docs &amp; theory</a:t>
            </a:r>
          </a:p>
        </p:txBody>
      </p:sp>
      <p:sp>
        <p:nvSpPr>
          <p:cNvPr id="12" name="Rounded Rectangle 11"/>
          <p:cNvSpPr/>
          <p:nvPr/>
        </p:nvSpPr>
        <p:spPr>
          <a:xfrm>
            <a:off x="731520" y="3931920"/>
            <a:ext cx="24688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5. PRACTICE</a:t>
            </a:r>
          </a:p>
          <a:p>
            <a:pPr>
              <a:spcBef>
                <a:spcPts val="800"/>
              </a:spcBef>
              <a:defRPr sz="1300">
                <a:solidFill>
                  <a:srgbClr val="94A3B8"/>
                </a:solidFill>
              </a:defRPr>
            </a:pPr>
            <a:r>
              <a:t>Sandboxes &amp; isolated drills</a:t>
            </a:r>
          </a:p>
        </p:txBody>
      </p:sp>
      <p:sp>
        <p:nvSpPr>
          <p:cNvPr id="13" name="Rounded Rectangle 12"/>
          <p:cNvSpPr/>
          <p:nvPr/>
        </p:nvSpPr>
        <p:spPr>
          <a:xfrm>
            <a:off x="3483864" y="3931920"/>
            <a:ext cx="24688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6. CONNECT</a:t>
            </a:r>
          </a:p>
          <a:p>
            <a:pPr>
              <a:spcBef>
                <a:spcPts val="800"/>
              </a:spcBef>
              <a:defRPr sz="1300">
                <a:solidFill>
                  <a:srgbClr val="94A3B8"/>
                </a:solidFill>
              </a:defRPr>
            </a:pPr>
            <a:r>
              <a:t>Real human industry mentors</a:t>
            </a:r>
          </a:p>
        </p:txBody>
      </p:sp>
      <p:sp>
        <p:nvSpPr>
          <p:cNvPr id="14" name="Rounded Rectangle 13"/>
          <p:cNvSpPr/>
          <p:nvPr/>
        </p:nvSpPr>
        <p:spPr>
          <a:xfrm>
            <a:off x="6236208" y="3931920"/>
            <a:ext cx="246888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7. OPPORTUNITY</a:t>
            </a:r>
          </a:p>
          <a:p>
            <a:pPr>
              <a:spcBef>
                <a:spcPts val="800"/>
              </a:spcBef>
              <a:defRPr sz="1300">
                <a:solidFill>
                  <a:srgbClr val="94A3B8"/>
                </a:solidFill>
              </a:defRPr>
            </a:pPr>
            <a:r>
              <a:t>Portfolios &amp; personal brand</a:t>
            </a:r>
          </a:p>
        </p:txBody>
      </p:sp>
      <p:sp>
        <p:nvSpPr>
          <p:cNvPr id="15" name="Rounded Rectangle 14"/>
          <p:cNvSpPr/>
          <p:nvPr/>
        </p:nvSpPr>
        <p:spPr>
          <a:xfrm>
            <a:off x="8988552" y="3931920"/>
            <a:ext cx="24688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28600"/>
          <a:lstStyle/>
          <a:p>
            <a:pPr algn="ctr">
              <a:defRPr sz="1600" b="1">
                <a:solidFill>
                  <a:srgbClr val="F8FAFC"/>
                </a:solidFill>
              </a:defRPr>
            </a:pPr>
            <a:r>
              <a:t>8. CAREER</a:t>
            </a:r>
          </a:p>
          <a:p>
            <a:pPr>
              <a:spcBef>
                <a:spcPts val="800"/>
              </a:spcBef>
              <a:defRPr sz="1300">
                <a:solidFill>
                  <a:srgbClr val="94A3B8"/>
                </a:solidFill>
              </a:defRPr>
            </a:pPr>
            <a:r>
              <a:t>Freelance contracts or job offers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Why Self-Learning Fails: The 6 Fatal Pitfalls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5</a:t>
            </a:r>
          </a:p>
        </p:txBody>
      </p:sp>
      <p:sp>
        <p:nvSpPr>
          <p:cNvPr id="8" name="Rounded Rectangle 7"/>
          <p:cNvSpPr/>
          <p:nvPr/>
        </p:nvSpPr>
        <p:spPr>
          <a:xfrm>
            <a:off x="731520" y="1645920"/>
            <a:ext cx="3328416" cy="19659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FBBF24"/>
                </a:solidFill>
              </a:defRPr>
            </a:pPr>
            <a:r>
              <a:t>😵 1. Lack of Knowledge</a:t>
            </a:r>
          </a:p>
          <a:p>
            <a:pPr>
              <a:spcBef>
                <a:spcPts val="800"/>
              </a:spcBef>
              <a:defRPr sz="1300">
                <a:solidFill>
                  <a:srgbClr val="E2E8F0"/>
                </a:solidFill>
              </a:defRPr>
            </a:pPr>
            <a:r>
              <a:t>Learners don't know which industries hire for a skill or what practitioners do day-to-day.</a:t>
            </a:r>
          </a:p>
        </p:txBody>
      </p:sp>
      <p:sp>
        <p:nvSpPr>
          <p:cNvPr id="9" name="Rounded Rectangle 8"/>
          <p:cNvSpPr/>
          <p:nvPr/>
        </p:nvSpPr>
        <p:spPr>
          <a:xfrm>
            <a:off x="4425696" y="1645920"/>
            <a:ext cx="3328416" cy="19659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FBBF24"/>
                </a:solidFill>
              </a:defRPr>
            </a:pPr>
            <a:r>
              <a:t>📚 2. Resource Overload</a:t>
            </a:r>
          </a:p>
          <a:p>
            <a:pPr>
              <a:spcBef>
                <a:spcPts val="800"/>
              </a:spcBef>
              <a:defRPr sz="1300">
                <a:solidFill>
                  <a:srgbClr val="E2E8F0"/>
                </a:solidFill>
              </a:defRPr>
            </a:pPr>
            <a:r>
              <a:t>Thousands of bootcamps and conflicting roadmaps cause severe decision paralysis.</a:t>
            </a:r>
          </a:p>
        </p:txBody>
      </p:sp>
      <p:sp>
        <p:nvSpPr>
          <p:cNvPr id="10" name="Rounded Rectangle 9"/>
          <p:cNvSpPr/>
          <p:nvPr/>
        </p:nvSpPr>
        <p:spPr>
          <a:xfrm>
            <a:off x="8119872" y="1645920"/>
            <a:ext cx="3328416" cy="19659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FBBF24"/>
                </a:solidFill>
              </a:defRPr>
            </a:pPr>
            <a:r>
              <a:t>✨ 3. FOMO &amp; Hype</a:t>
            </a:r>
          </a:p>
          <a:p>
            <a:pPr>
              <a:spcBef>
                <a:spcPts val="800"/>
              </a:spcBef>
              <a:defRPr sz="1300">
                <a:solidFill>
                  <a:srgbClr val="E2E8F0"/>
                </a:solidFill>
              </a:defRPr>
            </a:pPr>
            <a:r>
              <a:t>Constant release of new tools makes learners feel obsolete, causing chronic burnout.</a:t>
            </a:r>
          </a:p>
        </p:txBody>
      </p:sp>
      <p:sp>
        <p:nvSpPr>
          <p:cNvPr id="11" name="Rounded Rectangle 10"/>
          <p:cNvSpPr/>
          <p:nvPr/>
        </p:nvSpPr>
        <p:spPr>
          <a:xfrm>
            <a:off x="731520" y="3931920"/>
            <a:ext cx="3328416" cy="19659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FBBF24"/>
                </a:solidFill>
              </a:defRPr>
            </a:pPr>
            <a:r>
              <a:t>🗺️ 4. Roadmaps Without Context</a:t>
            </a:r>
          </a:p>
          <a:p>
            <a:pPr>
              <a:spcBef>
                <a:spcPts val="800"/>
              </a:spcBef>
              <a:defRPr sz="1300">
                <a:solidFill>
                  <a:srgbClr val="E2E8F0"/>
                </a:solidFill>
              </a:defRPr>
            </a:pPr>
            <a:r>
              <a:t>Generic topic checklists that fail to explain real production problems and constraints.</a:t>
            </a:r>
          </a:p>
        </p:txBody>
      </p:sp>
      <p:sp>
        <p:nvSpPr>
          <p:cNvPr id="12" name="Rounded Rectangle 11"/>
          <p:cNvSpPr/>
          <p:nvPr/>
        </p:nvSpPr>
        <p:spPr>
          <a:xfrm>
            <a:off x="4425696" y="3931920"/>
            <a:ext cx="3328416" cy="19659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FBBF24"/>
                </a:solidFill>
              </a:defRPr>
            </a:pPr>
            <a:r>
              <a:t>🤝 5. Lack of Human Mentors</a:t>
            </a:r>
          </a:p>
          <a:p>
            <a:pPr>
              <a:spcBef>
                <a:spcPts val="800"/>
              </a:spcBef>
              <a:defRPr sz="1300">
                <a:solidFill>
                  <a:srgbClr val="E2E8F0"/>
                </a:solidFill>
              </a:defRPr>
            </a:pPr>
            <a:r>
              <a:t>AI cannot provide personal feedback, lived career wisdom, or professional judgment.</a:t>
            </a:r>
          </a:p>
        </p:txBody>
      </p:sp>
      <p:sp>
        <p:nvSpPr>
          <p:cNvPr id="13" name="Rounded Rectangle 12"/>
          <p:cNvSpPr/>
          <p:nvPr/>
        </p:nvSpPr>
        <p:spPr>
          <a:xfrm>
            <a:off x="8119872" y="3931920"/>
            <a:ext cx="3328416" cy="196596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F87171"/>
                </a:solidFill>
              </a:defRPr>
            </a:pPr>
            <a:r>
              <a:t>⚠️ 6. Blind Trust in AI</a:t>
            </a:r>
          </a:p>
          <a:p>
            <a:pPr>
              <a:spcBef>
                <a:spcPts val="800"/>
              </a:spcBef>
              <a:defRPr sz="1300">
                <a:solidFill>
                  <a:srgbClr val="E2E8F0"/>
                </a:solidFill>
              </a:defRPr>
            </a:pPr>
            <a:r>
              <a:t>AI hallucinates confident errors; learners accept incorrect answers without verification.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SkillForge Solution: 10 Architectural Pillars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6</a:t>
            </a:r>
          </a:p>
        </p:txBody>
      </p:sp>
      <p:sp>
        <p:nvSpPr>
          <p:cNvPr id="8" name="Rounded Rectangle 7"/>
          <p:cNvSpPr/>
          <p:nvPr/>
        </p:nvSpPr>
        <p:spPr>
          <a:xfrm>
            <a:off x="731520" y="1645920"/>
            <a:ext cx="5120640" cy="77724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01. Right Direction</a:t>
            </a:r>
          </a:p>
          <a:p>
            <a:pPr>
              <a:spcBef>
                <a:spcPts val="200"/>
              </a:spcBef>
              <a:defRPr sz="1200">
                <a:solidFill>
                  <a:srgbClr val="94A3B8"/>
                </a:solidFill>
              </a:defRPr>
            </a:pPr>
            <a:r>
              <a:t>Match skills directly to your strengths and market demand.</a:t>
            </a:r>
          </a:p>
        </p:txBody>
      </p:sp>
      <p:sp>
        <p:nvSpPr>
          <p:cNvPr id="9" name="Rounded Rectangle 8"/>
          <p:cNvSpPr/>
          <p:nvPr/>
        </p:nvSpPr>
        <p:spPr>
          <a:xfrm>
            <a:off x="731520" y="2587752"/>
            <a:ext cx="5120640" cy="77724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02. Research &amp; Depth</a:t>
            </a:r>
          </a:p>
          <a:p>
            <a:pPr>
              <a:spcBef>
                <a:spcPts val="200"/>
              </a:spcBef>
              <a:defRPr sz="1200">
                <a:solidFill>
                  <a:srgbClr val="94A3B8"/>
                </a:solidFill>
              </a:defRPr>
            </a:pPr>
            <a:r>
              <a:t>Deeply dissect domain value and commercial applications.</a:t>
            </a:r>
          </a:p>
        </p:txBody>
      </p:sp>
      <p:sp>
        <p:nvSpPr>
          <p:cNvPr id="10" name="Rounded Rectangle 9"/>
          <p:cNvSpPr/>
          <p:nvPr/>
        </p:nvSpPr>
        <p:spPr>
          <a:xfrm>
            <a:off x="731520" y="3529584"/>
            <a:ext cx="5120640" cy="77724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03. Durable Fundamentals</a:t>
            </a:r>
          </a:p>
          <a:p>
            <a:pPr>
              <a:spcBef>
                <a:spcPts val="200"/>
              </a:spcBef>
              <a:defRPr sz="1200">
                <a:solidFill>
                  <a:srgbClr val="94A3B8"/>
                </a:solidFill>
              </a:defRPr>
            </a:pPr>
            <a:r>
              <a:t>Anchor your competence in principles that will never expire.</a:t>
            </a:r>
          </a:p>
        </p:txBody>
      </p:sp>
      <p:sp>
        <p:nvSpPr>
          <p:cNvPr id="11" name="Rounded Rectangle 10"/>
          <p:cNvSpPr/>
          <p:nvPr/>
        </p:nvSpPr>
        <p:spPr>
          <a:xfrm>
            <a:off x="731520" y="4471416"/>
            <a:ext cx="5120640" cy="77724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04. Roles &amp; Responsibilities</a:t>
            </a:r>
          </a:p>
          <a:p>
            <a:pPr>
              <a:spcBef>
                <a:spcPts val="200"/>
              </a:spcBef>
              <a:defRPr sz="1200">
                <a:solidFill>
                  <a:srgbClr val="94A3B8"/>
                </a:solidFill>
              </a:defRPr>
            </a:pPr>
            <a:r>
              <a:t>Map out real day-to-day duties and hiring manager expectations.</a:t>
            </a:r>
          </a:p>
        </p:txBody>
      </p:sp>
      <p:sp>
        <p:nvSpPr>
          <p:cNvPr id="12" name="Rounded Rectangle 11"/>
          <p:cNvSpPr/>
          <p:nvPr/>
        </p:nvSpPr>
        <p:spPr>
          <a:xfrm>
            <a:off x="731520" y="5413248"/>
            <a:ext cx="5120640" cy="777240"/>
          </a:xfrm>
          <a:prstGeom prst="roundRect">
            <a:avLst/>
          </a:prstGeom>
          <a:solidFill>
            <a:srgbClr val="141C2B"/>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05. Real-World Challenges</a:t>
            </a:r>
          </a:p>
          <a:p>
            <a:pPr>
              <a:spcBef>
                <a:spcPts val="200"/>
              </a:spcBef>
              <a:defRPr sz="1200">
                <a:solidFill>
                  <a:srgbClr val="94A3B8"/>
                </a:solidFill>
              </a:defRPr>
            </a:pPr>
            <a:r>
              <a:t>Expose difficult edge cases and production constraints early.</a:t>
            </a:r>
          </a:p>
        </p:txBody>
      </p:sp>
      <p:sp>
        <p:nvSpPr>
          <p:cNvPr id="13" name="Rounded Rectangle 12"/>
          <p:cNvSpPr/>
          <p:nvPr/>
        </p:nvSpPr>
        <p:spPr>
          <a:xfrm>
            <a:off x="6336792" y="1645920"/>
            <a:ext cx="5120640" cy="777240"/>
          </a:xfrm>
          <a:prstGeom prst="roundRect">
            <a:avLst/>
          </a:prstGeom>
          <a:solidFill>
            <a:srgbClr val="141C2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06. Structured Roadmap</a:t>
            </a:r>
          </a:p>
          <a:p>
            <a:pPr>
              <a:spcBef>
                <a:spcPts val="200"/>
              </a:spcBef>
              <a:defRPr sz="1200">
                <a:solidFill>
                  <a:srgbClr val="94A3B8"/>
                </a:solidFill>
              </a:defRPr>
            </a:pPr>
            <a:r>
              <a:t>Milestone-driven path from initial sandbox to deployment.</a:t>
            </a:r>
          </a:p>
        </p:txBody>
      </p:sp>
      <p:sp>
        <p:nvSpPr>
          <p:cNvPr id="14" name="Rounded Rectangle 13"/>
          <p:cNvSpPr/>
          <p:nvPr/>
        </p:nvSpPr>
        <p:spPr>
          <a:xfrm>
            <a:off x="6336792" y="2587752"/>
            <a:ext cx="5120640" cy="777240"/>
          </a:xfrm>
          <a:prstGeom prst="roundRect">
            <a:avLst/>
          </a:prstGeom>
          <a:solidFill>
            <a:srgbClr val="141C2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07. Curated Resources</a:t>
            </a:r>
          </a:p>
          <a:p>
            <a:pPr>
              <a:spcBef>
                <a:spcPts val="200"/>
              </a:spcBef>
              <a:defRPr sz="1200">
                <a:solidFill>
                  <a:srgbClr val="94A3B8"/>
                </a:solidFill>
              </a:defRPr>
            </a:pPr>
            <a:r>
              <a:t>Handpick high-signal free documentation and top courses.</a:t>
            </a:r>
          </a:p>
        </p:txBody>
      </p:sp>
      <p:sp>
        <p:nvSpPr>
          <p:cNvPr id="15" name="Rounded Rectangle 14"/>
          <p:cNvSpPr/>
          <p:nvPr/>
        </p:nvSpPr>
        <p:spPr>
          <a:xfrm>
            <a:off x="6336792" y="3529584"/>
            <a:ext cx="5120640" cy="777240"/>
          </a:xfrm>
          <a:prstGeom prst="roundRect">
            <a:avLst/>
          </a:prstGeom>
          <a:solidFill>
            <a:srgbClr val="141C2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08. AI With Verification</a:t>
            </a:r>
          </a:p>
          <a:p>
            <a:pPr>
              <a:spcBef>
                <a:spcPts val="200"/>
              </a:spcBef>
              <a:defRPr sz="1200">
                <a:solidFill>
                  <a:srgbClr val="94A3B8"/>
                </a:solidFill>
              </a:defRPr>
            </a:pPr>
            <a:r>
              <a:t>Use AI to 10x output while enforcing rigorous fact-checking.</a:t>
            </a:r>
          </a:p>
        </p:txBody>
      </p:sp>
      <p:sp>
        <p:nvSpPr>
          <p:cNvPr id="16" name="Rounded Rectangle 15"/>
          <p:cNvSpPr/>
          <p:nvPr/>
        </p:nvSpPr>
        <p:spPr>
          <a:xfrm>
            <a:off x="6336792" y="4471416"/>
            <a:ext cx="5120640" cy="777240"/>
          </a:xfrm>
          <a:prstGeom prst="roundRect">
            <a:avLst/>
          </a:prstGeom>
          <a:solidFill>
            <a:srgbClr val="141C2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09. Real Human Mentors</a:t>
            </a:r>
          </a:p>
          <a:p>
            <a:pPr>
              <a:spcBef>
                <a:spcPts val="200"/>
              </a:spcBef>
              <a:defRPr sz="1200">
                <a:solidFill>
                  <a:srgbClr val="94A3B8"/>
                </a:solidFill>
              </a:defRPr>
            </a:pPr>
            <a:r>
              <a:t>Connect with verified professionals who have battle scars.</a:t>
            </a:r>
          </a:p>
        </p:txBody>
      </p:sp>
      <p:sp>
        <p:nvSpPr>
          <p:cNvPr id="17" name="Rounded Rectangle 16"/>
          <p:cNvSpPr/>
          <p:nvPr/>
        </p:nvSpPr>
        <p:spPr>
          <a:xfrm>
            <a:off x="6336792" y="5413248"/>
            <a:ext cx="5120640" cy="777240"/>
          </a:xfrm>
          <a:prstGeom prst="roundRect">
            <a:avLst/>
          </a:prstGeom>
          <a:solidFill>
            <a:srgbClr val="141C2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defRPr sz="1400" b="1">
                <a:solidFill>
                  <a:srgbClr val="F8FAFC"/>
                </a:solidFill>
              </a:defRPr>
            </a:pPr>
            <a:r>
              <a:t>10. Career Opportunities</a:t>
            </a:r>
          </a:p>
          <a:p>
            <a:pPr>
              <a:spcBef>
                <a:spcPts val="200"/>
              </a:spcBef>
              <a:defRPr sz="1200">
                <a:solidFill>
                  <a:srgbClr val="94A3B8"/>
                </a:solidFill>
              </a:defRPr>
            </a:pPr>
            <a:r>
              <a:t>Bridge competence into paying clients, retainers, and jobs.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Philosophy: Human + AI Synergy &amp; The 8 Principles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7</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38BDF8"/>
                </a:solidFill>
              </a:defRPr>
            </a:pPr>
            <a:r>
              <a:t>📜 THE AI MENTOR CREED</a:t>
            </a:r>
          </a:p>
          <a:p>
            <a:pPr>
              <a:spcBef>
                <a:spcPts val="900"/>
              </a:spcBef>
              <a:defRPr sz="1650" b="1">
                <a:solidFill>
                  <a:srgbClr val="F8FAFC"/>
                </a:solidFill>
              </a:defRPr>
            </a:pPr>
            <a:r>
              <a:t>1. Don't learn everything.</a:t>
            </a:r>
          </a:p>
          <a:p>
            <a:pPr>
              <a:spcBef>
                <a:spcPts val="900"/>
              </a:spcBef>
              <a:defRPr sz="1650" b="1">
                <a:solidFill>
                  <a:srgbClr val="F8FAFC"/>
                </a:solidFill>
              </a:defRPr>
            </a:pPr>
            <a:r>
              <a:t>2. Understand what matters.</a:t>
            </a:r>
          </a:p>
          <a:p>
            <a:pPr>
              <a:spcBef>
                <a:spcPts val="900"/>
              </a:spcBef>
              <a:defRPr sz="1650" b="1">
                <a:solidFill>
                  <a:srgbClr val="F8FAFC"/>
                </a:solidFill>
              </a:defRPr>
            </a:pPr>
            <a:r>
              <a:t>3. Build strong fundamentals.</a:t>
            </a:r>
          </a:p>
          <a:p>
            <a:pPr>
              <a:spcBef>
                <a:spcPts val="900"/>
              </a:spcBef>
              <a:defRPr sz="1650" b="1">
                <a:solidFill>
                  <a:srgbClr val="F8FAFC"/>
                </a:solidFill>
              </a:defRPr>
            </a:pPr>
            <a:r>
              <a:t>4. Use AI wisely.</a:t>
            </a:r>
          </a:p>
          <a:p>
            <a:pPr>
              <a:spcBef>
                <a:spcPts val="900"/>
              </a:spcBef>
              <a:defRPr sz="1650" b="1">
                <a:solidFill>
                  <a:srgbClr val="F8FAFC"/>
                </a:solidFill>
              </a:defRPr>
            </a:pPr>
            <a:r>
              <a:t>5. Verify important information.</a:t>
            </a:r>
          </a:p>
          <a:p>
            <a:pPr>
              <a:spcBef>
                <a:spcPts val="900"/>
              </a:spcBef>
              <a:defRPr sz="1650" b="1">
                <a:solidFill>
                  <a:srgbClr val="F8FAFC"/>
                </a:solidFill>
              </a:defRPr>
            </a:pPr>
            <a:r>
              <a:t>6. Learn from real people.</a:t>
            </a:r>
          </a:p>
          <a:p>
            <a:pPr>
              <a:spcBef>
                <a:spcPts val="900"/>
              </a:spcBef>
              <a:defRPr sz="1650" b="1">
                <a:solidFill>
                  <a:srgbClr val="F8FAFC"/>
                </a:solidFill>
              </a:defRPr>
            </a:pPr>
            <a:r>
              <a:t>7. Take action.</a:t>
            </a:r>
          </a:p>
          <a:p>
            <a:pPr>
              <a:spcBef>
                <a:spcPts val="900"/>
              </a:spcBef>
              <a:defRPr sz="1650" b="1">
                <a:solidFill>
                  <a:srgbClr val="F8FAFC"/>
                </a:solidFill>
              </a:defRPr>
            </a:pPr>
            <a:r>
              <a:t>8. Keep improving.</a:t>
            </a:r>
          </a:p>
        </p:txBody>
      </p:sp>
      <p:sp>
        <p:nvSpPr>
          <p:cNvPr id="9" name="Rounded Rectangle 8"/>
          <p:cNvSpPr/>
          <p:nvPr/>
        </p:nvSpPr>
        <p:spPr>
          <a:xfrm>
            <a:off x="630936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FBBF24"/>
                </a:solidFill>
              </a:defRPr>
            </a:pPr>
            <a:r>
              <a:t>🤝 HUMAN + AI: THE GOLDEN FORMULA</a:t>
            </a:r>
          </a:p>
          <a:p>
            <a:pPr>
              <a:spcBef>
                <a:spcPts val="400"/>
              </a:spcBef>
              <a:defRPr sz="1800" b="1">
                <a:solidFill>
                  <a:srgbClr val="F8FAFC"/>
                </a:solidFill>
              </a:defRPr>
            </a:pPr>
            <a:r>
              <a:t>AI + Fundamentals + Real People + Practice</a:t>
            </a:r>
          </a:p>
          <a:p>
            <a:pPr>
              <a:spcBef>
                <a:spcPts val="1400"/>
              </a:spcBef>
              <a:defRPr sz="1400" b="1">
                <a:solidFill>
                  <a:srgbClr val="2DD4BF"/>
                </a:solidFill>
              </a:defRPr>
            </a:pPr>
            <a:r>
              <a:t>• AI Accelerates Speed:</a:t>
            </a:r>
          </a:p>
          <a:p>
            <a:pPr>
              <a:spcBef>
                <a:spcPts val="200"/>
              </a:spcBef>
              <a:defRPr sz="1300">
                <a:solidFill>
                  <a:srgbClr val="E2E8F0"/>
                </a:solidFill>
              </a:defRPr>
            </a:pPr>
            <a:r>
              <a:t>Synthesizes documentation, translates syntax, and generates instant drills in seconds.</a:t>
            </a:r>
          </a:p>
          <a:p>
            <a:pPr>
              <a:spcBef>
                <a:spcPts val="1400"/>
              </a:spcBef>
              <a:defRPr sz="1400" b="1">
                <a:solidFill>
                  <a:srgbClr val="2DD4BF"/>
                </a:solidFill>
              </a:defRPr>
            </a:pPr>
            <a:r>
              <a:t>• Humans Provide Reality:</a:t>
            </a:r>
          </a:p>
          <a:p>
            <a:pPr>
              <a:spcBef>
                <a:spcPts val="200"/>
              </a:spcBef>
              <a:defRPr sz="1300">
                <a:solidFill>
                  <a:srgbClr val="E2E8F0"/>
                </a:solidFill>
              </a:defRPr>
            </a:pPr>
            <a:r>
              <a:t>Lived experience, battle-tested intuition, corporate context, and emotional empathy.</a:t>
            </a:r>
          </a:p>
          <a:p>
            <a:pPr>
              <a:spcBef>
                <a:spcPts val="1400"/>
              </a:spcBef>
              <a:defRPr sz="1400" b="1">
                <a:solidFill>
                  <a:srgbClr val="2DD4BF"/>
                </a:solidFill>
              </a:defRPr>
            </a:pPr>
            <a:r>
              <a:t>• The Verification Loop:</a:t>
            </a:r>
          </a:p>
          <a:p>
            <a:pPr>
              <a:spcBef>
                <a:spcPts val="200"/>
              </a:spcBef>
              <a:defRPr sz="1300">
                <a:solidFill>
                  <a:srgbClr val="E2E8F0"/>
                </a:solidFill>
              </a:defRPr>
            </a:pPr>
            <a:r>
              <a:t>Ask ➔ Research ➔ Verify ➔ Compare ➔ Understand ➔ Decide.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5-Module Master Curriculum Suite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8</a:t>
            </a:r>
          </a:p>
        </p:txBody>
      </p:sp>
      <p:sp>
        <p:nvSpPr>
          <p:cNvPr id="8" name="Rounded Rectangle 7"/>
          <p:cNvSpPr/>
          <p:nvPr/>
        </p:nvSpPr>
        <p:spPr>
          <a:xfrm>
            <a:off x="731520" y="1600200"/>
            <a:ext cx="10698480" cy="77724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38BDF8"/>
                </a:solidFill>
              </a:defRPr>
            </a:pPr>
            <a:r>
              <a:t>Module 00: Introduction  [STARTS HERE]</a:t>
            </a:r>
          </a:p>
          <a:p>
            <a:pPr>
              <a:spcBef>
                <a:spcPts val="200"/>
              </a:spcBef>
              <a:defRPr sz="1300">
                <a:solidFill>
                  <a:srgbClr val="F8FAFC"/>
                </a:solidFill>
              </a:defRPr>
            </a:pPr>
            <a:r>
              <a:t>Lesson 0.1: What is AI Mentor? Foundations, mindset &amp; beating FOMO.</a:t>
            </a:r>
          </a:p>
        </p:txBody>
      </p:sp>
      <p:sp>
        <p:nvSpPr>
          <p:cNvPr id="9" name="Rounded Rectangle 8"/>
          <p:cNvSpPr/>
          <p:nvPr/>
        </p:nvSpPr>
        <p:spPr>
          <a:xfrm>
            <a:off x="731520" y="2542032"/>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2DD4BF"/>
                </a:solidFill>
              </a:defRPr>
            </a:pPr>
            <a:r>
              <a:t>Module 01: Find Your Way  [FOUNDATIONAL]</a:t>
            </a:r>
          </a:p>
          <a:p>
            <a:pPr>
              <a:spcBef>
                <a:spcPts val="200"/>
              </a:spcBef>
              <a:defRPr sz="1300">
                <a:solidFill>
                  <a:srgbClr val="F8FAFC"/>
                </a:solidFill>
              </a:defRPr>
            </a:pPr>
            <a:r>
              <a:t>Lesson 1.1: The 9-pillar diagnostic analysis, roadmaps &amp; real mentors.</a:t>
            </a:r>
          </a:p>
        </p:txBody>
      </p:sp>
      <p:sp>
        <p:nvSpPr>
          <p:cNvPr id="10" name="Rounded Rectangle 9"/>
          <p:cNvSpPr/>
          <p:nvPr/>
        </p:nvSpPr>
        <p:spPr>
          <a:xfrm>
            <a:off x="731520" y="3483864"/>
            <a:ext cx="10698480" cy="77724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A78BFA"/>
                </a:solidFill>
              </a:defRPr>
            </a:pPr>
            <a:r>
              <a:t>Module 02: Online Presence  [CREDIBILITY]</a:t>
            </a:r>
          </a:p>
          <a:p>
            <a:pPr>
              <a:spcBef>
                <a:spcPts val="200"/>
              </a:spcBef>
              <a:defRPr sz="1300">
                <a:solidFill>
                  <a:srgbClr val="F8FAFC"/>
                </a:solidFill>
              </a:defRPr>
            </a:pPr>
            <a:r>
              <a:t>Lesson 2.1: Turn daily learning into content on LinkedIn, X &amp; video.</a:t>
            </a:r>
          </a:p>
        </p:txBody>
      </p:sp>
      <p:sp>
        <p:nvSpPr>
          <p:cNvPr id="11" name="Rounded Rectangle 10"/>
          <p:cNvSpPr/>
          <p:nvPr/>
        </p:nvSpPr>
        <p:spPr>
          <a:xfrm>
            <a:off x="731520" y="4425696"/>
            <a:ext cx="10698480" cy="77724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FBBF24"/>
                </a:solidFill>
              </a:defRPr>
            </a:pPr>
            <a:r>
              <a:t>Module 03: Make Money  [MONETIZATION]</a:t>
            </a:r>
          </a:p>
          <a:p>
            <a:pPr>
              <a:spcBef>
                <a:spcPts val="200"/>
              </a:spcBef>
              <a:defRPr sz="1300">
                <a:solidFill>
                  <a:srgbClr val="F8FAFC"/>
                </a:solidFill>
              </a:defRPr>
            </a:pPr>
            <a:r>
              <a:t>Lesson 3.1: Freelancing, client acquisition, proof portfolios &amp; retainers.</a:t>
            </a:r>
          </a:p>
        </p:txBody>
      </p:sp>
      <p:sp>
        <p:nvSpPr>
          <p:cNvPr id="12" name="Rounded Rectangle 11"/>
          <p:cNvSpPr/>
          <p:nvPr/>
        </p:nvSpPr>
        <p:spPr>
          <a:xfrm>
            <a:off x="731520" y="5367528"/>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600" b="1">
                <a:solidFill>
                  <a:srgbClr val="2DD4BF"/>
                </a:solidFill>
              </a:defRPr>
            </a:pPr>
            <a:r>
              <a:t>Module 04: Job Hunting  [EMPLOYMENT]</a:t>
            </a:r>
          </a:p>
          <a:p>
            <a:pPr>
              <a:spcBef>
                <a:spcPts val="200"/>
              </a:spcBef>
              <a:defRPr sz="1300">
                <a:solidFill>
                  <a:srgbClr val="F8FAFC"/>
                </a:solidFill>
              </a:defRPr>
            </a:pPr>
            <a:r>
              <a:t>Lesson 4.1: Role dissection, ATS resumes, whiteboards &amp; interview mastery.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Autonomous AI Tooling: Claude Skills &amp; Universal Prompts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9</a:t>
            </a:r>
          </a:p>
        </p:txBody>
      </p:sp>
      <p:sp>
        <p:nvSpPr>
          <p:cNvPr id="8" name="Rounded Rectangle 7"/>
          <p:cNvSpPr/>
          <p:nvPr/>
        </p:nvSpPr>
        <p:spPr>
          <a:xfrm>
            <a:off x="73152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2DD4BF"/>
                </a:solidFill>
              </a:defRPr>
            </a:pPr>
            <a:r>
              <a:t>📦 PRE-PACKAGED SKILL JARS (.skill)</a:t>
            </a:r>
          </a:p>
          <a:p>
            <a:pPr>
              <a:spcBef>
                <a:spcPts val="400"/>
              </a:spcBef>
              <a:defRPr sz="2100" b="1">
                <a:solidFill>
                  <a:srgbClr val="F8FAFC"/>
                </a:solidFill>
              </a:defRPr>
            </a:pPr>
            <a:r>
              <a:t>Autonomous AI Mentors</a:t>
            </a:r>
          </a:p>
          <a:p>
            <a:pPr>
              <a:spcBef>
                <a:spcPts val="1000"/>
              </a:spcBef>
              <a:defRPr sz="1350" b="1">
                <a:solidFill>
                  <a:srgbClr val="FBBF24"/>
                </a:solidFill>
              </a:defRPr>
            </a:pPr>
            <a:r>
              <a:t>• ai-mentor.skill:</a:t>
            </a:r>
          </a:p>
          <a:p>
            <a:pPr>
              <a:spcBef>
                <a:spcPts val="200"/>
              </a:spcBef>
              <a:defRPr sz="1250">
                <a:solidFill>
                  <a:srgbClr val="E2E8F0"/>
                </a:solidFill>
              </a:defRPr>
            </a:pPr>
            <a:r>
              <a:t>Full skill diagnostic, anti-hallucination guardrails &amp; roadmaps.</a:t>
            </a:r>
          </a:p>
          <a:p>
            <a:pPr>
              <a:spcBef>
                <a:spcPts val="1000"/>
              </a:spcBef>
              <a:defRPr sz="1350" b="1">
                <a:solidFill>
                  <a:srgbClr val="FBBF24"/>
                </a:solidFill>
              </a:defRPr>
            </a:pPr>
            <a:r>
              <a:t>• content-creating.skill:</a:t>
            </a:r>
          </a:p>
          <a:p>
            <a:pPr>
              <a:spcBef>
                <a:spcPts val="200"/>
              </a:spcBef>
              <a:defRPr sz="1250">
                <a:solidFill>
                  <a:srgbClr val="E2E8F0"/>
                </a:solidFill>
              </a:defRPr>
            </a:pPr>
            <a:r>
              <a:t>Platform post generator, video scripting &amp; habit tracking.</a:t>
            </a:r>
          </a:p>
          <a:p>
            <a:pPr>
              <a:spcBef>
                <a:spcPts val="1000"/>
              </a:spcBef>
              <a:defRPr sz="1350" b="1">
                <a:solidFill>
                  <a:srgbClr val="FBBF24"/>
                </a:solidFill>
              </a:defRPr>
            </a:pPr>
            <a:r>
              <a:t>• make-money.skill:</a:t>
            </a:r>
          </a:p>
          <a:p>
            <a:pPr>
              <a:spcBef>
                <a:spcPts val="200"/>
              </a:spcBef>
              <a:defRPr sz="1250">
                <a:solidFill>
                  <a:srgbClr val="E2E8F0"/>
                </a:solidFill>
              </a:defRPr>
            </a:pPr>
            <a:r>
              <a:t>Proposal generator, contract templates &amp; pricing models.</a:t>
            </a:r>
          </a:p>
          <a:p>
            <a:pPr>
              <a:spcBef>
                <a:spcPts val="1000"/>
              </a:spcBef>
              <a:defRPr sz="1350" b="1">
                <a:solidFill>
                  <a:srgbClr val="FBBF24"/>
                </a:solidFill>
              </a:defRPr>
            </a:pPr>
            <a:r>
              <a:t>• job-hunting.skill:</a:t>
            </a:r>
          </a:p>
          <a:p>
            <a:pPr>
              <a:spcBef>
                <a:spcPts val="200"/>
              </a:spcBef>
              <a:defRPr sz="1250">
                <a:solidFill>
                  <a:srgbClr val="E2E8F0"/>
                </a:solidFill>
              </a:defRPr>
            </a:pPr>
            <a:r>
              <a:t>Mock interview simulator, ATS auditor &amp; readiness rubrics.</a:t>
            </a:r>
          </a:p>
        </p:txBody>
      </p:sp>
      <p:sp>
        <p:nvSpPr>
          <p:cNvPr id="9" name="Rounded Rectangle 8"/>
          <p:cNvSpPr/>
          <p:nvPr/>
        </p:nvSpPr>
        <p:spPr>
          <a:xfrm>
            <a:off x="630936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38BDF8"/>
                </a:solidFill>
              </a:defRPr>
            </a:pPr>
            <a:r>
              <a:t>📄 UNIVERSAL PROMPT ARCHITECTURE</a:t>
            </a:r>
          </a:p>
          <a:p>
            <a:pPr>
              <a:spcBef>
                <a:spcPts val="400"/>
              </a:spcBef>
              <a:defRPr sz="2100" b="1">
                <a:solidFill>
                  <a:srgbClr val="F8FAFC"/>
                </a:solidFill>
              </a:defRPr>
            </a:pPr>
            <a:r>
              <a:t>Copy-Paste In Any AI Model</a:t>
            </a:r>
          </a:p>
          <a:p>
            <a:pPr>
              <a:spcBef>
                <a:spcPts val="1000"/>
              </a:spcBef>
              <a:defRPr sz="1350" b="1">
                <a:solidFill>
                  <a:srgbClr val="2DD4BF"/>
                </a:solidFill>
              </a:defRPr>
            </a:pPr>
            <a:r>
              <a:t>• ChatGPT &amp; OpenAI:</a:t>
            </a:r>
          </a:p>
          <a:p>
            <a:pPr>
              <a:spcBef>
                <a:spcPts val="200"/>
              </a:spcBef>
              <a:defRPr sz="1250">
                <a:solidFill>
                  <a:srgbClr val="E2E8F0"/>
                </a:solidFill>
              </a:defRPr>
            </a:pPr>
            <a:r>
              <a:t>Drop system instructions directly into ChatGPT chats or custom GPTs.</a:t>
            </a:r>
          </a:p>
          <a:p>
            <a:pPr>
              <a:spcBef>
                <a:spcPts val="1000"/>
              </a:spcBef>
              <a:defRPr sz="1350" b="1">
                <a:solidFill>
                  <a:srgbClr val="2DD4BF"/>
                </a:solidFill>
              </a:defRPr>
            </a:pPr>
            <a:r>
              <a:t>• Claude.ai Projects:</a:t>
            </a:r>
          </a:p>
          <a:p>
            <a:pPr>
              <a:spcBef>
                <a:spcPts val="200"/>
              </a:spcBef>
              <a:defRPr sz="1250">
                <a:solidFill>
                  <a:srgbClr val="E2E8F0"/>
                </a:solidFill>
              </a:defRPr>
            </a:pPr>
            <a:r>
              <a:t>Paste into Project Instructions for permanent context memory.</a:t>
            </a:r>
          </a:p>
          <a:p>
            <a:pPr>
              <a:spcBef>
                <a:spcPts val="1000"/>
              </a:spcBef>
              <a:defRPr sz="1350" b="1">
                <a:solidFill>
                  <a:srgbClr val="2DD4BF"/>
                </a:solidFill>
              </a:defRPr>
            </a:pPr>
            <a:r>
              <a:t>• Google Gemini:</a:t>
            </a:r>
          </a:p>
          <a:p>
            <a:pPr>
              <a:spcBef>
                <a:spcPts val="200"/>
              </a:spcBef>
              <a:defRPr sz="1250">
                <a:solidFill>
                  <a:srgbClr val="E2E8F0"/>
                </a:solidFill>
              </a:defRPr>
            </a:pPr>
            <a:r>
              <a:t>Works seamlessly across free and Advanced Gemini models.</a:t>
            </a:r>
          </a:p>
          <a:p>
            <a:pPr>
              <a:spcBef>
                <a:spcPts val="1000"/>
              </a:spcBef>
              <a:defRPr sz="1350" b="1">
                <a:solidFill>
                  <a:srgbClr val="2DD4BF"/>
                </a:solidFill>
              </a:defRPr>
            </a:pPr>
            <a:r>
              <a:t>• Antigravity &amp; Local LLMs:</a:t>
            </a:r>
          </a:p>
          <a:p>
            <a:pPr>
              <a:spcBef>
                <a:spcPts val="200"/>
              </a:spcBef>
              <a:defRPr sz="1250">
                <a:solidFill>
                  <a:srgbClr val="E2E8F0"/>
                </a:solidFill>
              </a:defRPr>
            </a:pPr>
            <a:r>
              <a:t>Compatible with local CLI agents and autonomous workflows.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Frequently Asked Questions (FAQs)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10</a:t>
            </a:r>
          </a:p>
        </p:txBody>
      </p:sp>
      <p:sp>
        <p:nvSpPr>
          <p:cNvPr id="8" name="Rounded Rectangle 7"/>
          <p:cNvSpPr/>
          <p:nvPr/>
        </p:nvSpPr>
        <p:spPr>
          <a:xfrm>
            <a:off x="731520" y="1645920"/>
            <a:ext cx="10698480" cy="9601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500" b="1">
                <a:solidFill>
                  <a:srgbClr val="FBBF24"/>
                </a:solidFill>
              </a:defRPr>
            </a:pPr>
            <a:r>
              <a:t>Q: Who is AI Mentor for?</a:t>
            </a:r>
          </a:p>
          <a:p>
            <a:pPr>
              <a:spcBef>
                <a:spcPts val="300"/>
              </a:spcBef>
              <a:defRPr sz="1300">
                <a:solidFill>
                  <a:srgbClr val="E2E8F0"/>
                </a:solidFill>
              </a:defRPr>
            </a:pPr>
            <a:r>
              <a:t>Anyone wanting to explore a topic, skill, or career direction without getting lost in tutorial hell.</a:t>
            </a:r>
          </a:p>
        </p:txBody>
      </p:sp>
      <p:sp>
        <p:nvSpPr>
          <p:cNvPr id="9" name="Rounded Rectangle 8"/>
          <p:cNvSpPr/>
          <p:nvPr/>
        </p:nvSpPr>
        <p:spPr>
          <a:xfrm>
            <a:off x="731520" y="2788920"/>
            <a:ext cx="10698480" cy="9601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500" b="1">
                <a:solidFill>
                  <a:srgbClr val="FBBF24"/>
                </a:solidFill>
              </a:defRPr>
            </a:pPr>
            <a:r>
              <a:t>Q: Do I need prior coding skills?</a:t>
            </a:r>
          </a:p>
          <a:p>
            <a:pPr>
              <a:spcBef>
                <a:spcPts val="300"/>
              </a:spcBef>
              <a:defRPr sz="1300">
                <a:solidFill>
                  <a:srgbClr val="E2E8F0"/>
                </a:solidFill>
              </a:defRPr>
            </a:pPr>
            <a:r>
              <a:t>No. The course starts at absolute zero and guides you systematically to production competence.</a:t>
            </a:r>
          </a:p>
        </p:txBody>
      </p:sp>
      <p:sp>
        <p:nvSpPr>
          <p:cNvPr id="10" name="Rounded Rectangle 9"/>
          <p:cNvSpPr/>
          <p:nvPr/>
        </p:nvSpPr>
        <p:spPr>
          <a:xfrm>
            <a:off x="731520" y="3931920"/>
            <a:ext cx="10698480" cy="9601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500" b="1">
                <a:solidFill>
                  <a:srgbClr val="FBBF24"/>
                </a:solidFill>
              </a:defRPr>
            </a:pPr>
            <a:r>
              <a:t>Q: Does AI Mentor replace real mentors?</a:t>
            </a:r>
          </a:p>
          <a:p>
            <a:pPr>
              <a:spcBef>
                <a:spcPts val="300"/>
              </a:spcBef>
              <a:defRPr sz="1300">
                <a:solidFill>
                  <a:srgbClr val="E2E8F0"/>
                </a:solidFill>
              </a:defRPr>
            </a:pPr>
            <a:r>
              <a:t>Never. It equips you with the exact framework to find, approach, and learn from real industry mentors.</a:t>
            </a:r>
          </a:p>
        </p:txBody>
      </p:sp>
      <p:sp>
        <p:nvSpPr>
          <p:cNvPr id="11" name="Rounded Rectangle 10"/>
          <p:cNvSpPr/>
          <p:nvPr/>
        </p:nvSpPr>
        <p:spPr>
          <a:xfrm>
            <a:off x="731520" y="5074920"/>
            <a:ext cx="10698480" cy="9601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74320" tIns="146304"/>
          <a:lstStyle/>
          <a:p>
            <a:pPr algn="ctr">
              <a:defRPr sz="1500" b="1">
                <a:solidFill>
                  <a:srgbClr val="FBBF24"/>
                </a:solidFill>
              </a:defRPr>
            </a:pPr>
            <a:r>
              <a:t>Q: Is this course really 100% free?</a:t>
            </a:r>
          </a:p>
          <a:p>
            <a:pPr>
              <a:spcBef>
                <a:spcPts val="300"/>
              </a:spcBef>
              <a:defRPr sz="1300">
                <a:solidFill>
                  <a:srgbClr val="E2E8F0"/>
                </a:solidFill>
              </a:defRPr>
            </a:pPr>
            <a:r>
              <a:t>Yes! All video lessons, prompts, and skill packages are free on YouTube and GitHub under open-source licenses.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MASTER COURSE OVERVIEW</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How to Get Started: The 3-Step Launch Checklist</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11</a:t>
            </a:r>
          </a:p>
        </p:txBody>
      </p:sp>
      <p:sp>
        <p:nvSpPr>
          <p:cNvPr id="8" name="Rounded Rectangle 7"/>
          <p:cNvSpPr/>
          <p:nvPr/>
        </p:nvSpPr>
        <p:spPr>
          <a:xfrm>
            <a:off x="731520" y="1645920"/>
            <a:ext cx="3328416"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200" b="1">
                <a:solidFill>
                  <a:srgbClr val="38BDF8"/>
                </a:solidFill>
              </a:defRPr>
            </a:pPr>
            <a:r>
              <a:t>STEP 01</a:t>
            </a:r>
          </a:p>
          <a:p>
            <a:pPr>
              <a:spcBef>
                <a:spcPts val="400"/>
              </a:spcBef>
              <a:defRPr sz="2100" b="1">
                <a:solidFill>
                  <a:srgbClr val="F8FAFC"/>
                </a:solidFill>
              </a:defRPr>
            </a:pPr>
            <a:r>
              <a:t>⭐ Star &amp; Clone The Repo</a:t>
            </a:r>
          </a:p>
          <a:p>
            <a:pPr>
              <a:spcBef>
                <a:spcPts val="1000"/>
              </a:spcBef>
              <a:defRPr sz="800">
                <a:solidFill>
                  <a:srgbClr val="27334A"/>
                </a:solidFill>
              </a:defRPr>
            </a:pPr>
            <a:r>
              <a:t>─────────────────────</a:t>
            </a:r>
          </a:p>
          <a:p>
            <a:pPr>
              <a:spcBef>
                <a:spcPts val="1400"/>
              </a:spcBef>
              <a:defRPr sz="1400">
                <a:solidFill>
                  <a:srgbClr val="E2E8F0"/>
                </a:solidFill>
              </a:defRPr>
            </a:pPr>
            <a:r>
              <a:t>Head over to our GitHub repository. Star the repo to save it in your library and clone or download the prompt files.</a:t>
            </a:r>
          </a:p>
        </p:txBody>
      </p:sp>
      <p:sp>
        <p:nvSpPr>
          <p:cNvPr id="9" name="Rounded Rectangle 8"/>
          <p:cNvSpPr/>
          <p:nvPr/>
        </p:nvSpPr>
        <p:spPr>
          <a:xfrm>
            <a:off x="4425696" y="1645920"/>
            <a:ext cx="3328416"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200" b="1">
                <a:solidFill>
                  <a:srgbClr val="2DD4BF"/>
                </a:solidFill>
              </a:defRPr>
            </a:pPr>
            <a:r>
              <a:t>STEP 02</a:t>
            </a:r>
          </a:p>
          <a:p>
            <a:pPr>
              <a:spcBef>
                <a:spcPts val="400"/>
              </a:spcBef>
              <a:defRPr sz="2100" b="1">
                <a:solidFill>
                  <a:srgbClr val="F8FAFC"/>
                </a:solidFill>
              </a:defRPr>
            </a:pPr>
            <a:r>
              <a:t>🎥 Watch Lesson 0.1</a:t>
            </a:r>
          </a:p>
          <a:p>
            <a:pPr>
              <a:spcBef>
                <a:spcPts val="1000"/>
              </a:spcBef>
              <a:defRPr sz="800">
                <a:solidFill>
                  <a:srgbClr val="27334A"/>
                </a:solidFill>
              </a:defRPr>
            </a:pPr>
            <a:r>
              <a:t>─────────────────────</a:t>
            </a:r>
          </a:p>
          <a:p>
            <a:pPr>
              <a:spcBef>
                <a:spcPts val="1400"/>
              </a:spcBef>
              <a:defRPr sz="1400">
                <a:solidFill>
                  <a:srgbClr val="E2E8F0"/>
                </a:solidFill>
              </a:defRPr>
            </a:pPr>
            <a:r>
              <a:t>Begin with Module 00: Introduction to calibrate your learning mindset, defeat FOMO, and adopt our core philosophy.</a:t>
            </a:r>
          </a:p>
        </p:txBody>
      </p:sp>
      <p:sp>
        <p:nvSpPr>
          <p:cNvPr id="10" name="Rounded Rectangle 9"/>
          <p:cNvSpPr/>
          <p:nvPr/>
        </p:nvSpPr>
        <p:spPr>
          <a:xfrm>
            <a:off x="8119872" y="1645920"/>
            <a:ext cx="3328416"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74320"/>
          <a:lstStyle/>
          <a:p>
            <a:pPr algn="ctr">
              <a:defRPr sz="1200" b="1">
                <a:solidFill>
                  <a:srgbClr val="FBBF24"/>
                </a:solidFill>
              </a:defRPr>
            </a:pPr>
            <a:r>
              <a:t>STEP 03</a:t>
            </a:r>
          </a:p>
          <a:p>
            <a:pPr>
              <a:spcBef>
                <a:spcPts val="400"/>
              </a:spcBef>
              <a:defRPr sz="2100" b="1">
                <a:solidFill>
                  <a:srgbClr val="F8FAFC"/>
                </a:solidFill>
              </a:defRPr>
            </a:pPr>
            <a:r>
              <a:t>🧭 Deploy Module 01</a:t>
            </a:r>
          </a:p>
          <a:p>
            <a:pPr>
              <a:spcBef>
                <a:spcPts val="1000"/>
              </a:spcBef>
              <a:defRPr sz="800">
                <a:solidFill>
                  <a:srgbClr val="27334A"/>
                </a:solidFill>
              </a:defRPr>
            </a:pPr>
            <a:r>
              <a:t>─────────────────────</a:t>
            </a:r>
          </a:p>
          <a:p>
            <a:pPr>
              <a:spcBef>
                <a:spcPts val="1400"/>
              </a:spcBef>
              <a:defRPr sz="1400">
                <a:solidFill>
                  <a:srgbClr val="E2E8F0"/>
                </a:solidFill>
              </a:defRPr>
            </a:pPr>
            <a:r>
              <a:t>Open Module 01: Find Your Way, load your target skill into our prompt, and generate your custom career roadmap.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7315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1280160"/>
          </a:xfrm>
          <a:prstGeom prst="rect">
            <a:avLst/>
          </a:prstGeom>
          <a:noFill/>
        </p:spPr>
        <p:txBody>
          <a:bodyPr wrap="square">
            <a:spAutoFit/>
          </a:bodyPr>
          <a:lstStyle/>
          <a:p>
            <a:pPr>
              <a:defRPr sz="1400" b="1">
                <a:solidFill>
                  <a:srgbClr val="FBBF24"/>
                </a:solidFill>
              </a:defRPr>
            </a:pPr>
            <a:r>
              <a:t>WELCOME TO THE FUTURE OF LEARNING</a:t>
            </a:r>
          </a:p>
          <a:p>
            <a:pPr>
              <a:spcBef>
                <a:spcPts val="400"/>
              </a:spcBef>
              <a:defRPr sz="3600" b="1">
                <a:solidFill>
                  <a:srgbClr val="F8FAFC"/>
                </a:solidFill>
              </a:defRPr>
            </a:pPr>
            <a:r>
              <a:t>Start Your Journey With Module 00 Today</a:t>
            </a:r>
          </a:p>
        </p:txBody>
      </p:sp>
      <p:sp>
        <p:nvSpPr>
          <p:cNvPr id="5" name="Rounded Rectangle 4"/>
          <p:cNvSpPr/>
          <p:nvPr/>
        </p:nvSpPr>
        <p:spPr>
          <a:xfrm>
            <a:off x="731520" y="2834640"/>
            <a:ext cx="10698480" cy="27432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2DD4BF"/>
                </a:solidFill>
              </a:defRPr>
            </a:pPr>
            <a:r>
              <a:t>Presented with Pride &amp; Passion by R.K. SKILLFORGE</a:t>
            </a:r>
          </a:p>
          <a:p>
            <a:pPr>
              <a:spcBef>
                <a:spcPts val="1000"/>
              </a:spcBef>
              <a:defRPr sz="1500">
                <a:solidFill>
                  <a:srgbClr val="E2E8F0"/>
                </a:solidFill>
              </a:defRPr>
            </a:pPr>
            <a:r>
              <a:t>👍  Like this video &amp; Subscribe with notifications on for the full masterclass series</a:t>
            </a:r>
          </a:p>
          <a:p>
            <a:pPr>
              <a:spcBef>
                <a:spcPts val="1000"/>
              </a:spcBef>
              <a:defRPr sz="1500">
                <a:solidFill>
                  <a:srgbClr val="E2E8F0"/>
                </a:solidFill>
              </a:defRPr>
            </a:pPr>
            <a:r>
              <a:t>⭐  Star the GitHub Repository to download all slides, prompts, and skill packages</a:t>
            </a:r>
          </a:p>
          <a:p>
            <a:pPr>
              <a:spcBef>
                <a:spcPts val="1000"/>
              </a:spcBef>
              <a:defRPr sz="1500">
                <a:solidFill>
                  <a:srgbClr val="E2E8F0"/>
                </a:solidFill>
              </a:defRPr>
            </a:pPr>
            <a:r>
              <a:t>💬  Drop your current target career interest in the comments below—we reply to everyone!</a:t>
            </a:r>
          </a:p>
          <a:p>
            <a:pPr>
              <a:spcBef>
                <a:spcPts val="1000"/>
              </a:spcBef>
              <a:defRPr sz="1500">
                <a:solidFill>
                  <a:srgbClr val="E2E8F0"/>
                </a:solidFill>
              </a:defRPr>
            </a:pPr>
            <a:r>
              <a:t>➡️  Click the next video to begin Module 00: Introduction to AI Mentor</a:t>
            </a:r>
          </a:p>
        </p:txBody>
      </p:sp>
      <p:sp>
        <p:nvSpPr>
          <p:cNvPr id="6" name="TextBox 5"/>
          <p:cNvSpPr txBox="1"/>
          <p:nvPr/>
        </p:nvSpPr>
        <p:spPr>
          <a:xfrm>
            <a:off x="731520" y="5806440"/>
            <a:ext cx="10698480" cy="457200"/>
          </a:xfrm>
          <a:prstGeom prst="rect">
            <a:avLst/>
          </a:prstGeom>
          <a:noFill/>
        </p:spPr>
        <p:txBody>
          <a:bodyPr wrap="none">
            <a:spAutoFit/>
          </a:bodyPr>
          <a:lstStyle/>
          <a:p>
            <a:pPr algn="ctr">
              <a:defRPr sz="1300">
                <a:solidFill>
                  <a:srgbClr val="94A3B8"/>
                </a:solidFill>
              </a:defRPr>
            </a:pPr>
            <a:r>
              <a:t>© R.K. SKILLFORGE   |   AI Mentor Masterclass Series   |   100% Free Lifetime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