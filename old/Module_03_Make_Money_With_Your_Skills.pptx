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INTRO:</a:t>
            </a:r>
          </a:p>
          <a:p>
            <a:r>
              <a:t>"Welcome to Module 03 of AI Mentor by R.K. SKILLFORGE!</a:t>
            </a:r>
          </a:p>
          <a:p>
            <a:r>
              <a:t>So far, we've covered how to choose a skill and how to build an authentic online presence.</a:t>
            </a:r>
          </a:p>
          <a:p>
            <a:r>
              <a:t>Now, let's talk about the bottom line: How do you actually make money with your skills?</a:t>
            </a:r>
          </a:p>
          <a:p>
            <a:r>
              <a:t>Many skilled engineers and creators remain broke not because they lack talent, but because they don't know how to package their offer, price their services, or build trust with paying clients.</a:t>
            </a:r>
          </a:p>
          <a:p>
            <a:r>
              <a:t>In Lesson 3.1, we take you step by step from competence to sustainable cash flow.</a:t>
            </a:r>
          </a:p>
          <a:p>
            <a:r>
              <a:t>Let's dive 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"Look at the freelancing market today. Millions of people have learned React, Python, or Graphic Design. Yet why are most freelancers fighting over $10 gigs on Upwork?</a:t>
            </a:r>
          </a:p>
          <a:p>
            <a:r>
              <a:t>Because they sell themselves as commodities. They tell clients: 'I know JavaScript.'</a:t>
            </a:r>
          </a:p>
          <a:p>
            <a:r>
              <a:t>Clients do not care about JavaScript. Clients care about revenue, user retention, and security.</a:t>
            </a:r>
          </a:p>
          <a:p>
            <a:r>
              <a:t>When you learn to speak the language of business outcomes, you stop competing on price and start winning premium contracts."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is our 11-pillar monetization framework.</a:t>
            </a:r>
          </a:p>
          <a:p>
            <a:r>
              <a:t>We will examine: How to validate high-demand skills, choose between freelancing and an agency model, execute an 8-stage earning plan, acquire clients without cold spam, build a 4-part portfolio case study, and scale into monthly retainers.</a:t>
            </a:r>
          </a:p>
          <a:p>
            <a:r>
              <a:t>Let's break down each pillar so you can start monetizing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"In Pillars 1 and 2, we make fundamental strategic choices.</a:t>
            </a:r>
          </a:p>
          <a:p>
            <a:r>
              <a:t>Pillar 1: Pick a skill where companies have big budgets. If you help an e-commerce brand recover $50,000 in abandoned carts, charging $5,000 for that project is an absolute no-brainer.</a:t>
            </a:r>
          </a:p>
          <a:p>
            <a:r>
              <a:t>Pillar 2: Start with Freelancing first! Freelancing requires zero upfront capital, teaches you direct sales, and gives you instant client feedback.</a:t>
            </a:r>
          </a:p>
          <a:p>
            <a:r>
              <a:t>Once you master freelancing, you can productize your service into an agency or SaaS business."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"Look at Pillars 3 and 4.</a:t>
            </a:r>
          </a:p>
          <a:p>
            <a:r>
              <a:t>In Pillar 3, follow the 8-stage pipeline in order. Notice that 'Offer' comes before 'Find Clients'. You must know exactly what you are selling before you reach out to anyone.</a:t>
            </a:r>
          </a:p>
          <a:p>
            <a:r>
              <a:t>And in Pillar 4, throw away the copy-paste cold email templates you found online. Nobody reads them.</a:t>
            </a:r>
          </a:p>
          <a:p>
            <a:r>
              <a:t>Instead, use the 'Audit-First' approach: Look at a potential client's website, find a performance issue or broken workflow, record a 2-minute Loom video showing how to fix it, and send it over.</a:t>
            </a:r>
          </a:p>
          <a:p>
            <a:r>
              <a:t>You instantly stand out from 99% of spammers."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"Pillars 5 and 6 solve the credibility problem.</a:t>
            </a:r>
          </a:p>
          <a:p>
            <a:r>
              <a:t>In Pillar 5: Stop spreading yourself thin across 6 different freelancer sites. Pick one. Master it.</a:t>
            </a:r>
          </a:p>
          <a:p>
            <a:r>
              <a:t>In Pillar 6: How should you structure your portfolio?</a:t>
            </a:r>
          </a:p>
          <a:p>
            <a:r>
              <a:t>Do not just link to a GitHub repo with a default README. Nobody reads that.</a:t>
            </a:r>
          </a:p>
          <a:p>
            <a:r>
              <a:t>Write a 4-part case study:</a:t>
            </a:r>
          </a:p>
          <a:p>
            <a:r>
              <a:t>What was the business problem? What was your architecture? What was the measurable result? What stack did you use?</a:t>
            </a:r>
          </a:p>
          <a:p>
            <a:r>
              <a:t>When a client reads that, they instantly see you as a senior partner, not a cheap code monkey."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"Pillars 7 and 8 are about positioning and professional reputation.</a:t>
            </a:r>
          </a:p>
          <a:p>
            <a:r>
              <a:t>When you pre-sell through content, clients already know how you think before they book a call with you.</a:t>
            </a:r>
          </a:p>
          <a:p>
            <a:r>
              <a:t>And in Pillar 8: Never forget that clients don't just hire you for your code. They hire you for peace of mind.</a:t>
            </a:r>
          </a:p>
          <a:p>
            <a:r>
              <a:t>If you communicate clearly, give regular progress updates, and deliver on time without drama, that client will never look for another freelancer again."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"Pillars 9 and 10 keep you grounded in reality.</a:t>
            </a:r>
          </a:p>
          <a:p>
            <a:r>
              <a:t>Whenever you have a business idea or freelancing service, run it through our Idea Evaluation framework. We rate it honestly out of 10 and expose blind spots before you spend money on logos or domains.</a:t>
            </a:r>
          </a:p>
          <a:p>
            <a:r>
              <a:t>And in Pillar 10, we strictly enforce zero financial hallucinations. The internet is full of fake screenshots and get-rich-quick nonsense.</a:t>
            </a:r>
          </a:p>
          <a:p>
            <a:r>
              <a:t>At R.K. SKILLFORGE, we focus on real commercial mechanics that produce sustainable, long-term wealth."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is how you scale in Pillar 11:</a:t>
            </a:r>
          </a:p>
          <a:p>
            <a:r>
              <a:t>Phase 1: Validate your skill and get your first 3 paid projects.</a:t>
            </a:r>
          </a:p>
          <a:p>
            <a:r>
              <a:t>Phase 2: Switch from hourly rates to fixed-value pricing.</a:t>
            </a:r>
          </a:p>
          <a:p>
            <a:r>
              <a:t>Phase 3: Turn those project clients into monthly retainers for ongoing support.</a:t>
            </a:r>
          </a:p>
          <a:p>
            <a:r>
              <a:t>Phase 4: Productize your workflow.</a:t>
            </a:r>
          </a:p>
          <a:p>
            <a:r>
              <a:t>Phase 5: Add leverage—whether that's hiring team members, selling code templates, or building an agency.</a:t>
            </a:r>
          </a:p>
          <a:p>
            <a:r>
              <a:t>This is how you escape the feast-or-famine freelance cycle forever."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"Inside the Module 03 repository, you have complete access to our execution assets:</a:t>
            </a:r>
          </a:p>
          <a:p>
            <a:r>
              <a:t>MAKE-MONEY-PROMPT.md will help you write client proposals, draft contracts, and score business models.</a:t>
            </a:r>
          </a:p>
          <a:p>
            <a:r>
              <a:t>And make-money.skill contains our full reference library of client agreement templates and case study outlines.</a:t>
            </a:r>
          </a:p>
          <a:p>
            <a:r>
              <a:t>Everything is 100% free in our GitHub repository!"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OUTRO:</a:t>
            </a:r>
          </a:p>
          <a:p>
            <a:r>
              <a:t>"Thank you for watching Lesson 3.1 of AI Mentor, presented by R.K. SKILLFORGE!</a:t>
            </a:r>
          </a:p>
          <a:p>
            <a:r>
              <a:t>Now you understand the complete commercial engine: from packaging your skills to closing clients and scaling retainers.</a:t>
            </a:r>
          </a:p>
          <a:p>
            <a:r>
              <a:t>In our final core lesson, Module 04: Preparation For Job Hunting, we will teach you how to dominate technical interviews, optimize your resume for ATS systems, and negotiate top-tier compensation.</a:t>
            </a:r>
          </a:p>
          <a:p>
            <a:r>
              <a:t>Don't forget to like, subscribe, and star the GitHub repository.</a:t>
            </a:r>
          </a:p>
          <a:p>
            <a:r>
              <a:t>I'll see you in Module 04!"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09728" cy="438912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097280"/>
            <a:ext cx="6217920" cy="411480"/>
          </a:xfrm>
          <a:prstGeom prst="rect">
            <a:avLst/>
          </a:prstGeom>
          <a:noFill/>
        </p:spPr>
        <p:txBody>
          <a:bodyPr wrap="none">
            <a:spAutoFit/>
          </a:bodyPr>
          <a:lstStyle/>
          <a:p>
            <a:pPr>
              <a:defRPr sz="1400" b="1">
                <a:solidFill>
                  <a:srgbClr val="FBBF24"/>
                </a:solidFill>
              </a:defRPr>
            </a:pPr>
            <a:r>
              <a:t>🚀 R.K. SKILLFORGE MASTERCLASS</a:t>
            </a:r>
          </a:p>
        </p:txBody>
      </p:sp>
      <p:sp>
        <p:nvSpPr>
          <p:cNvPr id="5" name="TextBox 4"/>
          <p:cNvSpPr txBox="1"/>
          <p:nvPr/>
        </p:nvSpPr>
        <p:spPr>
          <a:xfrm>
            <a:off x="1051560" y="1600200"/>
            <a:ext cx="6217920" cy="1554480"/>
          </a:xfrm>
          <a:prstGeom prst="rect">
            <a:avLst/>
          </a:prstGeom>
          <a:noFill/>
        </p:spPr>
        <p:txBody>
          <a:bodyPr wrap="square">
            <a:spAutoFit/>
          </a:bodyPr>
          <a:lstStyle/>
          <a:p>
            <a:pPr>
              <a:defRPr sz="4600" b="1">
                <a:solidFill>
                  <a:srgbClr val="F8FAFC"/>
                </a:solidFill>
              </a:defRPr>
            </a:pPr>
            <a:r>
              <a:t>AI MENTOR</a:t>
            </a:r>
          </a:p>
          <a:p>
            <a:pPr>
              <a:defRPr sz="2100" b="1">
                <a:solidFill>
                  <a:srgbClr val="2DD4BF"/>
                </a:solidFill>
              </a:defRPr>
            </a:pPr>
            <a:r>
              <a:t>Module 03: Make Money With Your Skills</a:t>
            </a:r>
          </a:p>
        </p:txBody>
      </p:sp>
      <p:sp>
        <p:nvSpPr>
          <p:cNvPr id="6" name="TextBox 5"/>
          <p:cNvSpPr txBox="1"/>
          <p:nvPr/>
        </p:nvSpPr>
        <p:spPr>
          <a:xfrm>
            <a:off x="1051560" y="3291840"/>
            <a:ext cx="6217920" cy="1097280"/>
          </a:xfrm>
          <a:prstGeom prst="rect">
            <a:avLst/>
          </a:prstGeom>
          <a:noFill/>
        </p:spPr>
        <p:txBody>
          <a:bodyPr wrap="square">
            <a:spAutoFit/>
          </a:bodyPr>
          <a:lstStyle/>
          <a:p>
            <a:pPr>
              <a:defRPr sz="1700">
                <a:solidFill>
                  <a:srgbClr val="F8FAFC"/>
                </a:solidFill>
              </a:defRPr>
            </a:pPr>
            <a:r>
              <a:t>Lesson 3.1 — From Competence to Cash Flow</a:t>
            </a:r>
          </a:p>
          <a:p>
            <a:pPr>
              <a:spcBef>
                <a:spcPts val="600"/>
              </a:spcBef>
              <a:defRPr sz="1500" b="1">
                <a:solidFill>
                  <a:srgbClr val="FBBF24"/>
                </a:solidFill>
              </a:defRPr>
            </a:pPr>
            <a:r>
              <a:t>Freelancing  •  Agency Models  •  Client Acquisition  •  High-Trust Portfolios</a:t>
            </a:r>
          </a:p>
        </p:txBody>
      </p:sp>
      <p:sp>
        <p:nvSpPr>
          <p:cNvPr id="7" name="Rounded Rectangle 6"/>
          <p:cNvSpPr/>
          <p:nvPr/>
        </p:nvSpPr>
        <p:spPr>
          <a:xfrm>
            <a:off x="7333488" y="1298448"/>
            <a:ext cx="4169664" cy="2414016"/>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 Mentor Thumbnail.png"/>
          <p:cNvPicPr>
            <a:picLocks noChangeAspect="1"/>
          </p:cNvPicPr>
          <p:nvPr/>
        </p:nvPicPr>
        <p:blipFill>
          <a:blip r:embed="rId2"/>
          <a:stretch>
            <a:fillRect/>
          </a:stretch>
        </p:blipFill>
        <p:spPr>
          <a:xfrm>
            <a:off x="7406640" y="1371600"/>
            <a:ext cx="4023360" cy="2267712"/>
          </a:xfrm>
          <a:prstGeom prst="rect">
            <a:avLst/>
          </a:prstGeom>
        </p:spPr>
      </p:pic>
      <p:sp>
        <p:nvSpPr>
          <p:cNvPr id="9" name="Rounded Rectangle 8"/>
          <p:cNvSpPr/>
          <p:nvPr/>
        </p:nvSpPr>
        <p:spPr>
          <a:xfrm>
            <a:off x="7406640" y="3840480"/>
            <a:ext cx="4023360" cy="16459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sz="1300" b="1">
                <a:solidFill>
                  <a:srgbClr val="FBBF24"/>
                </a:solidFill>
              </a:defRPr>
            </a:pPr>
            <a:r>
              <a:t>💰 The 11-Pillar Monetization System</a:t>
            </a:r>
          </a:p>
          <a:p>
            <a:pPr>
              <a:spcBef>
                <a:spcPts val="400"/>
              </a:spcBef>
              <a:defRPr sz="1200">
                <a:solidFill>
                  <a:srgbClr val="94A3B8"/>
                </a:solidFill>
              </a:defRPr>
            </a:pPr>
            <a:r>
              <a:t>Instructor: R.K. SKILLFORGE</a:t>
            </a:r>
            <a:br/>
            <a:r>
              <a:t>Outcome: High-Paying Contracts &amp; Clients</a:t>
            </a:r>
            <a:br/>
            <a:r>
              <a:t>Format: Complete Video Masterclass</a:t>
            </a:r>
          </a:p>
        </p:txBody>
      </p:sp>
      <p:sp>
        <p:nvSpPr>
          <p:cNvPr id="10" name="Rounded Rectangle 9"/>
          <p:cNvSpPr/>
          <p:nvPr/>
        </p:nvSpPr>
        <p:spPr>
          <a:xfrm>
            <a:off x="1051560" y="4754880"/>
            <a:ext cx="6035040" cy="7315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lIns="228600" tIns="137160"/>
          <a:lstStyle/>
          <a:p>
            <a:pPr algn="ctr">
              <a:defRPr sz="1200" b="1">
                <a:solidFill>
                  <a:srgbClr val="F8FAFC"/>
                </a:solidFill>
              </a:defRPr>
            </a:pPr>
            <a:r>
              <a:t>Produced &amp; Engineered by R.K. SKILLFORGE</a:t>
            </a:r>
          </a:p>
          <a:p>
            <a:pPr>
              <a:defRPr sz="1100">
                <a:solidFill>
                  <a:srgbClr val="94A3B8"/>
                </a:solidFill>
              </a:defRPr>
            </a:pPr>
            <a:r>
              <a:t>How to bridge technical competence into recurring client revenue.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FBBF24"/>
                </a:solidFill>
              </a:defRPr>
            </a:pPr>
            <a:r>
              <a:t>R.K. SKILLFORGE   |   LESSON 3.1 • MAKE MONEY WITH YOUR SKILLS</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The Reality of Skill Monetization</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2</a:t>
            </a:r>
          </a:p>
        </p:txBody>
      </p:sp>
      <p:sp>
        <p:nvSpPr>
          <p:cNvPr id="8" name="TextBox 7"/>
          <p:cNvSpPr txBox="1"/>
          <p:nvPr/>
        </p:nvSpPr>
        <p:spPr>
          <a:xfrm>
            <a:off x="731520" y="1463040"/>
            <a:ext cx="10698480" cy="502920"/>
          </a:xfrm>
          <a:prstGeom prst="rect">
            <a:avLst/>
          </a:prstGeom>
          <a:noFill/>
        </p:spPr>
        <p:txBody>
          <a:bodyPr wrap="none">
            <a:spAutoFit/>
          </a:bodyPr>
          <a:lstStyle/>
          <a:p>
            <a:pPr>
              <a:defRPr sz="1700" i="1">
                <a:solidFill>
                  <a:srgbClr val="FBBF24"/>
                </a:solidFill>
              </a:defRPr>
            </a:pPr>
            <a:r>
              <a:t>Having a technical skill is only 20% of the game. The other 80% is positioning, trust, and client acquisition.</a:t>
            </a:r>
          </a:p>
        </p:txBody>
      </p:sp>
      <p:sp>
        <p:nvSpPr>
          <p:cNvPr id="9" name="Rounded Rectangle 8"/>
          <p:cNvSpPr/>
          <p:nvPr/>
        </p:nvSpPr>
        <p:spPr>
          <a:xfrm>
            <a:off x="731520" y="2148840"/>
            <a:ext cx="3328416" cy="34747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320040"/>
          <a:lstStyle/>
          <a:p>
            <a:pPr algn="ctr">
              <a:defRPr sz="1700" b="1">
                <a:solidFill>
                  <a:srgbClr val="F8FAFC"/>
                </a:solidFill>
              </a:defRPr>
            </a:pPr>
            <a:r>
              <a:t>❌ The 'Build It &amp; They Will Come' Myth</a:t>
            </a:r>
          </a:p>
          <a:p>
            <a:pPr>
              <a:spcBef>
                <a:spcPts val="300"/>
              </a:spcBef>
              <a:defRPr sz="1200" b="1">
                <a:solidFill>
                  <a:srgbClr val="F87171"/>
                </a:solidFill>
              </a:defRPr>
            </a:pPr>
            <a:r>
              <a:t>Passive Hope Strategy</a:t>
            </a:r>
          </a:p>
          <a:p>
            <a:pPr>
              <a:spcBef>
                <a:spcPts val="1400"/>
              </a:spcBef>
              <a:defRPr sz="1350">
                <a:solidFill>
                  <a:srgbClr val="E2E8F0"/>
                </a:solidFill>
              </a:defRPr>
            </a:pPr>
            <a:r>
              <a:t>Building impressive projects in isolation and hoping recruiters or clients magically discover you. Without active outreach and commercial positioning, zero sales happen.</a:t>
            </a:r>
          </a:p>
        </p:txBody>
      </p:sp>
      <p:sp>
        <p:nvSpPr>
          <p:cNvPr id="10" name="Rounded Rectangle 9"/>
          <p:cNvSpPr/>
          <p:nvPr/>
        </p:nvSpPr>
        <p:spPr>
          <a:xfrm>
            <a:off x="4425696" y="2148840"/>
            <a:ext cx="3328416" cy="34747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320040"/>
          <a:lstStyle/>
          <a:p>
            <a:pPr algn="ctr">
              <a:defRPr sz="1700" b="1">
                <a:solidFill>
                  <a:srgbClr val="F8FAFC"/>
                </a:solidFill>
              </a:defRPr>
            </a:pPr>
            <a:r>
              <a:t>❌ Selling Features Instead of ROI</a:t>
            </a:r>
          </a:p>
          <a:p>
            <a:pPr>
              <a:spcBef>
                <a:spcPts val="300"/>
              </a:spcBef>
              <a:defRPr sz="1200" b="1">
                <a:solidFill>
                  <a:srgbClr val="F87171"/>
                </a:solidFill>
              </a:defRPr>
            </a:pPr>
            <a:r>
              <a:t>The Commodity Trap</a:t>
            </a:r>
          </a:p>
          <a:p>
            <a:pPr>
              <a:spcBef>
                <a:spcPts val="1400"/>
              </a:spcBef>
              <a:defRPr sz="1350">
                <a:solidFill>
                  <a:srgbClr val="E2E8F0"/>
                </a:solidFill>
              </a:defRPr>
            </a:pPr>
            <a:r>
              <a:t>Pitching 'I write Python code' instead of 'I automate customer data processing to save 20 hours a week.' Clients pay for solved problems, not code syntax.</a:t>
            </a:r>
          </a:p>
        </p:txBody>
      </p:sp>
      <p:sp>
        <p:nvSpPr>
          <p:cNvPr id="11" name="Rounded Rectangle 10"/>
          <p:cNvSpPr/>
          <p:nvPr/>
        </p:nvSpPr>
        <p:spPr>
          <a:xfrm>
            <a:off x="8119872" y="2148840"/>
            <a:ext cx="3328416" cy="34747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320040"/>
          <a:lstStyle/>
          <a:p>
            <a:pPr algn="ctr">
              <a:defRPr sz="1700" b="1">
                <a:solidFill>
                  <a:srgbClr val="F8FAFC"/>
                </a:solidFill>
              </a:defRPr>
            </a:pPr>
            <a:r>
              <a:t>❌ The Fake Guru / Low-Trust Trap</a:t>
            </a:r>
          </a:p>
          <a:p>
            <a:pPr>
              <a:spcBef>
                <a:spcPts val="300"/>
              </a:spcBef>
              <a:defRPr sz="1200" b="1">
                <a:solidFill>
                  <a:srgbClr val="F87171"/>
                </a:solidFill>
              </a:defRPr>
            </a:pPr>
            <a:r>
              <a:t>Chasing Easy Hype</a:t>
            </a:r>
          </a:p>
          <a:p>
            <a:pPr>
              <a:spcBef>
                <a:spcPts val="1400"/>
              </a:spcBef>
              <a:defRPr sz="1350">
                <a:solidFill>
                  <a:srgbClr val="E2E8F0"/>
                </a:solidFill>
              </a:defRPr>
            </a:pPr>
            <a:r>
              <a:t>Using pushy sales tactics or fabricated case studies. In the high-ticket B2B market, clients immediately sniff out inexperience. Trust is the only currency that closes deals.</a:t>
            </a:r>
          </a:p>
        </p:txBody>
      </p:sp>
      <p:sp>
        <p:nvSpPr>
          <p:cNvPr id="12" name="TextBox 11"/>
          <p:cNvSpPr txBox="1"/>
          <p:nvPr/>
        </p:nvSpPr>
        <p:spPr>
          <a:xfrm>
            <a:off x="731520" y="5742432"/>
            <a:ext cx="10698480" cy="457200"/>
          </a:xfrm>
          <a:prstGeom prst="rect">
            <a:avLst/>
          </a:prstGeom>
          <a:noFill/>
        </p:spPr>
        <p:txBody>
          <a:bodyPr wrap="none">
            <a:spAutoFit/>
          </a:bodyPr>
          <a:lstStyle/>
          <a:p>
            <a:pPr>
              <a:defRPr sz="1400" b="1">
                <a:solidFill>
                  <a:srgbClr val="2DD4BF"/>
                </a:solidFill>
              </a:defRPr>
            </a:pPr>
            <a:r>
              <a:t>💡 The Formula: Learn Skill ➔ Choose Path ➔ Proof Portfolio ➔ Build Trust ➔ Acquire Clients ➔ Deliver Value &amp; Earn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FBBF24"/>
                </a:solidFill>
              </a:defRPr>
            </a:pPr>
            <a:r>
              <a:t>R.K. SKILLFORGE   |   LESSON 3.1 • MAKE MONEY WITH YOUR SKILLS</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The 11 Pillars of Skill Monetization</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3</a:t>
            </a:r>
          </a:p>
        </p:txBody>
      </p:sp>
      <p:sp>
        <p:nvSpPr>
          <p:cNvPr id="8" name="Rounded Rectangle 7"/>
          <p:cNvSpPr/>
          <p:nvPr/>
        </p:nvSpPr>
        <p:spPr>
          <a:xfrm>
            <a:off x="731520" y="1645920"/>
            <a:ext cx="1645920" cy="196596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0"/>
          <a:lstStyle/>
          <a:p>
            <a:pPr algn="ctr">
              <a:defRPr sz="1350" b="1">
                <a:solidFill>
                  <a:srgbClr val="F8FAFC"/>
                </a:solidFill>
              </a:defRPr>
            </a:pPr>
            <a:r>
              <a:t>01. High-Demand Skill</a:t>
            </a:r>
          </a:p>
          <a:p>
            <a:pPr>
              <a:spcBef>
                <a:spcPts val="800"/>
              </a:spcBef>
              <a:defRPr sz="1150">
                <a:solidFill>
                  <a:srgbClr val="94A3B8"/>
                </a:solidFill>
              </a:defRPr>
            </a:pPr>
            <a:r>
              <a:t>Pick skills with commercial hiring budgets.</a:t>
            </a:r>
          </a:p>
        </p:txBody>
      </p:sp>
      <p:sp>
        <p:nvSpPr>
          <p:cNvPr id="9" name="Rounded Rectangle 8"/>
          <p:cNvSpPr/>
          <p:nvPr/>
        </p:nvSpPr>
        <p:spPr>
          <a:xfrm>
            <a:off x="2542032" y="1645920"/>
            <a:ext cx="1645920" cy="196596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0"/>
          <a:lstStyle/>
          <a:p>
            <a:pPr algn="ctr">
              <a:defRPr sz="1350" b="1">
                <a:solidFill>
                  <a:srgbClr val="F8FAFC"/>
                </a:solidFill>
              </a:defRPr>
            </a:pPr>
            <a:r>
              <a:t>02. Freelance vs. Business</a:t>
            </a:r>
          </a:p>
          <a:p>
            <a:pPr>
              <a:spcBef>
                <a:spcPts val="800"/>
              </a:spcBef>
              <a:defRPr sz="1150">
                <a:solidFill>
                  <a:srgbClr val="94A3B8"/>
                </a:solidFill>
              </a:defRPr>
            </a:pPr>
            <a:r>
              <a:t>Choose labor delivery vs. productized scale.</a:t>
            </a:r>
          </a:p>
        </p:txBody>
      </p:sp>
      <p:sp>
        <p:nvSpPr>
          <p:cNvPr id="10" name="Rounded Rectangle 9"/>
          <p:cNvSpPr/>
          <p:nvPr/>
        </p:nvSpPr>
        <p:spPr>
          <a:xfrm>
            <a:off x="4352544" y="1645920"/>
            <a:ext cx="1645920" cy="196596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0"/>
          <a:lstStyle/>
          <a:p>
            <a:pPr algn="ctr">
              <a:defRPr sz="1350" b="1">
                <a:solidFill>
                  <a:srgbClr val="F8FAFC"/>
                </a:solidFill>
              </a:defRPr>
            </a:pPr>
            <a:r>
              <a:t>03. Structured Earning Plan</a:t>
            </a:r>
          </a:p>
          <a:p>
            <a:pPr>
              <a:spcBef>
                <a:spcPts val="800"/>
              </a:spcBef>
              <a:defRPr sz="1150">
                <a:solidFill>
                  <a:srgbClr val="94A3B8"/>
                </a:solidFill>
              </a:defRPr>
            </a:pPr>
            <a:r>
              <a:t>Milestone path from validation to cash flow.</a:t>
            </a:r>
          </a:p>
        </p:txBody>
      </p:sp>
      <p:sp>
        <p:nvSpPr>
          <p:cNvPr id="11" name="Rounded Rectangle 10"/>
          <p:cNvSpPr/>
          <p:nvPr/>
        </p:nvSpPr>
        <p:spPr>
          <a:xfrm>
            <a:off x="6163056" y="1645920"/>
            <a:ext cx="1645920" cy="1965960"/>
          </a:xfrm>
          <a:prstGeom prst="roundRect">
            <a:avLst/>
          </a:prstGeom>
          <a:solidFill>
            <a:srgbClr val="141C2B"/>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0"/>
          <a:lstStyle/>
          <a:p>
            <a:pPr algn="ctr">
              <a:defRPr sz="1350" b="1">
                <a:solidFill>
                  <a:srgbClr val="F8FAFC"/>
                </a:solidFill>
              </a:defRPr>
            </a:pPr>
            <a:r>
              <a:t>04. Acquire Clients</a:t>
            </a:r>
          </a:p>
          <a:p>
            <a:pPr>
              <a:spcBef>
                <a:spcPts val="800"/>
              </a:spcBef>
              <a:defRPr sz="1150">
                <a:solidFill>
                  <a:srgbClr val="94A3B8"/>
                </a:solidFill>
              </a:defRPr>
            </a:pPr>
            <a:r>
              <a:t>Find targets, send value-first outreach &amp; pitch ROI.</a:t>
            </a:r>
          </a:p>
        </p:txBody>
      </p:sp>
      <p:sp>
        <p:nvSpPr>
          <p:cNvPr id="12" name="Rounded Rectangle 11"/>
          <p:cNvSpPr/>
          <p:nvPr/>
        </p:nvSpPr>
        <p:spPr>
          <a:xfrm>
            <a:off x="7973568" y="1645920"/>
            <a:ext cx="1645920" cy="196596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0"/>
          <a:lstStyle/>
          <a:p>
            <a:pPr algn="ctr">
              <a:defRPr sz="1350" b="1">
                <a:solidFill>
                  <a:srgbClr val="F8FAFC"/>
                </a:solidFill>
              </a:defRPr>
            </a:pPr>
            <a:r>
              <a:t>05. Platform Selection</a:t>
            </a:r>
          </a:p>
          <a:p>
            <a:pPr>
              <a:spcBef>
                <a:spcPts val="800"/>
              </a:spcBef>
              <a:defRPr sz="1150">
                <a:solidFill>
                  <a:srgbClr val="94A3B8"/>
                </a:solidFill>
              </a:defRPr>
            </a:pPr>
            <a:r>
              <a:t>Dominate 1 primary platform before expanding.</a:t>
            </a:r>
          </a:p>
        </p:txBody>
      </p:sp>
      <p:sp>
        <p:nvSpPr>
          <p:cNvPr id="13" name="Rounded Rectangle 12"/>
          <p:cNvSpPr/>
          <p:nvPr/>
        </p:nvSpPr>
        <p:spPr>
          <a:xfrm>
            <a:off x="9784080" y="1645920"/>
            <a:ext cx="1645920" cy="196596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0"/>
          <a:lstStyle/>
          <a:p>
            <a:pPr algn="ctr">
              <a:defRPr sz="1350" b="1">
                <a:solidFill>
                  <a:srgbClr val="F8FAFC"/>
                </a:solidFill>
              </a:defRPr>
            </a:pPr>
            <a:r>
              <a:t>06. Proof Portfolio</a:t>
            </a:r>
          </a:p>
          <a:p>
            <a:pPr>
              <a:spcBef>
                <a:spcPts val="800"/>
              </a:spcBef>
              <a:defRPr sz="1150">
                <a:solidFill>
                  <a:srgbClr val="94A3B8"/>
                </a:solidFill>
              </a:defRPr>
            </a:pPr>
            <a:r>
              <a:t>2-3 in-depth case studies solving business pain.</a:t>
            </a:r>
          </a:p>
        </p:txBody>
      </p:sp>
      <p:sp>
        <p:nvSpPr>
          <p:cNvPr id="14" name="Rounded Rectangle 13"/>
          <p:cNvSpPr/>
          <p:nvPr/>
        </p:nvSpPr>
        <p:spPr>
          <a:xfrm>
            <a:off x="731520" y="3931920"/>
            <a:ext cx="2011680" cy="196596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82880"/>
          <a:lstStyle/>
          <a:p>
            <a:pPr algn="ctr">
              <a:defRPr sz="1350" b="1">
                <a:solidFill>
                  <a:srgbClr val="F8FAFC"/>
                </a:solidFill>
              </a:defRPr>
            </a:pPr>
            <a:r>
              <a:t>07. Personal Brand</a:t>
            </a:r>
          </a:p>
          <a:p>
            <a:pPr>
              <a:spcBef>
                <a:spcPts val="800"/>
              </a:spcBef>
              <a:defRPr sz="1150">
                <a:solidFill>
                  <a:srgbClr val="94A3B8"/>
                </a:solidFill>
              </a:defRPr>
            </a:pPr>
            <a:r>
              <a:t>Profiles that clearly communicate your outcomes.</a:t>
            </a:r>
          </a:p>
        </p:txBody>
      </p:sp>
      <p:sp>
        <p:nvSpPr>
          <p:cNvPr id="15" name="Rounded Rectangle 14"/>
          <p:cNvSpPr/>
          <p:nvPr/>
        </p:nvSpPr>
        <p:spPr>
          <a:xfrm>
            <a:off x="2907792" y="3931920"/>
            <a:ext cx="2011680" cy="196596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82880"/>
          <a:lstStyle/>
          <a:p>
            <a:pPr algn="ctr">
              <a:defRPr sz="1350" b="1">
                <a:solidFill>
                  <a:srgbClr val="F8FAFC"/>
                </a:solidFill>
              </a:defRPr>
            </a:pPr>
            <a:r>
              <a:t>08. Build Client Trust</a:t>
            </a:r>
          </a:p>
          <a:p>
            <a:pPr>
              <a:spcBef>
                <a:spcPts val="800"/>
              </a:spcBef>
              <a:defRPr sz="1150">
                <a:solidFill>
                  <a:srgbClr val="94A3B8"/>
                </a:solidFill>
              </a:defRPr>
            </a:pPr>
            <a:r>
              <a:t>Deliver on time, transparent pricing &amp; reviews.</a:t>
            </a:r>
          </a:p>
        </p:txBody>
      </p:sp>
      <p:sp>
        <p:nvSpPr>
          <p:cNvPr id="16" name="Rounded Rectangle 15"/>
          <p:cNvSpPr/>
          <p:nvPr/>
        </p:nvSpPr>
        <p:spPr>
          <a:xfrm>
            <a:off x="5084064" y="3931920"/>
            <a:ext cx="2011680" cy="1965960"/>
          </a:xfrm>
          <a:prstGeom prst="roundRect">
            <a:avLst/>
          </a:prstGeom>
          <a:solidFill>
            <a:srgbClr val="141C2B"/>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82880"/>
          <a:lstStyle/>
          <a:p>
            <a:pPr algn="ctr">
              <a:defRPr sz="1350" b="1">
                <a:solidFill>
                  <a:srgbClr val="F8FAFC"/>
                </a:solidFill>
              </a:defRPr>
            </a:pPr>
            <a:r>
              <a:t>09. Idea Scoring (/10)</a:t>
            </a:r>
          </a:p>
          <a:p>
            <a:pPr>
              <a:spcBef>
                <a:spcPts val="800"/>
              </a:spcBef>
              <a:defRPr sz="1150">
                <a:solidFill>
                  <a:srgbClr val="94A3B8"/>
                </a:solidFill>
              </a:defRPr>
            </a:pPr>
            <a:r>
              <a:t>Get your business model stress-tested honestly.</a:t>
            </a:r>
          </a:p>
        </p:txBody>
      </p:sp>
      <p:sp>
        <p:nvSpPr>
          <p:cNvPr id="17" name="Rounded Rectangle 16"/>
          <p:cNvSpPr/>
          <p:nvPr/>
        </p:nvSpPr>
        <p:spPr>
          <a:xfrm>
            <a:off x="7260336" y="3931920"/>
            <a:ext cx="2011680" cy="1965960"/>
          </a:xfrm>
          <a:prstGeom prst="roundRect">
            <a:avLst/>
          </a:prstGeom>
          <a:solidFill>
            <a:srgbClr val="141C2B"/>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82880"/>
          <a:lstStyle/>
          <a:p>
            <a:pPr algn="ctr">
              <a:defRPr sz="1350" b="1">
                <a:solidFill>
                  <a:srgbClr val="F8FAFC"/>
                </a:solidFill>
              </a:defRPr>
            </a:pPr>
            <a:r>
              <a:t>10. Zero Financial Hype</a:t>
            </a:r>
          </a:p>
          <a:p>
            <a:pPr>
              <a:spcBef>
                <a:spcPts val="800"/>
              </a:spcBef>
              <a:defRPr sz="1150">
                <a:solidFill>
                  <a:srgbClr val="94A3B8"/>
                </a:solidFill>
              </a:defRPr>
            </a:pPr>
            <a:r>
              <a:t>No fake income claims or get-rich promises.</a:t>
            </a:r>
          </a:p>
        </p:txBody>
      </p:sp>
      <p:sp>
        <p:nvSpPr>
          <p:cNvPr id="18" name="Rounded Rectangle 17"/>
          <p:cNvSpPr/>
          <p:nvPr/>
        </p:nvSpPr>
        <p:spPr>
          <a:xfrm>
            <a:off x="9436608" y="3931920"/>
            <a:ext cx="2011680" cy="196596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82880"/>
          <a:lstStyle/>
          <a:p>
            <a:pPr algn="ctr">
              <a:defRPr sz="1350" b="1">
                <a:solidFill>
                  <a:srgbClr val="F8FAFC"/>
                </a:solidFill>
              </a:defRPr>
            </a:pPr>
            <a:r>
              <a:t>11. Retainers &amp; Scale</a:t>
            </a:r>
          </a:p>
          <a:p>
            <a:pPr>
              <a:spcBef>
                <a:spcPts val="800"/>
              </a:spcBef>
              <a:defRPr sz="1150">
                <a:solidFill>
                  <a:srgbClr val="94A3B8"/>
                </a:solidFill>
              </a:defRPr>
            </a:pPr>
            <a:r>
              <a:t>Turn one-off gigs into monthly recurring revenue.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FBBF24"/>
                </a:solidFill>
              </a:defRPr>
            </a:pPr>
            <a:r>
              <a:t>R.K. SKILLFORGE   |   LESSON 3.1 • MAKE MONEY WITH YOUR SKILLS</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Pillars 1 &amp; 2: Skill Selection &amp; The Strategic Model</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4</a:t>
            </a:r>
          </a:p>
        </p:txBody>
      </p:sp>
      <p:sp>
        <p:nvSpPr>
          <p:cNvPr id="8" name="Rounded Rectangle 7"/>
          <p:cNvSpPr/>
          <p:nvPr/>
        </p:nvSpPr>
        <p:spPr>
          <a:xfrm>
            <a:off x="731520" y="1645920"/>
            <a:ext cx="5120640" cy="429768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38BDF8"/>
                </a:solidFill>
              </a:defRPr>
            </a:pPr>
            <a:r>
              <a:t>🎯 PILLAR 01: HIGH-DEMAND SKILL</a:t>
            </a:r>
          </a:p>
          <a:p>
            <a:pPr>
              <a:spcBef>
                <a:spcPts val="400"/>
              </a:spcBef>
              <a:defRPr sz="2000" b="1">
                <a:solidFill>
                  <a:srgbClr val="F8FAFC"/>
                </a:solidFill>
              </a:defRPr>
            </a:pPr>
            <a:r>
              <a:t>Follow Market Budgets, Not Hype</a:t>
            </a:r>
          </a:p>
          <a:p>
            <a:pPr>
              <a:spcBef>
                <a:spcPts val="1200"/>
              </a:spcBef>
              <a:defRPr sz="1400" b="1">
                <a:solidFill>
                  <a:srgbClr val="2DD4BF"/>
                </a:solidFill>
              </a:defRPr>
            </a:pPr>
            <a:r>
              <a:t>• High Commercial Willingness-to-Pay</a:t>
            </a:r>
          </a:p>
          <a:p>
            <a:pPr>
              <a:spcBef>
                <a:spcPts val="200"/>
              </a:spcBef>
              <a:defRPr sz="1300">
                <a:solidFill>
                  <a:srgbClr val="E2E8F0"/>
                </a:solidFill>
              </a:defRPr>
            </a:pPr>
            <a:r>
              <a:t>Target skills where businesses already spend thousands to solve critical pain points (cloud cost, security, sales automation).</a:t>
            </a:r>
          </a:p>
          <a:p>
            <a:pPr>
              <a:spcBef>
                <a:spcPts val="1200"/>
              </a:spcBef>
              <a:defRPr sz="1400" b="1">
                <a:solidFill>
                  <a:srgbClr val="2DD4BF"/>
                </a:solidFill>
              </a:defRPr>
            </a:pPr>
            <a:r>
              <a:t>• Clear Time-to-Competence</a:t>
            </a:r>
          </a:p>
          <a:p>
            <a:pPr>
              <a:spcBef>
                <a:spcPts val="200"/>
              </a:spcBef>
              <a:defRPr sz="1300">
                <a:solidFill>
                  <a:srgbClr val="E2E8F0"/>
                </a:solidFill>
              </a:defRPr>
            </a:pPr>
            <a:r>
              <a:t>Choose skills where you can achieve marketable ability within 3-6 months rather than requiring a 5-year PhD.</a:t>
            </a:r>
          </a:p>
          <a:p>
            <a:pPr>
              <a:spcBef>
                <a:spcPts val="1200"/>
              </a:spcBef>
              <a:defRPr sz="1400" b="1">
                <a:solidFill>
                  <a:srgbClr val="2DD4BF"/>
                </a:solidFill>
              </a:defRPr>
            </a:pPr>
            <a:r>
              <a:t>• Packaged Deliverables</a:t>
            </a:r>
          </a:p>
          <a:p>
            <a:pPr>
              <a:spcBef>
                <a:spcPts val="200"/>
              </a:spcBef>
              <a:defRPr sz="1300">
                <a:solidFill>
                  <a:srgbClr val="E2E8F0"/>
                </a:solidFill>
              </a:defRPr>
            </a:pPr>
            <a:r>
              <a:t>Can you define the service as a clear output? (e.g. 'Migrate database to AWS with zero downtime' vs 'I do tech stuff').</a:t>
            </a:r>
          </a:p>
        </p:txBody>
      </p:sp>
      <p:sp>
        <p:nvSpPr>
          <p:cNvPr id="9" name="Rounded Rectangle 8"/>
          <p:cNvSpPr/>
          <p:nvPr/>
        </p:nvSpPr>
        <p:spPr>
          <a:xfrm>
            <a:off x="6309360" y="1645920"/>
            <a:ext cx="5120640" cy="429768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FBBF24"/>
                </a:solidFill>
              </a:defRPr>
            </a:pPr>
            <a:r>
              <a:t>⚖️ PILLAR 02: FREELANCING VS. BUSINESS</a:t>
            </a:r>
          </a:p>
          <a:p>
            <a:pPr>
              <a:spcBef>
                <a:spcPts val="400"/>
              </a:spcBef>
              <a:defRPr sz="2000" b="1">
                <a:solidFill>
                  <a:srgbClr val="F8FAFC"/>
                </a:solidFill>
              </a:defRPr>
            </a:pPr>
            <a:r>
              <a:t>Which Path Fits Your Stage?</a:t>
            </a:r>
          </a:p>
          <a:p>
            <a:pPr>
              <a:spcBef>
                <a:spcPts val="1200"/>
              </a:spcBef>
              <a:defRPr sz="1400" b="1">
                <a:solidFill>
                  <a:srgbClr val="FBBF24"/>
                </a:solidFill>
              </a:defRPr>
            </a:pPr>
            <a:r>
              <a:t>⭐ Freelancing (Fastest Cash Flow)</a:t>
            </a:r>
          </a:p>
          <a:p>
            <a:pPr>
              <a:spcBef>
                <a:spcPts val="200"/>
              </a:spcBef>
              <a:defRPr sz="1250">
                <a:solidFill>
                  <a:srgbClr val="E2E8F0"/>
                </a:solidFill>
              </a:defRPr>
            </a:pPr>
            <a:r>
              <a:t>Asset: Your time &amp; skills.</a:t>
            </a:r>
            <a:br/>
            <a:r>
              <a:t>Startup Cost: $0 capital needed.</a:t>
            </a:r>
            <a:br/>
            <a:r>
              <a:t>Speed: First dollars in days/weeks.</a:t>
            </a:r>
            <a:br/>
            <a:r>
              <a:t>Limit: Income capped by hours.</a:t>
            </a:r>
          </a:p>
          <a:p>
            <a:pPr>
              <a:spcBef>
                <a:spcPts val="1200"/>
              </a:spcBef>
              <a:defRPr sz="1400" b="1">
                <a:solidFill>
                  <a:srgbClr val="FBBF24"/>
                </a:solidFill>
              </a:defRPr>
            </a:pPr>
            <a:r>
              <a:t>⭐ Productized Agency / Business</a:t>
            </a:r>
          </a:p>
          <a:p>
            <a:pPr>
              <a:spcBef>
                <a:spcPts val="200"/>
              </a:spcBef>
              <a:defRPr sz="1250">
                <a:solidFill>
                  <a:srgbClr val="E2E8F0"/>
                </a:solidFill>
              </a:defRPr>
            </a:pPr>
            <a:r>
              <a:t>Asset: Automated systems &amp; teams.</a:t>
            </a:r>
            <a:br/>
            <a:r>
              <a:t>Startup Cost: Moderate capital required.</a:t>
            </a:r>
            <a:br/>
            <a:r>
              <a:t>Speed: Slower validation cycle.</a:t>
            </a:r>
            <a:br/>
            <a:r>
              <a:t>Upside: Unlimited leverage &amp; equity value.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FBBF24"/>
                </a:solidFill>
              </a:defRPr>
            </a:pPr>
            <a:r>
              <a:t>R.K. SKILLFORGE   |   LESSON 3.1 • MAKE MONEY WITH YOUR SKILLS</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Pillars 3 &amp; 4: The 8-Stage Earning Loop &amp; Client Acquisition</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5</a:t>
            </a:r>
          </a:p>
        </p:txBody>
      </p:sp>
      <p:sp>
        <p:nvSpPr>
          <p:cNvPr id="8" name="Rounded Rectangle 7"/>
          <p:cNvSpPr/>
          <p:nvPr/>
        </p:nvSpPr>
        <p:spPr>
          <a:xfrm>
            <a:off x="731520" y="1645920"/>
            <a:ext cx="5120640" cy="429768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2DD4BF"/>
                </a:solidFill>
              </a:defRPr>
            </a:pPr>
            <a:r>
              <a:t>📈 PILLAR 03: STEP-BY-STEP EARNING PLAN</a:t>
            </a:r>
          </a:p>
          <a:p>
            <a:pPr>
              <a:spcBef>
                <a:spcPts val="400"/>
              </a:spcBef>
              <a:defRPr sz="2000" b="1">
                <a:solidFill>
                  <a:srgbClr val="F8FAFC"/>
                </a:solidFill>
              </a:defRPr>
            </a:pPr>
            <a:r>
              <a:t>The 8-Stage Execution Pipeline</a:t>
            </a:r>
          </a:p>
          <a:p>
            <a:pPr>
              <a:spcBef>
                <a:spcPts val="600"/>
              </a:spcBef>
              <a:defRPr sz="1250">
                <a:solidFill>
                  <a:srgbClr val="E2E8F0"/>
                </a:solidFill>
              </a:defRPr>
            </a:pPr>
            <a:r>
              <a:t>1. LEARN ➔ Validate 1 specific problem-solving skill</a:t>
            </a:r>
          </a:p>
          <a:p>
            <a:pPr>
              <a:spcBef>
                <a:spcPts val="600"/>
              </a:spcBef>
              <a:defRPr sz="1250">
                <a:solidFill>
                  <a:srgbClr val="E2E8F0"/>
                </a:solidFill>
              </a:defRPr>
            </a:pPr>
            <a:r>
              <a:t>2. PRACTICE ➔ Build working prototypes in sandboxes</a:t>
            </a:r>
          </a:p>
          <a:p>
            <a:pPr>
              <a:spcBef>
                <a:spcPts val="600"/>
              </a:spcBef>
              <a:defRPr sz="1250">
                <a:solidFill>
                  <a:srgbClr val="E2E8F0"/>
                </a:solidFill>
              </a:defRPr>
            </a:pPr>
            <a:r>
              <a:t>3. BUILD ➔ Engineer 2 production-grade case studies</a:t>
            </a:r>
          </a:p>
          <a:p>
            <a:pPr>
              <a:spcBef>
                <a:spcPts val="600"/>
              </a:spcBef>
              <a:defRPr sz="1250">
                <a:solidFill>
                  <a:srgbClr val="E2E8F0"/>
                </a:solidFill>
              </a:defRPr>
            </a:pPr>
            <a:r>
              <a:t>4. OFFER ➔ Package service with clear deliverables &amp; pricing</a:t>
            </a:r>
          </a:p>
          <a:p>
            <a:pPr>
              <a:spcBef>
                <a:spcPts val="600"/>
              </a:spcBef>
              <a:defRPr sz="1250">
                <a:solidFill>
                  <a:srgbClr val="E2E8F0"/>
                </a:solidFill>
              </a:defRPr>
            </a:pPr>
            <a:r>
              <a:t>5. FIND CLIENTS ➔ Personalized, value-first outreach</a:t>
            </a:r>
          </a:p>
          <a:p>
            <a:pPr>
              <a:spcBef>
                <a:spcPts val="600"/>
              </a:spcBef>
              <a:defRPr sz="1250">
                <a:solidFill>
                  <a:srgbClr val="E2E8F0"/>
                </a:solidFill>
              </a:defRPr>
            </a:pPr>
            <a:r>
              <a:t>6. DELIVER ➔ Over-communicate and beat deadlines</a:t>
            </a:r>
          </a:p>
          <a:p>
            <a:pPr>
              <a:spcBef>
                <a:spcPts val="600"/>
              </a:spcBef>
              <a:defRPr sz="1250">
                <a:solidFill>
                  <a:srgbClr val="E2E8F0"/>
                </a:solidFill>
              </a:defRPr>
            </a:pPr>
            <a:r>
              <a:t>7. IMPROVE ➔ Collect video testimonials &amp; metrics</a:t>
            </a:r>
          </a:p>
          <a:p>
            <a:pPr>
              <a:spcBef>
                <a:spcPts val="600"/>
              </a:spcBef>
              <a:defRPr sz="1250">
                <a:solidFill>
                  <a:srgbClr val="E2E8F0"/>
                </a:solidFill>
              </a:defRPr>
            </a:pPr>
            <a:r>
              <a:t>8. GROW ➔ Upsell monthly retainers &amp; raise rates</a:t>
            </a:r>
          </a:p>
        </p:txBody>
      </p:sp>
      <p:sp>
        <p:nvSpPr>
          <p:cNvPr id="9" name="Rounded Rectangle 8"/>
          <p:cNvSpPr/>
          <p:nvPr/>
        </p:nvSpPr>
        <p:spPr>
          <a:xfrm>
            <a:off x="6309360" y="1645920"/>
            <a:ext cx="5120640" cy="4297680"/>
          </a:xfrm>
          <a:prstGeom prst="roundRect">
            <a:avLst/>
          </a:prstGeom>
          <a:solidFill>
            <a:srgbClr val="141C2B"/>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A78BFA"/>
                </a:solidFill>
              </a:defRPr>
            </a:pPr>
            <a:r>
              <a:t>🎯 PILLAR 04: ACQUIRE CUSTOMERS &amp; CLIENTS</a:t>
            </a:r>
          </a:p>
          <a:p>
            <a:pPr>
              <a:spcBef>
                <a:spcPts val="400"/>
              </a:spcBef>
              <a:defRPr sz="2000" b="1">
                <a:solidFill>
                  <a:srgbClr val="F8FAFC"/>
                </a:solidFill>
              </a:defRPr>
            </a:pPr>
            <a:r>
              <a:t>Ethical, High-Conversion Outreach</a:t>
            </a:r>
          </a:p>
          <a:p>
            <a:pPr>
              <a:spcBef>
                <a:spcPts val="900"/>
              </a:spcBef>
              <a:defRPr sz="1350" b="1">
                <a:solidFill>
                  <a:srgbClr val="FBBF24"/>
                </a:solidFill>
              </a:defRPr>
            </a:pPr>
            <a:r>
              <a:t>• Identify Real Decision Makers:</a:t>
            </a:r>
          </a:p>
          <a:p>
            <a:pPr>
              <a:spcBef>
                <a:spcPts val="200"/>
              </a:spcBef>
              <a:defRPr sz="1200">
                <a:solidFill>
                  <a:srgbClr val="E2E8F0"/>
                </a:solidFill>
              </a:defRPr>
            </a:pPr>
            <a:r>
              <a:t>Target founders, engineering leads, or agency directors with hiring authority.</a:t>
            </a:r>
          </a:p>
          <a:p>
            <a:pPr>
              <a:spcBef>
                <a:spcPts val="900"/>
              </a:spcBef>
              <a:defRPr sz="1350" b="1">
                <a:solidFill>
                  <a:srgbClr val="FBBF24"/>
                </a:solidFill>
              </a:defRPr>
            </a:pPr>
            <a:r>
              <a:t>• Audit-First Outreach:</a:t>
            </a:r>
          </a:p>
          <a:p>
            <a:pPr>
              <a:spcBef>
                <a:spcPts val="200"/>
              </a:spcBef>
              <a:defRPr sz="1200">
                <a:solidFill>
                  <a:srgbClr val="E2E8F0"/>
                </a:solidFill>
              </a:defRPr>
            </a:pPr>
            <a:r>
              <a:t>Never send generic pitch templates. Perform a 5-minute audit of their site/app, spot a bug, and send the fix for free.</a:t>
            </a:r>
          </a:p>
          <a:p>
            <a:pPr>
              <a:spcBef>
                <a:spcPts val="900"/>
              </a:spcBef>
              <a:defRPr sz="1350" b="1">
                <a:solidFill>
                  <a:srgbClr val="FBBF24"/>
                </a:solidFill>
              </a:defRPr>
            </a:pPr>
            <a:r>
              <a:t>• Sell ROI, Not Hours:</a:t>
            </a:r>
          </a:p>
          <a:p>
            <a:pPr>
              <a:spcBef>
                <a:spcPts val="200"/>
              </a:spcBef>
              <a:defRPr sz="1200">
                <a:solidFill>
                  <a:srgbClr val="E2E8F0"/>
                </a:solidFill>
              </a:defRPr>
            </a:pPr>
            <a:r>
              <a:t>Clients hate hourly billing because costs are unpredictable. Offer fixed-scope milestones tied to business impact.</a:t>
            </a:r>
          </a:p>
          <a:p>
            <a:pPr>
              <a:spcBef>
                <a:spcPts val="900"/>
              </a:spcBef>
              <a:defRPr sz="1350" b="1">
                <a:solidFill>
                  <a:srgbClr val="FBBF24"/>
                </a:solidFill>
              </a:defRPr>
            </a:pPr>
            <a:r>
              <a:t>• The Follow-Up Engine:</a:t>
            </a:r>
          </a:p>
          <a:p>
            <a:pPr>
              <a:spcBef>
                <a:spcPts val="200"/>
              </a:spcBef>
              <a:defRPr sz="1200">
                <a:solidFill>
                  <a:srgbClr val="E2E8F0"/>
                </a:solidFill>
              </a:defRPr>
            </a:pPr>
            <a:r>
              <a:t>80% of deals close between the 2nd and 4th follow-up. Always follow up politely with extra value.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FBBF24"/>
                </a:solidFill>
              </a:defRPr>
            </a:pPr>
            <a:r>
              <a:t>R.K. SKILLFORGE   |   LESSON 3.1 • MAKE MONEY WITH YOUR SKILLS</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Pillars 5 &amp; 6: Platform Focus &amp; The 4-Part Case Study</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6</a:t>
            </a:r>
          </a:p>
        </p:txBody>
      </p:sp>
      <p:sp>
        <p:nvSpPr>
          <p:cNvPr id="8" name="Rounded Rectangle 7"/>
          <p:cNvSpPr/>
          <p:nvPr/>
        </p:nvSpPr>
        <p:spPr>
          <a:xfrm>
            <a:off x="731520" y="1645920"/>
            <a:ext cx="5120640" cy="429768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38BDF8"/>
                </a:solidFill>
              </a:defRPr>
            </a:pPr>
            <a:r>
              <a:t>🌐 PILLAR 05: PLATFORM SELECTION</a:t>
            </a:r>
          </a:p>
          <a:p>
            <a:pPr>
              <a:spcBef>
                <a:spcPts val="400"/>
              </a:spcBef>
              <a:defRPr sz="2000" b="1">
                <a:solidFill>
                  <a:srgbClr val="F8FAFC"/>
                </a:solidFill>
              </a:defRPr>
            </a:pPr>
            <a:r>
              <a:t>Dominate ONE Channel First</a:t>
            </a:r>
          </a:p>
          <a:p>
            <a:pPr>
              <a:spcBef>
                <a:spcPts val="1200"/>
              </a:spcBef>
              <a:defRPr sz="1400" b="1">
                <a:solidFill>
                  <a:srgbClr val="2DD4BF"/>
                </a:solidFill>
              </a:defRPr>
            </a:pPr>
            <a:r>
              <a:t>• The Dispersion Trap</a:t>
            </a:r>
          </a:p>
          <a:p>
            <a:pPr>
              <a:spcBef>
                <a:spcPts val="200"/>
              </a:spcBef>
              <a:defRPr sz="1300">
                <a:solidFill>
                  <a:srgbClr val="E2E8F0"/>
                </a:solidFill>
              </a:defRPr>
            </a:pPr>
            <a:r>
              <a:t>Creating profiles on Upwork, Fiverr, LinkedIn, Contra, and Twitter simultaneously leads to zero momentum everywhere.</a:t>
            </a:r>
          </a:p>
          <a:p>
            <a:pPr>
              <a:spcBef>
                <a:spcPts val="1200"/>
              </a:spcBef>
              <a:defRPr sz="1400" b="1">
                <a:solidFill>
                  <a:srgbClr val="2DD4BF"/>
                </a:solidFill>
              </a:defRPr>
            </a:pPr>
            <a:r>
              <a:t>• Where Is Your Ideal Client?</a:t>
            </a:r>
          </a:p>
          <a:p>
            <a:pPr>
              <a:spcBef>
                <a:spcPts val="200"/>
              </a:spcBef>
              <a:defRPr sz="1300">
                <a:solidFill>
                  <a:srgbClr val="E2E8F0"/>
                </a:solidFill>
              </a:defRPr>
            </a:pPr>
            <a:r>
              <a:t>Mid-market B2B founders are on LinkedIn. Indie hackers &amp; crypto projects are on Twitter/X. Enterprise contracts look for vetted platforms or direct referrals.</a:t>
            </a:r>
          </a:p>
          <a:p>
            <a:pPr>
              <a:spcBef>
                <a:spcPts val="1200"/>
              </a:spcBef>
              <a:defRPr sz="1400" b="1">
                <a:solidFill>
                  <a:srgbClr val="2DD4BF"/>
                </a:solidFill>
              </a:defRPr>
            </a:pPr>
            <a:r>
              <a:t>• The Rule of One</a:t>
            </a:r>
          </a:p>
          <a:p>
            <a:pPr>
              <a:spcBef>
                <a:spcPts val="200"/>
              </a:spcBef>
              <a:defRPr sz="1300">
                <a:solidFill>
                  <a:srgbClr val="E2E8F0"/>
                </a:solidFill>
              </a:defRPr>
            </a:pPr>
            <a:r>
              <a:t>Pick ONE primary channel. Optimize your bio, earn your first 3 5-star reviews, and build a predictable client flow before expanding.</a:t>
            </a:r>
          </a:p>
        </p:txBody>
      </p:sp>
      <p:sp>
        <p:nvSpPr>
          <p:cNvPr id="9" name="Rounded Rectangle 8"/>
          <p:cNvSpPr/>
          <p:nvPr/>
        </p:nvSpPr>
        <p:spPr>
          <a:xfrm>
            <a:off x="6309360" y="1645920"/>
            <a:ext cx="5120640" cy="429768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2DD4BF"/>
                </a:solidFill>
              </a:defRPr>
            </a:pPr>
            <a:r>
              <a:t>📑 PILLAR 06: HIGH-CONVERTING PORTFOLIO</a:t>
            </a:r>
          </a:p>
          <a:p>
            <a:pPr>
              <a:spcBef>
                <a:spcPts val="400"/>
              </a:spcBef>
              <a:defRPr sz="2000" b="1">
                <a:solidFill>
                  <a:srgbClr val="F8FAFC"/>
                </a:solidFill>
              </a:defRPr>
            </a:pPr>
            <a:r>
              <a:t>The 4-Part Case Study Anatomy</a:t>
            </a:r>
          </a:p>
          <a:p>
            <a:pPr>
              <a:spcBef>
                <a:spcPts val="1000"/>
              </a:spcBef>
              <a:defRPr sz="1350" b="1">
                <a:solidFill>
                  <a:srgbClr val="FBBF24"/>
                </a:solidFill>
              </a:defRPr>
            </a:pPr>
            <a:r>
              <a:t>1. THE PROBLEM:</a:t>
            </a:r>
          </a:p>
          <a:p>
            <a:pPr>
              <a:spcBef>
                <a:spcPts val="200"/>
              </a:spcBef>
              <a:defRPr sz="1250">
                <a:solidFill>
                  <a:srgbClr val="E2E8F0"/>
                </a:solidFill>
              </a:defRPr>
            </a:pPr>
            <a:r>
              <a:t>Explain the real business bottleneck or technical pain point.</a:t>
            </a:r>
          </a:p>
          <a:p>
            <a:pPr>
              <a:spcBef>
                <a:spcPts val="1000"/>
              </a:spcBef>
              <a:defRPr sz="1350" b="1">
                <a:solidFill>
                  <a:srgbClr val="FBBF24"/>
                </a:solidFill>
              </a:defRPr>
            </a:pPr>
            <a:r>
              <a:t>2. THE ARCHITECTURE:</a:t>
            </a:r>
          </a:p>
          <a:p>
            <a:pPr>
              <a:spcBef>
                <a:spcPts val="200"/>
              </a:spcBef>
              <a:defRPr sz="1250">
                <a:solidFill>
                  <a:srgbClr val="E2E8F0"/>
                </a:solidFill>
              </a:defRPr>
            </a:pPr>
            <a:r>
              <a:t>Show the research, system design, and technical decisions.</a:t>
            </a:r>
          </a:p>
          <a:p>
            <a:pPr>
              <a:spcBef>
                <a:spcPts val="1000"/>
              </a:spcBef>
              <a:defRPr sz="1350" b="1">
                <a:solidFill>
                  <a:srgbClr val="FBBF24"/>
                </a:solidFill>
              </a:defRPr>
            </a:pPr>
            <a:r>
              <a:t>3. THE MEASURABLE RESULT:</a:t>
            </a:r>
          </a:p>
          <a:p>
            <a:pPr>
              <a:spcBef>
                <a:spcPts val="200"/>
              </a:spcBef>
              <a:defRPr sz="1250">
                <a:solidFill>
                  <a:srgbClr val="E2E8F0"/>
                </a:solidFill>
              </a:defRPr>
            </a:pPr>
            <a:r>
              <a:t>E.g. 'Reduced page load latency by 42% and halved server costs.'</a:t>
            </a:r>
          </a:p>
          <a:p>
            <a:pPr>
              <a:spcBef>
                <a:spcPts val="1000"/>
              </a:spcBef>
              <a:defRPr sz="1350" b="1">
                <a:solidFill>
                  <a:srgbClr val="FBBF24"/>
                </a:solidFill>
              </a:defRPr>
            </a:pPr>
            <a:r>
              <a:t>4. THE PRODUCTION STACK:</a:t>
            </a:r>
          </a:p>
          <a:p>
            <a:pPr>
              <a:spcBef>
                <a:spcPts val="200"/>
              </a:spcBef>
              <a:defRPr sz="1250">
                <a:solidFill>
                  <a:srgbClr val="E2E8F0"/>
                </a:solidFill>
              </a:defRPr>
            </a:pPr>
            <a:r>
              <a:t>List the tools and libraries used to deliver the outcome.</a:t>
            </a:r>
          </a:p>
          <a:p>
            <a:pPr>
              <a:spcBef>
                <a:spcPts val="1000"/>
              </a:spcBef>
              <a:defRPr sz="1150" i="1">
                <a:solidFill>
                  <a:srgbClr val="2DD4BF"/>
                </a:solidFill>
              </a:defRPr>
            </a:pPr>
            <a:r>
              <a:t>💡 Tip: 2 deep case studies beat 10 shallow tutorial clones every single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FBBF24"/>
                </a:solidFill>
              </a:defRPr>
            </a:pPr>
            <a:r>
              <a:t>R.K. SKILLFORGE   |   LESSON 3.1 • MAKE MONEY WITH YOUR SKILLS</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Pillars 7 &amp; 8: Pre-Selling Through Brand &amp; Building Trust</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7</a:t>
            </a:r>
          </a:p>
        </p:txBody>
      </p:sp>
      <p:sp>
        <p:nvSpPr>
          <p:cNvPr id="8" name="Rounded Rectangle 7"/>
          <p:cNvSpPr/>
          <p:nvPr/>
        </p:nvSpPr>
        <p:spPr>
          <a:xfrm>
            <a:off x="731520" y="1645920"/>
            <a:ext cx="5120640" cy="429768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FBBF24"/>
                </a:solidFill>
              </a:defRPr>
            </a:pPr>
            <a:r>
              <a:t>🌟 PILLAR 07: PRE-SELLING WITH BRAND</a:t>
            </a:r>
          </a:p>
          <a:p>
            <a:pPr>
              <a:spcBef>
                <a:spcPts val="400"/>
              </a:spcBef>
              <a:defRPr sz="2000" b="1">
                <a:solidFill>
                  <a:srgbClr val="F8FAFC"/>
                </a:solidFill>
              </a:defRPr>
            </a:pPr>
            <a:r>
              <a:t>Let Content Do The Selling</a:t>
            </a:r>
          </a:p>
          <a:p>
            <a:pPr>
              <a:spcBef>
                <a:spcPts val="1200"/>
              </a:spcBef>
              <a:defRPr sz="1400" b="1">
                <a:solidFill>
                  <a:srgbClr val="2DD4BF"/>
                </a:solidFill>
              </a:defRPr>
            </a:pPr>
            <a:r>
              <a:t>• The Clarity Formula</a:t>
            </a:r>
          </a:p>
          <a:p>
            <a:pPr>
              <a:spcBef>
                <a:spcPts val="200"/>
              </a:spcBef>
              <a:defRPr sz="1300">
                <a:solidFill>
                  <a:srgbClr val="E2E8F0"/>
                </a:solidFill>
              </a:defRPr>
            </a:pPr>
            <a:r>
              <a:t>Your profile header must answer in 5 seconds:</a:t>
            </a:r>
            <a:br/>
            <a:r>
              <a:t>'I help [Target Client] achieve [Specific Outcome] using [Core Skill].'</a:t>
            </a:r>
          </a:p>
          <a:p>
            <a:pPr>
              <a:spcBef>
                <a:spcPts val="1200"/>
              </a:spcBef>
              <a:defRPr sz="1400" b="1">
                <a:solidFill>
                  <a:srgbClr val="2DD4BF"/>
                </a:solidFill>
              </a:defRPr>
            </a:pPr>
            <a:r>
              <a:t>• Behind-The-Scenes Proof</a:t>
            </a:r>
          </a:p>
          <a:p>
            <a:pPr>
              <a:spcBef>
                <a:spcPts val="200"/>
              </a:spcBef>
              <a:defRPr sz="1300">
                <a:solidFill>
                  <a:srgbClr val="E2E8F0"/>
                </a:solidFill>
              </a:defRPr>
            </a:pPr>
            <a:r>
              <a:t>Share real client problems you solved, edge cases you debugged, and architectural diagrams on LinkedIn &amp; Twitter.</a:t>
            </a:r>
          </a:p>
          <a:p>
            <a:pPr>
              <a:spcBef>
                <a:spcPts val="1200"/>
              </a:spcBef>
              <a:defRPr sz="1400" b="1">
                <a:solidFill>
                  <a:srgbClr val="2DD4BF"/>
                </a:solidFill>
              </a:defRPr>
            </a:pPr>
            <a:r>
              <a:t>• Inbound Inquiries</a:t>
            </a:r>
          </a:p>
          <a:p>
            <a:pPr>
              <a:spcBef>
                <a:spcPts val="200"/>
              </a:spcBef>
              <a:defRPr sz="1300">
                <a:solidFill>
                  <a:srgbClr val="E2E8F0"/>
                </a:solidFill>
              </a:defRPr>
            </a:pPr>
            <a:r>
              <a:t>When your content consistently provides value, clients reach out to YOU asking for your availability and rates.</a:t>
            </a:r>
          </a:p>
        </p:txBody>
      </p:sp>
      <p:sp>
        <p:nvSpPr>
          <p:cNvPr id="9" name="Rounded Rectangle 8"/>
          <p:cNvSpPr/>
          <p:nvPr/>
        </p:nvSpPr>
        <p:spPr>
          <a:xfrm>
            <a:off x="6309360" y="1645920"/>
            <a:ext cx="5120640" cy="4297680"/>
          </a:xfrm>
          <a:prstGeom prst="roundRect">
            <a:avLst/>
          </a:prstGeom>
          <a:solidFill>
            <a:srgbClr val="141C2B"/>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A78BFA"/>
                </a:solidFill>
              </a:defRPr>
            </a:pPr>
            <a:r>
              <a:t>🤝 PILLAR 08: BUILD CLIENT TRUST</a:t>
            </a:r>
          </a:p>
          <a:p>
            <a:pPr>
              <a:spcBef>
                <a:spcPts val="400"/>
              </a:spcBef>
              <a:defRPr sz="2000" b="1">
                <a:solidFill>
                  <a:srgbClr val="F8FAFC"/>
                </a:solidFill>
              </a:defRPr>
            </a:pPr>
            <a:r>
              <a:t>Execution Builds Reputation</a:t>
            </a:r>
          </a:p>
          <a:p>
            <a:pPr>
              <a:spcBef>
                <a:spcPts val="1200"/>
              </a:spcBef>
              <a:defRPr sz="1400" b="1">
                <a:solidFill>
                  <a:srgbClr val="FBBF24"/>
                </a:solidFill>
              </a:defRPr>
            </a:pPr>
            <a:r>
              <a:t>• Radical Transparency</a:t>
            </a:r>
          </a:p>
          <a:p>
            <a:pPr>
              <a:spcBef>
                <a:spcPts val="200"/>
              </a:spcBef>
              <a:defRPr sz="1300">
                <a:solidFill>
                  <a:srgbClr val="E2E8F0"/>
                </a:solidFill>
              </a:defRPr>
            </a:pPr>
            <a:r>
              <a:t>Transparent milestones, realistic scopes, and upfront communication when unexpected delays happen.</a:t>
            </a:r>
          </a:p>
          <a:p>
            <a:pPr>
              <a:spcBef>
                <a:spcPts val="1200"/>
              </a:spcBef>
              <a:defRPr sz="1400" b="1">
                <a:solidFill>
                  <a:srgbClr val="FBBF24"/>
                </a:solidFill>
              </a:defRPr>
            </a:pPr>
            <a:r>
              <a:t>• Strict Deadlines</a:t>
            </a:r>
          </a:p>
          <a:p>
            <a:pPr>
              <a:spcBef>
                <a:spcPts val="200"/>
              </a:spcBef>
              <a:defRPr sz="1300">
                <a:solidFill>
                  <a:srgbClr val="E2E8F0"/>
                </a:solidFill>
              </a:defRPr>
            </a:pPr>
            <a:r>
              <a:t>Treat agreed deadlines as non-negotiable promises. In freelance, punctuality automatically puts you in the top 5%.</a:t>
            </a:r>
          </a:p>
          <a:p>
            <a:pPr>
              <a:spcBef>
                <a:spcPts val="1200"/>
              </a:spcBef>
              <a:defRPr sz="1400" b="1">
                <a:solidFill>
                  <a:srgbClr val="FBBF24"/>
                </a:solidFill>
              </a:defRPr>
            </a:pPr>
            <a:r>
              <a:t>• Zero Tolerance for Fake Social Proof</a:t>
            </a:r>
          </a:p>
          <a:p>
            <a:pPr>
              <a:spcBef>
                <a:spcPts val="200"/>
              </a:spcBef>
              <a:defRPr sz="1300">
                <a:solidFill>
                  <a:srgbClr val="E2E8F0"/>
                </a:solidFill>
              </a:defRPr>
            </a:pPr>
            <a:r>
              <a:t>Never invent fake reviews or fake client logos. Trust is fragile: hard to build, instantaneous to destroy.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FBBF24"/>
                </a:solidFill>
              </a:defRPr>
            </a:pPr>
            <a:r>
              <a:t>R.K. SKILLFORGE   |   LESSON 3.1 • MAKE MONEY WITH YOUR SKILLS</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Pillars 9 &amp; 10: Monetization Scoring &amp; Zero Financial Hype</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8</a:t>
            </a:r>
          </a:p>
        </p:txBody>
      </p:sp>
      <p:sp>
        <p:nvSpPr>
          <p:cNvPr id="8" name="Rounded Rectangle 7"/>
          <p:cNvSpPr/>
          <p:nvPr/>
        </p:nvSpPr>
        <p:spPr>
          <a:xfrm>
            <a:off x="731520" y="1645920"/>
            <a:ext cx="5120640" cy="429768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FBBF24"/>
                </a:solidFill>
              </a:defRPr>
            </a:pPr>
            <a:r>
              <a:t>⚖️ PILLAR 09: HONEST BUSINESS SCORING</a:t>
            </a:r>
          </a:p>
          <a:p>
            <a:pPr>
              <a:spcBef>
                <a:spcPts val="400"/>
              </a:spcBef>
              <a:defRPr sz="2000" b="1">
                <a:solidFill>
                  <a:srgbClr val="F8FAFC"/>
                </a:solidFill>
              </a:defRPr>
            </a:pPr>
            <a:r>
              <a:t>Monetization Score: X / 10</a:t>
            </a:r>
          </a:p>
          <a:p>
            <a:pPr>
              <a:spcBef>
                <a:spcPts val="1200"/>
              </a:spcBef>
              <a:defRPr sz="1400" b="1">
                <a:solidFill>
                  <a:srgbClr val="FBBF24"/>
                </a:solidFill>
              </a:defRPr>
            </a:pPr>
            <a:r>
              <a:t>✅ What Works:</a:t>
            </a:r>
          </a:p>
          <a:p>
            <a:pPr>
              <a:spcBef>
                <a:spcPts val="200"/>
              </a:spcBef>
              <a:defRPr sz="1300">
                <a:solidFill>
                  <a:srgbClr val="E2E8F0"/>
                </a:solidFill>
              </a:defRPr>
            </a:pPr>
            <a:r>
              <a:t>Clear value proposition, validated demand for this tech stack.</a:t>
            </a:r>
          </a:p>
          <a:p>
            <a:pPr>
              <a:spcBef>
                <a:spcPts val="1200"/>
              </a:spcBef>
              <a:defRPr sz="1400" b="1">
                <a:solidFill>
                  <a:srgbClr val="FBBF24"/>
                </a:solidFill>
              </a:defRPr>
            </a:pPr>
            <a:r>
              <a:t>⚠️ What is Weak:</a:t>
            </a:r>
          </a:p>
          <a:p>
            <a:pPr>
              <a:spcBef>
                <a:spcPts val="200"/>
              </a:spcBef>
              <a:defRPr sz="1300">
                <a:solidFill>
                  <a:srgbClr val="E2E8F0"/>
                </a:solidFill>
              </a:defRPr>
            </a:pPr>
            <a:r>
              <a:t>Target market consists of students or cash-strapped early startups.</a:t>
            </a:r>
          </a:p>
          <a:p>
            <a:pPr>
              <a:spcBef>
                <a:spcPts val="1200"/>
              </a:spcBef>
              <a:defRPr sz="1400" b="1">
                <a:solidFill>
                  <a:srgbClr val="FBBF24"/>
                </a:solidFill>
              </a:defRPr>
            </a:pPr>
            <a:r>
              <a:t>🚨 Catastrophic Risk:</a:t>
            </a:r>
          </a:p>
          <a:p>
            <a:pPr>
              <a:spcBef>
                <a:spcPts val="200"/>
              </a:spcBef>
              <a:defRPr sz="1300">
                <a:solidFill>
                  <a:srgbClr val="E2E8F0"/>
                </a:solidFill>
              </a:defRPr>
            </a:pPr>
            <a:r>
              <a:t>Long sales cycle without recurring cash flow or retaining equity.</a:t>
            </a:r>
          </a:p>
          <a:p>
            <a:pPr>
              <a:spcBef>
                <a:spcPts val="1200"/>
              </a:spcBef>
              <a:defRPr sz="1400" b="1">
                <a:solidFill>
                  <a:srgbClr val="FBBF24"/>
                </a:solidFill>
              </a:defRPr>
            </a:pPr>
            <a:r>
              <a:t>🛠️ Actionable Upgrade:</a:t>
            </a:r>
          </a:p>
          <a:p>
            <a:pPr>
              <a:spcBef>
                <a:spcPts val="200"/>
              </a:spcBef>
              <a:defRPr sz="1300">
                <a:solidFill>
                  <a:srgbClr val="E2E8F0"/>
                </a:solidFill>
              </a:defRPr>
            </a:pPr>
            <a:r>
              <a:t>Reposition service toward mid-market companies with existing budgets.</a:t>
            </a:r>
          </a:p>
        </p:txBody>
      </p:sp>
      <p:sp>
        <p:nvSpPr>
          <p:cNvPr id="9" name="Rounded Rectangle 8"/>
          <p:cNvSpPr/>
          <p:nvPr/>
        </p:nvSpPr>
        <p:spPr>
          <a:xfrm>
            <a:off x="6309360" y="1645920"/>
            <a:ext cx="5120640" cy="4297680"/>
          </a:xfrm>
          <a:prstGeom prst="roundRect">
            <a:avLst/>
          </a:prstGeom>
          <a:solidFill>
            <a:srgbClr val="141C2B"/>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F87171"/>
                </a:solidFill>
              </a:defRPr>
            </a:pPr>
            <a:r>
              <a:t>🛡️ PILLAR 10: ZERO FINANCIAL HALLUCINATIONS</a:t>
            </a:r>
          </a:p>
          <a:p>
            <a:pPr>
              <a:spcBef>
                <a:spcPts val="400"/>
              </a:spcBef>
              <a:defRPr sz="2000" b="1">
                <a:solidFill>
                  <a:srgbClr val="F8FAFC"/>
                </a:solidFill>
              </a:defRPr>
            </a:pPr>
            <a:r>
              <a:t>Radical Financial Honesty</a:t>
            </a:r>
          </a:p>
          <a:p>
            <a:pPr>
              <a:spcBef>
                <a:spcPts val="1200"/>
              </a:spcBef>
              <a:defRPr sz="1400" b="1">
                <a:solidFill>
                  <a:srgbClr val="2DD4BF"/>
                </a:solidFill>
              </a:defRPr>
            </a:pPr>
            <a:r>
              <a:t>• Never Invent Salary Figures:</a:t>
            </a:r>
          </a:p>
          <a:p>
            <a:pPr>
              <a:spcBef>
                <a:spcPts val="200"/>
              </a:spcBef>
              <a:defRPr sz="1300">
                <a:solidFill>
                  <a:srgbClr val="E2E8F0"/>
                </a:solidFill>
              </a:defRPr>
            </a:pPr>
            <a:r>
              <a:t>Base pricing advice on verified industry rate benchmarks, not social media screenshots.</a:t>
            </a:r>
          </a:p>
          <a:p>
            <a:pPr>
              <a:spcBef>
                <a:spcPts val="1200"/>
              </a:spcBef>
              <a:defRPr sz="1400" b="1">
                <a:solidFill>
                  <a:srgbClr val="2DD4BF"/>
                </a:solidFill>
              </a:defRPr>
            </a:pPr>
            <a:r>
              <a:t>• No 'Get Rich Quick' Schemes:</a:t>
            </a:r>
          </a:p>
          <a:p>
            <a:pPr>
              <a:spcBef>
                <a:spcPts val="200"/>
              </a:spcBef>
              <a:defRPr sz="1300">
                <a:solidFill>
                  <a:srgbClr val="E2E8F0"/>
                </a:solidFill>
              </a:defRPr>
            </a:pPr>
            <a:r>
              <a:t>Building client revenue requires effort, systematic outreach, and delivered competence.</a:t>
            </a:r>
          </a:p>
          <a:p>
            <a:pPr>
              <a:spcBef>
                <a:spcPts val="1200"/>
              </a:spcBef>
              <a:defRPr sz="1400" b="1">
                <a:solidFill>
                  <a:srgbClr val="2DD4BF"/>
                </a:solidFill>
              </a:defRPr>
            </a:pPr>
            <a:r>
              <a:t>• Acknowledge Financial Risks:</a:t>
            </a:r>
          </a:p>
          <a:p>
            <a:pPr>
              <a:spcBef>
                <a:spcPts val="200"/>
              </a:spcBef>
              <a:defRPr sz="1300">
                <a:solidFill>
                  <a:srgbClr val="E2E8F0"/>
                </a:solidFill>
              </a:defRPr>
            </a:pPr>
            <a:r>
              <a:t>Every business model has cash-flow troughs. Plan for taxes, dry months, and scope creep.</a:t>
            </a:r>
          </a:p>
          <a:p>
            <a:pPr>
              <a:spcBef>
                <a:spcPts val="1200"/>
              </a:spcBef>
              <a:defRPr sz="1400" b="1">
                <a:solidFill>
                  <a:srgbClr val="2DD4BF"/>
                </a:solidFill>
              </a:defRPr>
            </a:pPr>
            <a:r>
              <a:t>• Distinguish Facts from Estimates:</a:t>
            </a:r>
          </a:p>
          <a:p>
            <a:pPr>
              <a:spcBef>
                <a:spcPts val="200"/>
              </a:spcBef>
              <a:defRPr sz="1300">
                <a:solidFill>
                  <a:srgbClr val="E2E8F0"/>
                </a:solidFill>
              </a:defRPr>
            </a:pPr>
            <a:r>
              <a:t>Always separate guaranteed contract terms from speculative bonuses.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FBBF24"/>
                </a:solidFill>
              </a:defRPr>
            </a:pPr>
            <a:r>
              <a:t>R.K. SKILLFORGE   |   LESSON 3.1 • MAKE MONEY WITH YOUR SKILLS</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Pillar 11: The Long-Term Scaling Framework</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9</a:t>
            </a:r>
          </a:p>
        </p:txBody>
      </p:sp>
      <p:sp>
        <p:nvSpPr>
          <p:cNvPr id="8" name="Rounded Rectangle 7"/>
          <p:cNvSpPr/>
          <p:nvPr/>
        </p:nvSpPr>
        <p:spPr>
          <a:xfrm>
            <a:off x="731520" y="1600200"/>
            <a:ext cx="10698480" cy="77724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700" b="1">
                <a:solidFill>
                  <a:srgbClr val="38BDF8"/>
                </a:solidFill>
              </a:defRPr>
            </a:pPr>
            <a:r>
              <a:t>PHASE 01: VALIDATION</a:t>
            </a:r>
          </a:p>
          <a:p>
            <a:pPr>
              <a:spcBef>
                <a:spcPts val="200"/>
              </a:spcBef>
              <a:defRPr sz="1300">
                <a:solidFill>
                  <a:srgbClr val="F8FAFC"/>
                </a:solidFill>
              </a:defRPr>
            </a:pPr>
            <a:r>
              <a:t>Win first 3 clients via direct outreach. Master service delivery.</a:t>
            </a:r>
          </a:p>
        </p:txBody>
      </p:sp>
      <p:sp>
        <p:nvSpPr>
          <p:cNvPr id="9" name="Rounded Rectangle 8"/>
          <p:cNvSpPr/>
          <p:nvPr/>
        </p:nvSpPr>
        <p:spPr>
          <a:xfrm>
            <a:off x="731520" y="2542032"/>
            <a:ext cx="10698480" cy="77724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700" b="1">
                <a:solidFill>
                  <a:srgbClr val="2DD4BF"/>
                </a:solidFill>
              </a:defRPr>
            </a:pPr>
            <a:r>
              <a:t>PHASE 02: VALUE PRICING</a:t>
            </a:r>
          </a:p>
          <a:p>
            <a:pPr>
              <a:spcBef>
                <a:spcPts val="200"/>
              </a:spcBef>
              <a:defRPr sz="1300">
                <a:solidFill>
                  <a:srgbClr val="F8FAFC"/>
                </a:solidFill>
              </a:defRPr>
            </a:pPr>
            <a:r>
              <a:t>Shift from hourly billing to fixed-scope outcome pricing. Increase rates.</a:t>
            </a:r>
          </a:p>
        </p:txBody>
      </p:sp>
      <p:sp>
        <p:nvSpPr>
          <p:cNvPr id="10" name="Rounded Rectangle 9"/>
          <p:cNvSpPr/>
          <p:nvPr/>
        </p:nvSpPr>
        <p:spPr>
          <a:xfrm>
            <a:off x="731520" y="3483864"/>
            <a:ext cx="10698480" cy="77724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700" b="1">
                <a:solidFill>
                  <a:srgbClr val="FBBF24"/>
                </a:solidFill>
              </a:defRPr>
            </a:pPr>
            <a:r>
              <a:t>PHASE 03: MONTHLY RETAINERS</a:t>
            </a:r>
          </a:p>
          <a:p>
            <a:pPr>
              <a:spcBef>
                <a:spcPts val="200"/>
              </a:spcBef>
              <a:defRPr sz="1300">
                <a:solidFill>
                  <a:srgbClr val="F8FAFC"/>
                </a:solidFill>
              </a:defRPr>
            </a:pPr>
            <a:r>
              <a:t>Convert one-off clients into recurring maintenance and consulting retainers.</a:t>
            </a:r>
          </a:p>
        </p:txBody>
      </p:sp>
      <p:sp>
        <p:nvSpPr>
          <p:cNvPr id="11" name="Rounded Rectangle 10"/>
          <p:cNvSpPr/>
          <p:nvPr/>
        </p:nvSpPr>
        <p:spPr>
          <a:xfrm>
            <a:off x="731520" y="4425696"/>
            <a:ext cx="10698480" cy="777240"/>
          </a:xfrm>
          <a:prstGeom prst="roundRect">
            <a:avLst/>
          </a:prstGeom>
          <a:solidFill>
            <a:srgbClr val="141C2B"/>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700" b="1">
                <a:solidFill>
                  <a:srgbClr val="A78BFA"/>
                </a:solidFill>
              </a:defRPr>
            </a:pPr>
            <a:r>
              <a:t>PHASE 04: PRODUCTIZATION</a:t>
            </a:r>
          </a:p>
          <a:p>
            <a:pPr>
              <a:spcBef>
                <a:spcPts val="200"/>
              </a:spcBef>
              <a:defRPr sz="1300">
                <a:solidFill>
                  <a:srgbClr val="F8FAFC"/>
                </a:solidFill>
              </a:defRPr>
            </a:pPr>
            <a:r>
              <a:t>Standardize your workflows, templates, and systems into repeatable packages.</a:t>
            </a:r>
          </a:p>
        </p:txBody>
      </p:sp>
      <p:sp>
        <p:nvSpPr>
          <p:cNvPr id="12" name="Rounded Rectangle 11"/>
          <p:cNvSpPr/>
          <p:nvPr/>
        </p:nvSpPr>
        <p:spPr>
          <a:xfrm>
            <a:off x="731520" y="5367528"/>
            <a:ext cx="10698480" cy="77724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700" b="1">
                <a:solidFill>
                  <a:srgbClr val="2DD4BF"/>
                </a:solidFill>
              </a:defRPr>
            </a:pPr>
            <a:r>
              <a:t>PHASE 05: LEVERAGE &amp; SCALE</a:t>
            </a:r>
          </a:p>
          <a:p>
            <a:pPr>
              <a:spcBef>
                <a:spcPts val="200"/>
              </a:spcBef>
              <a:defRPr sz="1300">
                <a:solidFill>
                  <a:srgbClr val="F8FAFC"/>
                </a:solidFill>
              </a:defRPr>
            </a:pPr>
            <a:r>
              <a:t>Hire specialized subcontractors, launch digital tools, and build agency equity.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FBBF24"/>
                </a:solidFill>
              </a:defRPr>
            </a:pPr>
            <a:r>
              <a:t>R.K. SKILLFORGE   |   LESSON 3.1 • MAKE MONEY WITH YOUR SKILLS</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Module Assets: Copy-Paste Prompts &amp; Skill Jars</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10</a:t>
            </a:r>
          </a:p>
        </p:txBody>
      </p:sp>
      <p:sp>
        <p:nvSpPr>
          <p:cNvPr id="8" name="Rounded Rectangle 7"/>
          <p:cNvSpPr/>
          <p:nvPr/>
        </p:nvSpPr>
        <p:spPr>
          <a:xfrm>
            <a:off x="731520" y="1645920"/>
            <a:ext cx="5120640" cy="429768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a:lstStyle/>
          <a:p>
            <a:pPr algn="ctr">
              <a:defRPr sz="1200" b="1">
                <a:solidFill>
                  <a:srgbClr val="38BDF8"/>
                </a:solidFill>
              </a:defRPr>
            </a:pPr>
            <a:r>
              <a:t>📄 UNIVERSAL PROMPT SYSTEM</a:t>
            </a:r>
          </a:p>
          <a:p>
            <a:pPr>
              <a:spcBef>
                <a:spcPts val="400"/>
              </a:spcBef>
              <a:defRPr sz="2100" b="1">
                <a:solidFill>
                  <a:srgbClr val="F8FAFC"/>
                </a:solidFill>
              </a:defRPr>
            </a:pPr>
            <a:r>
              <a:t>MAKE-MONEY-PROMPT.md</a:t>
            </a:r>
          </a:p>
          <a:p>
            <a:pPr>
              <a:spcBef>
                <a:spcPts val="1400"/>
              </a:spcBef>
              <a:defRPr sz="1400" b="1">
                <a:solidFill>
                  <a:srgbClr val="2DD4BF"/>
                </a:solidFill>
              </a:defRPr>
            </a:pPr>
            <a:r>
              <a:t>• Client Proposal Engine:</a:t>
            </a:r>
          </a:p>
          <a:p>
            <a:pPr>
              <a:spcBef>
                <a:spcPts val="200"/>
              </a:spcBef>
              <a:defRPr sz="1300">
                <a:solidFill>
                  <a:srgbClr val="E2E8F0"/>
                </a:solidFill>
              </a:defRPr>
            </a:pPr>
            <a:r>
              <a:t>Generates high-converting outreach messages, client audit scripts, and project quotes.</a:t>
            </a:r>
          </a:p>
          <a:p>
            <a:pPr>
              <a:spcBef>
                <a:spcPts val="1400"/>
              </a:spcBef>
              <a:defRPr sz="1400" b="1">
                <a:solidFill>
                  <a:srgbClr val="2DD4BF"/>
                </a:solidFill>
              </a:defRPr>
            </a:pPr>
            <a:r>
              <a:t>• Business Model Scorer:</a:t>
            </a:r>
          </a:p>
          <a:p>
            <a:pPr>
              <a:spcBef>
                <a:spcPts val="200"/>
              </a:spcBef>
              <a:defRPr sz="1300">
                <a:solidFill>
                  <a:srgbClr val="E2E8F0"/>
                </a:solidFill>
              </a:defRPr>
            </a:pPr>
            <a:r>
              <a:t>Rates any freelance or agency monetization idea /10 with candid risk analysis.</a:t>
            </a:r>
          </a:p>
          <a:p>
            <a:pPr>
              <a:spcBef>
                <a:spcPts val="1400"/>
              </a:spcBef>
              <a:defRPr sz="1400" b="1">
                <a:solidFill>
                  <a:srgbClr val="2DD4BF"/>
                </a:solidFill>
              </a:defRPr>
            </a:pPr>
            <a:r>
              <a:t>• Multi-AI Compatible:</a:t>
            </a:r>
          </a:p>
          <a:p>
            <a:pPr>
              <a:spcBef>
                <a:spcPts val="200"/>
              </a:spcBef>
              <a:defRPr sz="1300">
                <a:solidFill>
                  <a:srgbClr val="E2E8F0"/>
                </a:solidFill>
              </a:defRPr>
            </a:pPr>
            <a:r>
              <a:t>Paste directly into ChatGPT, Claude Projects, Google Gemini, or local models.</a:t>
            </a:r>
          </a:p>
        </p:txBody>
      </p:sp>
      <p:sp>
        <p:nvSpPr>
          <p:cNvPr id="9" name="Rounded Rectangle 8"/>
          <p:cNvSpPr/>
          <p:nvPr/>
        </p:nvSpPr>
        <p:spPr>
          <a:xfrm>
            <a:off x="6309360" y="1645920"/>
            <a:ext cx="5120640" cy="429768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a:lstStyle/>
          <a:p>
            <a:pPr algn="ctr">
              <a:defRPr sz="1200" b="1">
                <a:solidFill>
                  <a:srgbClr val="FBBF24"/>
                </a:solidFill>
              </a:defRPr>
            </a:pPr>
            <a:r>
              <a:t>📦 PRE-PACKAGED SKILL JAR</a:t>
            </a:r>
          </a:p>
          <a:p>
            <a:pPr>
              <a:spcBef>
                <a:spcPts val="400"/>
              </a:spcBef>
              <a:defRPr sz="2100" b="1">
                <a:solidFill>
                  <a:srgbClr val="F8FAFC"/>
                </a:solidFill>
              </a:defRPr>
            </a:pPr>
            <a:r>
              <a:t>make-money.skill</a:t>
            </a:r>
          </a:p>
          <a:p>
            <a:pPr>
              <a:spcBef>
                <a:spcPts val="1400"/>
              </a:spcBef>
              <a:defRPr sz="1400" b="1">
                <a:solidFill>
                  <a:srgbClr val="FBBF24"/>
                </a:solidFill>
              </a:defRPr>
            </a:pPr>
            <a:r>
              <a:t>• Complete Template Suite:</a:t>
            </a:r>
          </a:p>
          <a:p>
            <a:pPr>
              <a:spcBef>
                <a:spcPts val="200"/>
              </a:spcBef>
              <a:defRPr sz="1300">
                <a:solidFill>
                  <a:srgbClr val="E2E8F0"/>
                </a:solidFill>
              </a:defRPr>
            </a:pPr>
            <a:r>
              <a:t>Includes pre-written templates for Client Contracts, Scope of Work, and Retainer Agreements.</a:t>
            </a:r>
          </a:p>
          <a:p>
            <a:pPr>
              <a:spcBef>
                <a:spcPts val="1400"/>
              </a:spcBef>
              <a:defRPr sz="1400" b="1">
                <a:solidFill>
                  <a:srgbClr val="FBBF24"/>
                </a:solidFill>
              </a:defRPr>
            </a:pPr>
            <a:r>
              <a:t>• Plug &amp; Play Intelligence:</a:t>
            </a:r>
          </a:p>
          <a:p>
            <a:pPr>
              <a:spcBef>
                <a:spcPts val="200"/>
              </a:spcBef>
              <a:defRPr sz="1300">
                <a:solidFill>
                  <a:srgbClr val="E2E8F0"/>
                </a:solidFill>
              </a:defRPr>
            </a:pPr>
            <a:r>
              <a:t>Upload directly into Claude Projects or Antigravity agents for permanent business advisory.</a:t>
            </a:r>
          </a:p>
          <a:p>
            <a:pPr>
              <a:spcBef>
                <a:spcPts val="1400"/>
              </a:spcBef>
              <a:defRPr sz="1400" b="1">
                <a:solidFill>
                  <a:srgbClr val="FBBF24"/>
                </a:solidFill>
              </a:defRPr>
            </a:pPr>
            <a:r>
              <a:t>• 100% Free &amp; Open Source:</a:t>
            </a:r>
          </a:p>
          <a:p>
            <a:pPr>
              <a:spcBef>
                <a:spcPts val="200"/>
              </a:spcBef>
              <a:defRPr sz="1300">
                <a:solidFill>
                  <a:srgbClr val="E2E8F0"/>
                </a:solidFill>
              </a:defRPr>
            </a:pPr>
            <a:r>
              <a:t>Engineered by R.K. SKILLFORGE to help builders achieve true financial autonomy.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0698480" cy="7315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25880"/>
            <a:ext cx="10698480" cy="1280160"/>
          </a:xfrm>
          <a:prstGeom prst="rect">
            <a:avLst/>
          </a:prstGeom>
          <a:noFill/>
        </p:spPr>
        <p:txBody>
          <a:bodyPr wrap="square">
            <a:spAutoFit/>
          </a:bodyPr>
          <a:lstStyle/>
          <a:p>
            <a:pPr>
              <a:defRPr sz="1400" b="1">
                <a:solidFill>
                  <a:srgbClr val="FBBF24"/>
                </a:solidFill>
              </a:defRPr>
            </a:pPr>
            <a:r>
              <a:t>COMMERCIAL MASTERY UNLOCKED</a:t>
            </a:r>
          </a:p>
          <a:p>
            <a:pPr>
              <a:spcBef>
                <a:spcPts val="400"/>
              </a:spcBef>
              <a:defRPr sz="3600" b="1">
                <a:solidFill>
                  <a:srgbClr val="F8FAFC"/>
                </a:solidFill>
              </a:defRPr>
            </a:pPr>
            <a:r>
              <a:t>Next: Module 04 — Preparation For Job Hunting</a:t>
            </a:r>
          </a:p>
        </p:txBody>
      </p:sp>
      <p:sp>
        <p:nvSpPr>
          <p:cNvPr id="5" name="Rounded Rectangle 4"/>
          <p:cNvSpPr/>
          <p:nvPr/>
        </p:nvSpPr>
        <p:spPr>
          <a:xfrm>
            <a:off x="731520" y="2834640"/>
            <a:ext cx="10698480" cy="274320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defRPr sz="2200" b="1">
                <a:solidFill>
                  <a:srgbClr val="2DD4BF"/>
                </a:solidFill>
              </a:defRPr>
            </a:pPr>
            <a:r>
              <a:t>Presented with ❤️ by R.K. SKILLFORGE</a:t>
            </a:r>
          </a:p>
          <a:p>
            <a:pPr>
              <a:spcBef>
                <a:spcPts val="1000"/>
              </a:spcBef>
              <a:defRPr sz="1500">
                <a:solidFill>
                  <a:srgbClr val="E2E8F0"/>
                </a:solidFill>
              </a:defRPr>
            </a:pPr>
            <a:r>
              <a:t>👍  Like this video &amp; Subscribe for Module 04 (Job Hunting Mastery)</a:t>
            </a:r>
          </a:p>
          <a:p>
            <a:pPr>
              <a:spcBef>
                <a:spcPts val="1000"/>
              </a:spcBef>
              <a:defRPr sz="1500">
                <a:solidFill>
                  <a:srgbClr val="E2E8F0"/>
                </a:solidFill>
              </a:defRPr>
            </a:pPr>
            <a:r>
              <a:t>⭐  Star our GitHub Repo to download MAKE-MONEY-PROMPT.md &amp; templates</a:t>
            </a:r>
          </a:p>
          <a:p>
            <a:pPr>
              <a:spcBef>
                <a:spcPts val="1000"/>
              </a:spcBef>
              <a:defRPr sz="1500">
                <a:solidFill>
                  <a:srgbClr val="E2E8F0"/>
                </a:solidFill>
              </a:defRPr>
            </a:pPr>
            <a:r>
              <a:t>💬  Drop your current target skill below—let's brainstorm your first client offer!</a:t>
            </a:r>
          </a:p>
          <a:p>
            <a:pPr>
              <a:spcBef>
                <a:spcPts val="1000"/>
              </a:spcBef>
              <a:defRPr sz="1500">
                <a:solidFill>
                  <a:srgbClr val="E2E8F0"/>
                </a:solidFill>
              </a:defRPr>
            </a:pPr>
            <a:r>
              <a:t>➡️  Click the next video to begin Lesson 4.1: Preparation For Job Hunting</a:t>
            </a:r>
          </a:p>
        </p:txBody>
      </p:sp>
      <p:sp>
        <p:nvSpPr>
          <p:cNvPr id="6" name="TextBox 5"/>
          <p:cNvSpPr txBox="1"/>
          <p:nvPr/>
        </p:nvSpPr>
        <p:spPr>
          <a:xfrm>
            <a:off x="731520" y="5806440"/>
            <a:ext cx="10698480" cy="457200"/>
          </a:xfrm>
          <a:prstGeom prst="rect">
            <a:avLst/>
          </a:prstGeom>
          <a:noFill/>
        </p:spPr>
        <p:txBody>
          <a:bodyPr wrap="none">
            <a:spAutoFit/>
          </a:bodyPr>
          <a:lstStyle/>
          <a:p>
            <a:pPr algn="ctr">
              <a:defRPr sz="1300">
                <a:solidFill>
                  <a:srgbClr val="94A3B8"/>
                </a:solidFill>
              </a:defRPr>
            </a:pPr>
            <a:r>
              <a:t>© R.K. SKILLFORGE   |   AI Mentor Masterclass   |   100% Free Lifetime Access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