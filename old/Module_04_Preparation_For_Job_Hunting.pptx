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INTRO:</a:t>
            </a:r>
          </a:p>
          <a:p>
            <a:r>
              <a:t>"Welcome to the grand capstone of AI Mentor by R.K. SKILLFORGE!</a:t>
            </a:r>
          </a:p>
          <a:p>
            <a:r>
              <a:t>We've journeyed together from Module 00: Introduction, through Module 01: Find Your Way, Module 02: Online Presence, and Module 03: Monetizing Your Skills.</a:t>
            </a:r>
          </a:p>
          <a:p>
            <a:r>
              <a:t>Now we arrive at the ultimate milestone: Module 04 — Preparation For Job Hunting.</a:t>
            </a:r>
          </a:p>
          <a:p>
            <a:r>
              <a:t>In today's competitive tech landscape, sending out 500 blind resumes and collecting online certificates is a guaranteed formula for rejection.</a:t>
            </a:r>
          </a:p>
          <a:p>
            <a:r>
              <a:t>In Lesson 4.1, we show you how to dissect any job role, prioritize the skills hiring managers actually care about, build undeniable proof of work, and dominate technical interviews.</a:t>
            </a:r>
          </a:p>
          <a:p>
            <a:r>
              <a:t>Let's get you hired!"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"Let's address the elephant in the room: Why are so many people struggling to land software or tech jobs today?</a:t>
            </a:r>
          </a:p>
          <a:p>
            <a:r>
              <a:t>Because they are using 2015 strategies in a 2026 AI-accelerated market.</a:t>
            </a:r>
          </a:p>
          <a:p>
            <a:r>
              <a:t>Sending 500 resumes on job boards gets you ignored. Listing 40 technologies you barely know gets you disqualified.</a:t>
            </a:r>
          </a:p>
          <a:p>
            <a:r>
              <a:t>Hiring managers are overwhelmed with applications. They are terrified of making a bad hire.</a:t>
            </a:r>
          </a:p>
          <a:p>
            <a:r>
              <a:t>Your goal is to make hiring you the lowest-risk decision they make all year."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"Here is our 11-pillar Job Readiness architecture.</a:t>
            </a:r>
          </a:p>
          <a:p>
            <a:r>
              <a:t>We will teach you how to analyze a target job role, categorize and prioritize skills into three strategic tiers, engineer multi-component proof-of-work projects, master technical and behavioral interviews, conduct an evidence-based self-audit, and navigate the recruitment funnel.</a:t>
            </a:r>
          </a:p>
          <a:p>
            <a:r>
              <a:t>Let's break down each pillar."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"In Pillars 1 and 2, we stop guessing.</a:t>
            </a:r>
          </a:p>
          <a:p>
            <a:r>
              <a:t>Before updating your resume, you need to understand the target role inside and out. Why does a company pay $120,000 for this role? What does the engineer actually do on an average Thursday?</a:t>
            </a:r>
          </a:p>
          <a:p>
            <a:r>
              <a:t>And in Pillar 2, we organize skills into five distinct buckets. Notice that 'Tools' is only one bucket. If you only know the framework but don't understand the fundamental protocols, you are fragile.</a:t>
            </a:r>
          </a:p>
          <a:p>
            <a:r>
              <a:t>Master the fundamentals, and tools become easy."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"Look at Pillars 3 and 4.</a:t>
            </a:r>
          </a:p>
          <a:p>
            <a:r>
              <a:t>Job descriptions are notorious for demanding 25 different tools for an entry or mid-level job. It looks terrifying.</a:t>
            </a:r>
          </a:p>
          <a:p>
            <a:r>
              <a:t>With our Tri-Tier System, we categorize them:</a:t>
            </a:r>
          </a:p>
          <a:p>
            <a:r>
              <a:t>Tier 1: What is actually mandatory? Master that first.</a:t>
            </a:r>
          </a:p>
          <a:p>
            <a:r>
              <a:t>Tier 2: What makes you stand out? Like testing and clean architecture.</a:t>
            </a:r>
          </a:p>
          <a:p>
            <a:r>
              <a:t>Tier 3: What can you learn on the job? Everything else.</a:t>
            </a:r>
          </a:p>
          <a:p>
            <a:r>
              <a:t>This prevents analysis paralysis and lets you execute your 7-step roadmap with total focus."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"Pillars 5 and 6 are what separate junior applicants from senior-minded hires.</a:t>
            </a:r>
          </a:p>
          <a:p>
            <a:r>
              <a:t>In Pillar 5: Don't just build a todo-list app. Build an app that has database indexing, rate limiting, and automated tests. Write an Architectural Decision Record explaining your choices.</a:t>
            </a:r>
          </a:p>
          <a:p>
            <a:r>
              <a:t>In Pillar 6: Software engineering is a team sport. If you cannot explain your code to a product manager, or if you get angry during code reviews, you will be rejected regardless of how smart you are.</a:t>
            </a:r>
          </a:p>
          <a:p>
            <a:r>
              <a:t>High empathy and clear communication are your greatest career multipliers."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"Pillar 7 breaks down the 5 gates of modern technical recruitment.</a:t>
            </a:r>
          </a:p>
          <a:p>
            <a:r>
              <a:t>Gate 1: Your resume must pass automated applicant tracking systems. Use the proven Google formula: 'Accomplished X, measured by Y, by doing Z.'</a:t>
            </a:r>
          </a:p>
          <a:p>
            <a:r>
              <a:t>Gate 2 &amp; 3: In technical interviews, interviewers don't expect you to know everything. They want to see how you decompose a problem when you get stuck.</a:t>
            </a:r>
          </a:p>
          <a:p>
            <a:r>
              <a:t>Gate 4: In behavioral rounds, share real mistakes and how you resolved them.</a:t>
            </a:r>
          </a:p>
          <a:p>
            <a:r>
              <a:t>Master all 5 gates, and you will receive multiple competing offers."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"Pillars 8 and 9 provide the honest reality check you need.</a:t>
            </a:r>
          </a:p>
          <a:p>
            <a:r>
              <a:t>In Pillar 8, conduct our Job-Readiness Audit. Score your profile out of 10. If your score is a 6, don't waste time applying to 100 jobs yet! Fix the missing tests and documentation to raise your score to an 8 or 9.</a:t>
            </a:r>
          </a:p>
          <a:p>
            <a:r>
              <a:t>And in Pillar 9: Beware of bootcamps making 'guaranteed job' promises. No course can guarantee a job.</a:t>
            </a:r>
          </a:p>
          <a:p>
            <a:r>
              <a:t>What guarantees career success is your willingness to face feedback, build real competence, and persevere through rejections until you win."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"Look at Pillars 10 and 11.</a:t>
            </a:r>
          </a:p>
          <a:p>
            <a:r>
              <a:t>Never compromise your integrity. Tech communities are interconnected. If you are honest about what you know and demonstrate deep curiosity about what you don't know, hiring managers will love you.</a:t>
            </a:r>
          </a:p>
          <a:p>
            <a:r>
              <a:t>And in Pillar 11, you see the complete candidate transformation:</a:t>
            </a:r>
          </a:p>
          <a:p>
            <a:r>
              <a:t>From choosing a target role to building proof, mastering communication, and walking into interviews fully prepared.</a:t>
            </a:r>
          </a:p>
          <a:p>
            <a:r>
              <a:t>You are no longer an amateur hoping for luck. You are an engineer ready to deliver value on Day 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a:t>
            </a:r>
          </a:p>
          <a:p>
            <a:r>
              <a:t>"Inside Module 04, we provide the full toolkit to simulate your interviews:</a:t>
            </a:r>
          </a:p>
          <a:p>
            <a:r>
              <a:t>JOB-HUNTING-PROMPT.md will roleplay as a demanding hiring manager, critique your resume line by line, and run mock technical whiteboard sessions with you.</a:t>
            </a:r>
          </a:p>
          <a:p>
            <a:r>
              <a:t>And job-hunting.skill contains our complete scoring rubric and question banks.</a:t>
            </a:r>
          </a:p>
          <a:p>
            <a:r>
              <a:t>Both files are available for free in our GitHub repository!"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 FINAL OUTRO:</a:t>
            </a:r>
          </a:p>
          <a:p>
            <a:r>
              <a:t>"Congratulations! You have officially completed the AI Mentor Masterclass Series, presented by R.K. SKILLFORGE.</a:t>
            </a:r>
          </a:p>
          <a:p>
            <a:r>
              <a:t>You now hold the complete blueprint: from exploring raw curiosity, to creating custom roadmaps, building an authentic online presence, generating revenue through freelancing, and landing high-paying tech jobs.</a:t>
            </a:r>
          </a:p>
          <a:p>
            <a:r>
              <a:t>Remember our core philosophy:</a:t>
            </a:r>
          </a:p>
          <a:p>
            <a:r>
              <a:t>'Don't learn everything. Understand what matters. Build strong fundamentals. Use AI wisely. Learn from real people. Take action. Keep improving.'</a:t>
            </a:r>
          </a:p>
          <a:p>
            <a:r>
              <a:t>Thank you so much for learning with us. Make sure to Like this video, Subscribe to the channel, and star our GitHub repo.</a:t>
            </a:r>
          </a:p>
          <a:p>
            <a:r>
              <a:t>I wish you massive success on your journey from Interest to Passion, and Passion to a thriving Career!"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09728" cy="438912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1097280"/>
            <a:ext cx="6217920" cy="411480"/>
          </a:xfrm>
          <a:prstGeom prst="rect">
            <a:avLst/>
          </a:prstGeom>
          <a:noFill/>
        </p:spPr>
        <p:txBody>
          <a:bodyPr wrap="none">
            <a:spAutoFit/>
          </a:bodyPr>
          <a:lstStyle/>
          <a:p>
            <a:pPr>
              <a:defRPr sz="1400" b="1">
                <a:solidFill>
                  <a:srgbClr val="2DD4BF"/>
                </a:solidFill>
              </a:defRPr>
            </a:pPr>
            <a:r>
              <a:t>🚀 R.K. SKILLFORGE MASTERCLASS • CAPSTONE MODULE</a:t>
            </a:r>
          </a:p>
        </p:txBody>
      </p:sp>
      <p:sp>
        <p:nvSpPr>
          <p:cNvPr id="5" name="TextBox 4"/>
          <p:cNvSpPr txBox="1"/>
          <p:nvPr/>
        </p:nvSpPr>
        <p:spPr>
          <a:xfrm>
            <a:off x="1051560" y="1600200"/>
            <a:ext cx="6217920" cy="1554480"/>
          </a:xfrm>
          <a:prstGeom prst="rect">
            <a:avLst/>
          </a:prstGeom>
          <a:noFill/>
        </p:spPr>
        <p:txBody>
          <a:bodyPr wrap="square">
            <a:spAutoFit/>
          </a:bodyPr>
          <a:lstStyle/>
          <a:p>
            <a:pPr>
              <a:defRPr sz="4600" b="1">
                <a:solidFill>
                  <a:srgbClr val="F8FAFC"/>
                </a:solidFill>
              </a:defRPr>
            </a:pPr>
            <a:r>
              <a:t>AI MENTOR</a:t>
            </a:r>
          </a:p>
          <a:p>
            <a:pPr>
              <a:defRPr sz="2100" b="1">
                <a:solidFill>
                  <a:srgbClr val="38BDF8"/>
                </a:solidFill>
              </a:defRPr>
            </a:pPr>
            <a:r>
              <a:t>Module 04: Preparation For Job Hunting</a:t>
            </a:r>
          </a:p>
        </p:txBody>
      </p:sp>
      <p:sp>
        <p:nvSpPr>
          <p:cNvPr id="6" name="TextBox 5"/>
          <p:cNvSpPr txBox="1"/>
          <p:nvPr/>
        </p:nvSpPr>
        <p:spPr>
          <a:xfrm>
            <a:off x="1051560" y="3291840"/>
            <a:ext cx="6217920" cy="1097280"/>
          </a:xfrm>
          <a:prstGeom prst="rect">
            <a:avLst/>
          </a:prstGeom>
          <a:noFill/>
        </p:spPr>
        <p:txBody>
          <a:bodyPr wrap="square">
            <a:spAutoFit/>
          </a:bodyPr>
          <a:lstStyle/>
          <a:p>
            <a:pPr>
              <a:defRPr sz="1700">
                <a:solidFill>
                  <a:srgbClr val="F8FAFC"/>
                </a:solidFill>
              </a:defRPr>
            </a:pPr>
            <a:r>
              <a:t>Lesson 4.1 — From Role Ambition to Proven Job Readiness</a:t>
            </a:r>
          </a:p>
          <a:p>
            <a:pPr>
              <a:spcBef>
                <a:spcPts val="600"/>
              </a:spcBef>
              <a:defRPr sz="1600" b="1">
                <a:solidFill>
                  <a:srgbClr val="FBBF24"/>
                </a:solidFill>
              </a:defRPr>
            </a:pPr>
            <a:r>
              <a:t>Skill Prioritization  •  Proof of Work  •  Interview Mastery</a:t>
            </a:r>
          </a:p>
        </p:txBody>
      </p:sp>
      <p:sp>
        <p:nvSpPr>
          <p:cNvPr id="7" name="Rounded Rectangle 6"/>
          <p:cNvSpPr/>
          <p:nvPr/>
        </p:nvSpPr>
        <p:spPr>
          <a:xfrm>
            <a:off x="7333488" y="1298448"/>
            <a:ext cx="4169664" cy="2414016"/>
          </a:xfrm>
          <a:prstGeom prst="roundRect">
            <a:avLst/>
          </a:prstGeom>
          <a:solidFill>
            <a:srgbClr val="141C2B"/>
          </a:solidFill>
          <a:ln w="1905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I Mentor Thumbnail.png"/>
          <p:cNvPicPr>
            <a:picLocks noChangeAspect="1"/>
          </p:cNvPicPr>
          <p:nvPr/>
        </p:nvPicPr>
        <p:blipFill>
          <a:blip r:embed="rId2"/>
          <a:stretch>
            <a:fillRect/>
          </a:stretch>
        </p:blipFill>
        <p:spPr>
          <a:xfrm>
            <a:off x="7406640" y="1371600"/>
            <a:ext cx="4023360" cy="2267712"/>
          </a:xfrm>
          <a:prstGeom prst="rect">
            <a:avLst/>
          </a:prstGeom>
        </p:spPr>
      </p:pic>
      <p:sp>
        <p:nvSpPr>
          <p:cNvPr id="9" name="Rounded Rectangle 8"/>
          <p:cNvSpPr/>
          <p:nvPr/>
        </p:nvSpPr>
        <p:spPr>
          <a:xfrm>
            <a:off x="7406640" y="3840480"/>
            <a:ext cx="4023360" cy="1645920"/>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a:lstStyle/>
          <a:p>
            <a:pPr algn="ctr">
              <a:defRPr sz="1300" b="1">
                <a:solidFill>
                  <a:srgbClr val="FBBF24"/>
                </a:solidFill>
              </a:defRPr>
            </a:pPr>
            <a:r>
              <a:t>🎯 The Job-Readiness Engine</a:t>
            </a:r>
          </a:p>
          <a:p>
            <a:pPr>
              <a:spcBef>
                <a:spcPts val="400"/>
              </a:spcBef>
              <a:defRPr sz="1200">
                <a:solidFill>
                  <a:srgbClr val="94A3B8"/>
                </a:solidFill>
              </a:defRPr>
            </a:pPr>
            <a:r>
              <a:t>Instructor: R.K. SKILLFORGE</a:t>
            </a:r>
            <a:br/>
            <a:r>
              <a:t>Outcome: High-Impact Tech Employment</a:t>
            </a:r>
            <a:br/>
            <a:r>
              <a:t>Curriculum: Complete 5-Module Series</a:t>
            </a:r>
          </a:p>
        </p:txBody>
      </p:sp>
      <p:sp>
        <p:nvSpPr>
          <p:cNvPr id="10" name="Rounded Rectangle 9"/>
          <p:cNvSpPr/>
          <p:nvPr/>
        </p:nvSpPr>
        <p:spPr>
          <a:xfrm>
            <a:off x="1051560" y="4754880"/>
            <a:ext cx="6035040" cy="731520"/>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lIns="228600" tIns="137160"/>
          <a:lstStyle/>
          <a:p>
            <a:pPr algn="ctr">
              <a:defRPr sz="1200" b="1">
                <a:solidFill>
                  <a:srgbClr val="F8FAFC"/>
                </a:solidFill>
              </a:defRPr>
            </a:pPr>
            <a:r>
              <a:t>Produced &amp; Engineered by R.K. SKILLFORGE</a:t>
            </a:r>
          </a:p>
          <a:p>
            <a:pPr>
              <a:defRPr sz="1100">
                <a:solidFill>
                  <a:srgbClr val="94A3B8"/>
                </a:solidFill>
              </a:defRPr>
            </a:pPr>
            <a:r>
              <a:t>How to break through ATS filters, master technical interviews, and win top offers.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100" b="1">
                <a:solidFill>
                  <a:srgbClr val="2DD4BF"/>
                </a:solidFill>
              </a:defRPr>
            </a:pPr>
            <a:r>
              <a:t>R.K. SKILLFORGE   |   LESSON 4.1 • PREPARATION FOR JOB HUNTING</a:t>
            </a:r>
          </a:p>
        </p:txBody>
      </p:sp>
      <p:sp>
        <p:nvSpPr>
          <p:cNvPr id="4" name="TextBox 3"/>
          <p:cNvSpPr txBox="1"/>
          <p:nvPr/>
        </p:nvSpPr>
        <p:spPr>
          <a:xfrm>
            <a:off x="731520" y="658368"/>
            <a:ext cx="10698480" cy="685800"/>
          </a:xfrm>
          <a:prstGeom prst="rect">
            <a:avLst/>
          </a:prstGeom>
          <a:noFill/>
        </p:spPr>
        <p:txBody>
          <a:bodyPr wrap="square" lIns="0" rIns="0" tIns="0" bIns="0">
            <a:spAutoFit/>
          </a:bodyPr>
          <a:lstStyle/>
          <a:p>
            <a:pPr>
              <a:defRPr sz="2800" b="1">
                <a:solidFill>
                  <a:srgbClr val="F8FAFC"/>
                </a:solidFill>
              </a:defRPr>
            </a:pPr>
            <a:r>
              <a:t>The Reality of Tech Hiring: Why Most Applicants Fail</a:t>
            </a:r>
          </a:p>
        </p:txBody>
      </p:sp>
      <p:sp>
        <p:nvSpPr>
          <p:cNvPr id="5" name="Rectangle 4"/>
          <p:cNvSpPr/>
          <p:nvPr/>
        </p:nvSpPr>
        <p:spPr>
          <a:xfrm>
            <a:off x="731520" y="6263640"/>
            <a:ext cx="10728655" cy="18288"/>
          </a:xfrm>
          <a:prstGeom prst="rect">
            <a:avLst/>
          </a:prstGeom>
          <a:solidFill>
            <a:srgbClr val="273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27648"/>
            <a:ext cx="7315200" cy="320040"/>
          </a:xfrm>
          <a:prstGeom prst="rect">
            <a:avLst/>
          </a:prstGeom>
          <a:noFill/>
        </p:spPr>
        <p:txBody>
          <a:bodyPr wrap="none" lIns="0" rIns="0" tIns="0" bIns="0">
            <a:spAutoFit/>
          </a:bodyPr>
          <a:lstStyle/>
          <a:p>
            <a:pPr>
              <a:defRPr sz="1000">
                <a:solidFill>
                  <a:srgbClr val="94A3B8"/>
                </a:solidFill>
              </a:defRPr>
            </a:pPr>
            <a:r>
              <a:t>© R.K. SKILLFORGE  •  AI Mentor Masterclass Series</a:t>
            </a:r>
          </a:p>
        </p:txBody>
      </p:sp>
      <p:sp>
        <p:nvSpPr>
          <p:cNvPr id="7" name="TextBox 6"/>
          <p:cNvSpPr txBox="1"/>
          <p:nvPr/>
        </p:nvSpPr>
        <p:spPr>
          <a:xfrm>
            <a:off x="9601200" y="6327648"/>
            <a:ext cx="1828800" cy="320040"/>
          </a:xfrm>
          <a:prstGeom prst="rect">
            <a:avLst/>
          </a:prstGeom>
          <a:noFill/>
        </p:spPr>
        <p:txBody>
          <a:bodyPr wrap="none" lIns="0" rIns="0" tIns="0" bIns="0">
            <a:spAutoFit/>
          </a:bodyPr>
          <a:lstStyle/>
          <a:p>
            <a:pPr algn="r">
              <a:defRPr sz="1000">
                <a:solidFill>
                  <a:srgbClr val="94A3B8"/>
                </a:solidFill>
              </a:defRPr>
            </a:pPr>
            <a:r>
              <a:t>Slide 2</a:t>
            </a:r>
          </a:p>
        </p:txBody>
      </p:sp>
      <p:sp>
        <p:nvSpPr>
          <p:cNvPr id="8" name="TextBox 7"/>
          <p:cNvSpPr txBox="1"/>
          <p:nvPr/>
        </p:nvSpPr>
        <p:spPr>
          <a:xfrm>
            <a:off x="731520" y="1463040"/>
            <a:ext cx="10698480" cy="502920"/>
          </a:xfrm>
          <a:prstGeom prst="rect">
            <a:avLst/>
          </a:prstGeom>
          <a:noFill/>
        </p:spPr>
        <p:txBody>
          <a:bodyPr wrap="none">
            <a:spAutoFit/>
          </a:bodyPr>
          <a:lstStyle/>
          <a:p>
            <a:pPr>
              <a:defRPr sz="1700" i="1">
                <a:solidFill>
                  <a:srgbClr val="FBBF24"/>
                </a:solidFill>
              </a:defRPr>
            </a:pPr>
            <a:r>
              <a:t>Hiring managers don't hire courses or certificates. They hire people who reduce risk and solve problems.</a:t>
            </a:r>
          </a:p>
        </p:txBody>
      </p:sp>
      <p:sp>
        <p:nvSpPr>
          <p:cNvPr id="9" name="Rounded Rectangle 8"/>
          <p:cNvSpPr/>
          <p:nvPr/>
        </p:nvSpPr>
        <p:spPr>
          <a:xfrm>
            <a:off x="731520" y="2148840"/>
            <a:ext cx="3328416" cy="3474720"/>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320040"/>
          <a:lstStyle/>
          <a:p>
            <a:pPr algn="ctr">
              <a:defRPr sz="1700" b="1">
                <a:solidFill>
                  <a:srgbClr val="F8FAFC"/>
                </a:solidFill>
              </a:defRPr>
            </a:pPr>
            <a:r>
              <a:t>❌ The Certificate Collector</a:t>
            </a:r>
          </a:p>
          <a:p>
            <a:pPr>
              <a:spcBef>
                <a:spcPts val="300"/>
              </a:spcBef>
              <a:defRPr sz="1200" b="1">
                <a:solidFill>
                  <a:srgbClr val="F87171"/>
                </a:solidFill>
              </a:defRPr>
            </a:pPr>
            <a:r>
              <a:t>Paper Qualifications vs. Ability</a:t>
            </a:r>
          </a:p>
          <a:p>
            <a:pPr>
              <a:spcBef>
                <a:spcPts val="1400"/>
              </a:spcBef>
              <a:defRPr sz="1350">
                <a:solidFill>
                  <a:srgbClr val="E2E8F0"/>
                </a:solidFill>
              </a:defRPr>
            </a:pPr>
            <a:r>
              <a:t>Stacking 10 online course badges without a single deployed, non-tutorial project. In modern hiring, course certificates carry zero weight without verifiable code.</a:t>
            </a:r>
          </a:p>
        </p:txBody>
      </p:sp>
      <p:sp>
        <p:nvSpPr>
          <p:cNvPr id="10" name="Rounded Rectangle 9"/>
          <p:cNvSpPr/>
          <p:nvPr/>
        </p:nvSpPr>
        <p:spPr>
          <a:xfrm>
            <a:off x="4425696" y="2148840"/>
            <a:ext cx="3328416" cy="3474720"/>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320040"/>
          <a:lstStyle/>
          <a:p>
            <a:pPr algn="ctr">
              <a:defRPr sz="1700" b="1">
                <a:solidFill>
                  <a:srgbClr val="F8FAFC"/>
                </a:solidFill>
              </a:defRPr>
            </a:pPr>
            <a:r>
              <a:t>❌ The Resume Spray-and-Pray</a:t>
            </a:r>
          </a:p>
          <a:p>
            <a:pPr>
              <a:spcBef>
                <a:spcPts val="300"/>
              </a:spcBef>
              <a:defRPr sz="1200" b="1">
                <a:solidFill>
                  <a:srgbClr val="F87171"/>
                </a:solidFill>
              </a:defRPr>
            </a:pPr>
            <a:r>
              <a:t>The ATS Black Hole</a:t>
            </a:r>
          </a:p>
          <a:p>
            <a:pPr>
              <a:spcBef>
                <a:spcPts val="1400"/>
              </a:spcBef>
              <a:defRPr sz="1350">
                <a:solidFill>
                  <a:srgbClr val="E2E8F0"/>
                </a:solidFill>
              </a:defRPr>
            </a:pPr>
            <a:r>
              <a:t>Sending identical, generic resumes to 400 random postings on LinkedIn. You get filtered out by automated screening systems within 15 seconds.</a:t>
            </a:r>
          </a:p>
        </p:txBody>
      </p:sp>
      <p:sp>
        <p:nvSpPr>
          <p:cNvPr id="11" name="Rounded Rectangle 10"/>
          <p:cNvSpPr/>
          <p:nvPr/>
        </p:nvSpPr>
        <p:spPr>
          <a:xfrm>
            <a:off x="8119872" y="2148840"/>
            <a:ext cx="3328416" cy="3474720"/>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256032" rIns="256032" tIns="320040"/>
          <a:lstStyle/>
          <a:p>
            <a:pPr algn="ctr">
              <a:defRPr sz="1700" b="1">
                <a:solidFill>
                  <a:srgbClr val="F8FAFC"/>
                </a:solidFill>
              </a:defRPr>
            </a:pPr>
            <a:r>
              <a:t>❌ The LeetCode Memorizer</a:t>
            </a:r>
          </a:p>
          <a:p>
            <a:pPr>
              <a:spcBef>
                <a:spcPts val="300"/>
              </a:spcBef>
              <a:defRPr sz="1200" b="1">
                <a:solidFill>
                  <a:srgbClr val="F87171"/>
                </a:solidFill>
              </a:defRPr>
            </a:pPr>
            <a:r>
              <a:t>Theory Without Production Sense</a:t>
            </a:r>
          </a:p>
          <a:p>
            <a:pPr>
              <a:spcBef>
                <a:spcPts val="1400"/>
              </a:spcBef>
              <a:defRPr sz="1350">
                <a:solidFill>
                  <a:srgbClr val="E2E8F0"/>
                </a:solidFill>
              </a:defRPr>
            </a:pPr>
            <a:r>
              <a:t>Memorizing algorithmic puzzles but freezing when asked: 'How would you debug a high CPU spike in a production database?' You need real-world production grit.</a:t>
            </a:r>
          </a:p>
        </p:txBody>
      </p:sp>
      <p:sp>
        <p:nvSpPr>
          <p:cNvPr id="12" name="TextBox 11"/>
          <p:cNvSpPr txBox="1"/>
          <p:nvPr/>
        </p:nvSpPr>
        <p:spPr>
          <a:xfrm>
            <a:off x="731520" y="5742432"/>
            <a:ext cx="10698480" cy="457200"/>
          </a:xfrm>
          <a:prstGeom prst="rect">
            <a:avLst/>
          </a:prstGeom>
          <a:noFill/>
        </p:spPr>
        <p:txBody>
          <a:bodyPr wrap="none">
            <a:spAutoFit/>
          </a:bodyPr>
          <a:lstStyle/>
          <a:p>
            <a:pPr>
              <a:defRPr sz="1400" b="1">
                <a:solidFill>
                  <a:srgbClr val="2DD4BF"/>
                </a:solidFill>
              </a:defRPr>
            </a:pPr>
            <a:r>
              <a:t>💡 The Formula: Target Role ➔ Deep Analysis ➔ Tri-Tier Skills ➔ Proof Projects ➔ Interview Mastery ➔ Offer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100" b="1">
                <a:solidFill>
                  <a:srgbClr val="2DD4BF"/>
                </a:solidFill>
              </a:defRPr>
            </a:pPr>
            <a:r>
              <a:t>R.K. SKILLFORGE   |   LESSON 4.1 • PREPARATION FOR JOB HUNTING</a:t>
            </a:r>
          </a:p>
        </p:txBody>
      </p:sp>
      <p:sp>
        <p:nvSpPr>
          <p:cNvPr id="4" name="TextBox 3"/>
          <p:cNvSpPr txBox="1"/>
          <p:nvPr/>
        </p:nvSpPr>
        <p:spPr>
          <a:xfrm>
            <a:off x="731520" y="658368"/>
            <a:ext cx="10698480" cy="685800"/>
          </a:xfrm>
          <a:prstGeom prst="rect">
            <a:avLst/>
          </a:prstGeom>
          <a:noFill/>
        </p:spPr>
        <p:txBody>
          <a:bodyPr wrap="square" lIns="0" rIns="0" tIns="0" bIns="0">
            <a:spAutoFit/>
          </a:bodyPr>
          <a:lstStyle/>
          <a:p>
            <a:pPr>
              <a:defRPr sz="2800" b="1">
                <a:solidFill>
                  <a:srgbClr val="F8FAFC"/>
                </a:solidFill>
              </a:defRPr>
            </a:pPr>
            <a:r>
              <a:t>The 11 Pillars of Job Readiness</a:t>
            </a:r>
          </a:p>
        </p:txBody>
      </p:sp>
      <p:sp>
        <p:nvSpPr>
          <p:cNvPr id="5" name="Rectangle 4"/>
          <p:cNvSpPr/>
          <p:nvPr/>
        </p:nvSpPr>
        <p:spPr>
          <a:xfrm>
            <a:off x="731520" y="6263640"/>
            <a:ext cx="10728655" cy="18288"/>
          </a:xfrm>
          <a:prstGeom prst="rect">
            <a:avLst/>
          </a:prstGeom>
          <a:solidFill>
            <a:srgbClr val="273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27648"/>
            <a:ext cx="7315200" cy="320040"/>
          </a:xfrm>
          <a:prstGeom prst="rect">
            <a:avLst/>
          </a:prstGeom>
          <a:noFill/>
        </p:spPr>
        <p:txBody>
          <a:bodyPr wrap="none" lIns="0" rIns="0" tIns="0" bIns="0">
            <a:spAutoFit/>
          </a:bodyPr>
          <a:lstStyle/>
          <a:p>
            <a:pPr>
              <a:defRPr sz="1000">
                <a:solidFill>
                  <a:srgbClr val="94A3B8"/>
                </a:solidFill>
              </a:defRPr>
            </a:pPr>
            <a:r>
              <a:t>© R.K. SKILLFORGE  •  AI Mentor Masterclass Series</a:t>
            </a:r>
          </a:p>
        </p:txBody>
      </p:sp>
      <p:sp>
        <p:nvSpPr>
          <p:cNvPr id="7" name="TextBox 6"/>
          <p:cNvSpPr txBox="1"/>
          <p:nvPr/>
        </p:nvSpPr>
        <p:spPr>
          <a:xfrm>
            <a:off x="9601200" y="6327648"/>
            <a:ext cx="1828800" cy="320040"/>
          </a:xfrm>
          <a:prstGeom prst="rect">
            <a:avLst/>
          </a:prstGeom>
          <a:noFill/>
        </p:spPr>
        <p:txBody>
          <a:bodyPr wrap="none" lIns="0" rIns="0" tIns="0" bIns="0">
            <a:spAutoFit/>
          </a:bodyPr>
          <a:lstStyle/>
          <a:p>
            <a:pPr algn="r">
              <a:defRPr sz="1000">
                <a:solidFill>
                  <a:srgbClr val="94A3B8"/>
                </a:solidFill>
              </a:defRPr>
            </a:pPr>
            <a:r>
              <a:t>Slide 3</a:t>
            </a:r>
          </a:p>
        </p:txBody>
      </p:sp>
      <p:sp>
        <p:nvSpPr>
          <p:cNvPr id="8" name="Rounded Rectangle 7"/>
          <p:cNvSpPr/>
          <p:nvPr/>
        </p:nvSpPr>
        <p:spPr>
          <a:xfrm>
            <a:off x="731520" y="1645920"/>
            <a:ext cx="1645920" cy="1965960"/>
          </a:xfrm>
          <a:prstGeom prst="roundRect">
            <a:avLst/>
          </a:prstGeom>
          <a:solidFill>
            <a:srgbClr val="141C2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82880"/>
          <a:lstStyle/>
          <a:p>
            <a:pPr algn="ctr">
              <a:defRPr sz="1350" b="1">
                <a:solidFill>
                  <a:srgbClr val="F8FAFC"/>
                </a:solidFill>
              </a:defRPr>
            </a:pPr>
            <a:r>
              <a:t>01. Target Role Selection</a:t>
            </a:r>
          </a:p>
          <a:p>
            <a:pPr>
              <a:spcBef>
                <a:spcPts val="800"/>
              </a:spcBef>
              <a:defRPr sz="1150">
                <a:solidFill>
                  <a:srgbClr val="94A3B8"/>
                </a:solidFill>
              </a:defRPr>
            </a:pPr>
            <a:r>
              <a:t>Dissect daily duties, KPIs &amp; organizational purpose.</a:t>
            </a:r>
          </a:p>
        </p:txBody>
      </p:sp>
      <p:sp>
        <p:nvSpPr>
          <p:cNvPr id="9" name="Rounded Rectangle 8"/>
          <p:cNvSpPr/>
          <p:nvPr/>
        </p:nvSpPr>
        <p:spPr>
          <a:xfrm>
            <a:off x="2542032" y="1645920"/>
            <a:ext cx="1645920" cy="1965960"/>
          </a:xfrm>
          <a:prstGeom prst="roundRect">
            <a:avLst/>
          </a:prstGeom>
          <a:solidFill>
            <a:srgbClr val="141C2B"/>
          </a:solidFill>
          <a:ln w="1905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82880"/>
          <a:lstStyle/>
          <a:p>
            <a:pPr algn="ctr">
              <a:defRPr sz="1350" b="1">
                <a:solidFill>
                  <a:srgbClr val="F8FAFC"/>
                </a:solidFill>
              </a:defRPr>
            </a:pPr>
            <a:r>
              <a:t>02. Skill Taxonomy</a:t>
            </a:r>
          </a:p>
          <a:p>
            <a:pPr>
              <a:spcBef>
                <a:spcPts val="800"/>
              </a:spcBef>
              <a:defRPr sz="1150">
                <a:solidFill>
                  <a:srgbClr val="94A3B8"/>
                </a:solidFill>
              </a:defRPr>
            </a:pPr>
            <a:r>
              <a:t>Classify fundamentals, technical tools &amp; domain nuance.</a:t>
            </a:r>
          </a:p>
        </p:txBody>
      </p:sp>
      <p:sp>
        <p:nvSpPr>
          <p:cNvPr id="10" name="Rounded Rectangle 9"/>
          <p:cNvSpPr/>
          <p:nvPr/>
        </p:nvSpPr>
        <p:spPr>
          <a:xfrm>
            <a:off x="4352544" y="1645920"/>
            <a:ext cx="1645920" cy="1965960"/>
          </a:xfrm>
          <a:prstGeom prst="roundRect">
            <a:avLst/>
          </a:prstGeom>
          <a:solidFill>
            <a:srgbClr val="141C2B"/>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82880"/>
          <a:lstStyle/>
          <a:p>
            <a:pPr algn="ctr">
              <a:defRPr sz="1350" b="1">
                <a:solidFill>
                  <a:srgbClr val="F8FAFC"/>
                </a:solidFill>
              </a:defRPr>
            </a:pPr>
            <a:r>
              <a:t>03. Tri-Tier Prioritization</a:t>
            </a:r>
          </a:p>
          <a:p>
            <a:pPr>
              <a:spcBef>
                <a:spcPts val="800"/>
              </a:spcBef>
              <a:defRPr sz="1150">
                <a:solidFill>
                  <a:srgbClr val="94A3B8"/>
                </a:solidFill>
              </a:defRPr>
            </a:pPr>
            <a:r>
              <a:t>Must Learn vs. Should Learn vs. Learn Later.</a:t>
            </a:r>
          </a:p>
        </p:txBody>
      </p:sp>
      <p:sp>
        <p:nvSpPr>
          <p:cNvPr id="11" name="Rounded Rectangle 10"/>
          <p:cNvSpPr/>
          <p:nvPr/>
        </p:nvSpPr>
        <p:spPr>
          <a:xfrm>
            <a:off x="6163056" y="1645920"/>
            <a:ext cx="1645920" cy="1965960"/>
          </a:xfrm>
          <a:prstGeom prst="roundRect">
            <a:avLst/>
          </a:prstGeom>
          <a:solidFill>
            <a:srgbClr val="141C2B"/>
          </a:solidFill>
          <a:ln w="1905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82880"/>
          <a:lstStyle/>
          <a:p>
            <a:pPr algn="ctr">
              <a:defRPr sz="1350" b="1">
                <a:solidFill>
                  <a:srgbClr val="F8FAFC"/>
                </a:solidFill>
              </a:defRPr>
            </a:pPr>
            <a:r>
              <a:t>04. Preparation Roadmap</a:t>
            </a:r>
          </a:p>
          <a:p>
            <a:pPr>
              <a:spcBef>
                <a:spcPts val="800"/>
              </a:spcBef>
              <a:defRPr sz="1150">
                <a:solidFill>
                  <a:srgbClr val="94A3B8"/>
                </a:solidFill>
              </a:defRPr>
            </a:pPr>
            <a:r>
              <a:t>Milestone-driven path from study to production readiness.</a:t>
            </a:r>
          </a:p>
        </p:txBody>
      </p:sp>
      <p:sp>
        <p:nvSpPr>
          <p:cNvPr id="12" name="Rounded Rectangle 11"/>
          <p:cNvSpPr/>
          <p:nvPr/>
        </p:nvSpPr>
        <p:spPr>
          <a:xfrm>
            <a:off x="7973568" y="1645920"/>
            <a:ext cx="1645920" cy="1965960"/>
          </a:xfrm>
          <a:prstGeom prst="roundRect">
            <a:avLst/>
          </a:prstGeom>
          <a:solidFill>
            <a:srgbClr val="141C2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82880"/>
          <a:lstStyle/>
          <a:p>
            <a:pPr algn="ctr">
              <a:defRPr sz="1350" b="1">
                <a:solidFill>
                  <a:srgbClr val="F8FAFC"/>
                </a:solidFill>
              </a:defRPr>
            </a:pPr>
            <a:r>
              <a:t>05. Proof of Work</a:t>
            </a:r>
          </a:p>
          <a:p>
            <a:pPr>
              <a:spcBef>
                <a:spcPts val="800"/>
              </a:spcBef>
              <a:defRPr sz="1150">
                <a:solidFill>
                  <a:srgbClr val="94A3B8"/>
                </a:solidFill>
              </a:defRPr>
            </a:pPr>
            <a:r>
              <a:t>Multi-component projects, open source &amp; architecture docs.</a:t>
            </a:r>
          </a:p>
        </p:txBody>
      </p:sp>
      <p:sp>
        <p:nvSpPr>
          <p:cNvPr id="13" name="Rounded Rectangle 12"/>
          <p:cNvSpPr/>
          <p:nvPr/>
        </p:nvSpPr>
        <p:spPr>
          <a:xfrm>
            <a:off x="9784080" y="1645920"/>
            <a:ext cx="1645920" cy="1965960"/>
          </a:xfrm>
          <a:prstGeom prst="roundRect">
            <a:avLst/>
          </a:prstGeom>
          <a:solidFill>
            <a:srgbClr val="141C2B"/>
          </a:solidFill>
          <a:ln w="1905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182880"/>
          <a:lstStyle/>
          <a:p>
            <a:pPr algn="ctr">
              <a:defRPr sz="1350" b="1">
                <a:solidFill>
                  <a:srgbClr val="F8FAFC"/>
                </a:solidFill>
              </a:defRPr>
            </a:pPr>
            <a:r>
              <a:t>06. Role Soft Skills</a:t>
            </a:r>
          </a:p>
          <a:p>
            <a:pPr>
              <a:spcBef>
                <a:spcPts val="800"/>
              </a:spcBef>
              <a:defRPr sz="1150">
                <a:solidFill>
                  <a:srgbClr val="94A3B8"/>
                </a:solidFill>
              </a:defRPr>
            </a:pPr>
            <a:r>
              <a:t>Technical communication, code reviews &amp; team ownership.</a:t>
            </a:r>
          </a:p>
        </p:txBody>
      </p:sp>
      <p:sp>
        <p:nvSpPr>
          <p:cNvPr id="14" name="Rounded Rectangle 13"/>
          <p:cNvSpPr/>
          <p:nvPr/>
        </p:nvSpPr>
        <p:spPr>
          <a:xfrm>
            <a:off x="731520" y="3931920"/>
            <a:ext cx="2011680" cy="1965960"/>
          </a:xfrm>
          <a:prstGeom prst="roundRect">
            <a:avLst/>
          </a:prstGeom>
          <a:solidFill>
            <a:srgbClr val="141C2B"/>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182880"/>
          <a:lstStyle/>
          <a:p>
            <a:pPr algn="ctr">
              <a:defRPr sz="1350" b="1">
                <a:solidFill>
                  <a:srgbClr val="F8FAFC"/>
                </a:solidFill>
              </a:defRPr>
            </a:pPr>
            <a:r>
              <a:t>07. Hiring Pipeline</a:t>
            </a:r>
          </a:p>
          <a:p>
            <a:pPr>
              <a:spcBef>
                <a:spcPts val="800"/>
              </a:spcBef>
              <a:defRPr sz="1150">
                <a:solidFill>
                  <a:srgbClr val="94A3B8"/>
                </a:solidFill>
              </a:defRPr>
            </a:pPr>
            <a:r>
              <a:t>ATS resumes, system design whiteboards &amp; STAR interviews.</a:t>
            </a:r>
          </a:p>
        </p:txBody>
      </p:sp>
      <p:sp>
        <p:nvSpPr>
          <p:cNvPr id="15" name="Rounded Rectangle 14"/>
          <p:cNvSpPr/>
          <p:nvPr/>
        </p:nvSpPr>
        <p:spPr>
          <a:xfrm>
            <a:off x="2907792" y="3931920"/>
            <a:ext cx="2011680" cy="1965960"/>
          </a:xfrm>
          <a:prstGeom prst="roundRect">
            <a:avLst/>
          </a:prstGeom>
          <a:solidFill>
            <a:srgbClr val="141C2B"/>
          </a:solidFill>
          <a:ln w="1905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182880"/>
          <a:lstStyle/>
          <a:p>
            <a:pPr algn="ctr">
              <a:defRPr sz="1350" b="1">
                <a:solidFill>
                  <a:srgbClr val="F8FAFC"/>
                </a:solidFill>
              </a:defRPr>
            </a:pPr>
            <a:r>
              <a:t>08. Job-Ready Audit</a:t>
            </a:r>
          </a:p>
          <a:p>
            <a:pPr>
              <a:spcBef>
                <a:spcPts val="800"/>
              </a:spcBef>
              <a:defRPr sz="1150">
                <a:solidFill>
                  <a:srgbClr val="94A3B8"/>
                </a:solidFill>
              </a:defRPr>
            </a:pPr>
            <a:r>
              <a:t>Honest scoring (/10) exposing blind spots before applying.</a:t>
            </a:r>
          </a:p>
        </p:txBody>
      </p:sp>
      <p:sp>
        <p:nvSpPr>
          <p:cNvPr id="16" name="Rounded Rectangle 15"/>
          <p:cNvSpPr/>
          <p:nvPr/>
        </p:nvSpPr>
        <p:spPr>
          <a:xfrm>
            <a:off x="5084064" y="3931920"/>
            <a:ext cx="2011680" cy="1965960"/>
          </a:xfrm>
          <a:prstGeom prst="roundRect">
            <a:avLst/>
          </a:prstGeom>
          <a:solidFill>
            <a:srgbClr val="141C2B"/>
          </a:solidFill>
          <a:ln w="1905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182880"/>
          <a:lstStyle/>
          <a:p>
            <a:pPr algn="ctr">
              <a:defRPr sz="1350" b="1">
                <a:solidFill>
                  <a:srgbClr val="F8FAFC"/>
                </a:solidFill>
              </a:defRPr>
            </a:pPr>
            <a:r>
              <a:t>09. Reality Check</a:t>
            </a:r>
          </a:p>
          <a:p>
            <a:pPr>
              <a:spcBef>
                <a:spcPts val="800"/>
              </a:spcBef>
              <a:defRPr sz="1150">
                <a:solidFill>
                  <a:srgbClr val="94A3B8"/>
                </a:solidFill>
              </a:defRPr>
            </a:pPr>
            <a:r>
              <a:t>Roadmaps != guaranteed jobs. Iteration is mandatory.</a:t>
            </a:r>
          </a:p>
        </p:txBody>
      </p:sp>
      <p:sp>
        <p:nvSpPr>
          <p:cNvPr id="17" name="Rounded Rectangle 16"/>
          <p:cNvSpPr/>
          <p:nvPr/>
        </p:nvSpPr>
        <p:spPr>
          <a:xfrm>
            <a:off x="7260336" y="3931920"/>
            <a:ext cx="2011680" cy="1965960"/>
          </a:xfrm>
          <a:prstGeom prst="roundRect">
            <a:avLst/>
          </a:prstGeom>
          <a:solidFill>
            <a:srgbClr val="141C2B"/>
          </a:solidFill>
          <a:ln w="1905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182880"/>
          <a:lstStyle/>
          <a:p>
            <a:pPr algn="ctr">
              <a:defRPr sz="1350" b="1">
                <a:solidFill>
                  <a:srgbClr val="F8FAFC"/>
                </a:solidFill>
              </a:defRPr>
            </a:pPr>
            <a:r>
              <a:t>10. Zero Hallucinations</a:t>
            </a:r>
          </a:p>
          <a:p>
            <a:pPr>
              <a:spcBef>
                <a:spcPts val="800"/>
              </a:spcBef>
              <a:defRPr sz="1150">
                <a:solidFill>
                  <a:srgbClr val="94A3B8"/>
                </a:solidFill>
              </a:defRPr>
            </a:pPr>
            <a:r>
              <a:t>No fake requirements or fabricated compensation data.</a:t>
            </a:r>
          </a:p>
        </p:txBody>
      </p:sp>
      <p:sp>
        <p:nvSpPr>
          <p:cNvPr id="18" name="Rounded Rectangle 17"/>
          <p:cNvSpPr/>
          <p:nvPr/>
        </p:nvSpPr>
        <p:spPr>
          <a:xfrm>
            <a:off x="9436608" y="3931920"/>
            <a:ext cx="2011680" cy="1965960"/>
          </a:xfrm>
          <a:prstGeom prst="roundRect">
            <a:avLst/>
          </a:prstGeom>
          <a:solidFill>
            <a:srgbClr val="141C2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182880"/>
          <a:lstStyle/>
          <a:p>
            <a:pPr algn="ctr">
              <a:defRPr sz="1350" b="1">
                <a:solidFill>
                  <a:srgbClr val="F8FAFC"/>
                </a:solidFill>
              </a:defRPr>
            </a:pPr>
            <a:r>
              <a:t>11. Job-Ready Candidate</a:t>
            </a:r>
          </a:p>
          <a:p>
            <a:pPr>
              <a:spcBef>
                <a:spcPts val="800"/>
              </a:spcBef>
              <a:defRPr sz="1150">
                <a:solidFill>
                  <a:srgbClr val="94A3B8"/>
                </a:solidFill>
              </a:defRPr>
            </a:pPr>
            <a:r>
              <a:t>The full end-to-end execution pipeline to offer letter.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100" b="1">
                <a:solidFill>
                  <a:srgbClr val="2DD4BF"/>
                </a:solidFill>
              </a:defRPr>
            </a:pPr>
            <a:r>
              <a:t>R.K. SKILLFORGE   |   LESSON 4.1 • PREPARATION FOR JOB HUNTING</a:t>
            </a:r>
          </a:p>
        </p:txBody>
      </p:sp>
      <p:sp>
        <p:nvSpPr>
          <p:cNvPr id="4" name="TextBox 3"/>
          <p:cNvSpPr txBox="1"/>
          <p:nvPr/>
        </p:nvSpPr>
        <p:spPr>
          <a:xfrm>
            <a:off x="731520" y="658368"/>
            <a:ext cx="10698480" cy="685800"/>
          </a:xfrm>
          <a:prstGeom prst="rect">
            <a:avLst/>
          </a:prstGeom>
          <a:noFill/>
        </p:spPr>
        <p:txBody>
          <a:bodyPr wrap="square" lIns="0" rIns="0" tIns="0" bIns="0">
            <a:spAutoFit/>
          </a:bodyPr>
          <a:lstStyle/>
          <a:p>
            <a:pPr>
              <a:defRPr sz="2800" b="1">
                <a:solidFill>
                  <a:srgbClr val="F8FAFC"/>
                </a:solidFill>
              </a:defRPr>
            </a:pPr>
            <a:r>
              <a:t>Pillars 1 &amp; 2: Role Dissection &amp; The 5 Skill Buckets</a:t>
            </a:r>
          </a:p>
        </p:txBody>
      </p:sp>
      <p:sp>
        <p:nvSpPr>
          <p:cNvPr id="5" name="Rectangle 4"/>
          <p:cNvSpPr/>
          <p:nvPr/>
        </p:nvSpPr>
        <p:spPr>
          <a:xfrm>
            <a:off x="731520" y="6263640"/>
            <a:ext cx="10728655" cy="18288"/>
          </a:xfrm>
          <a:prstGeom prst="rect">
            <a:avLst/>
          </a:prstGeom>
          <a:solidFill>
            <a:srgbClr val="273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27648"/>
            <a:ext cx="7315200" cy="320040"/>
          </a:xfrm>
          <a:prstGeom prst="rect">
            <a:avLst/>
          </a:prstGeom>
          <a:noFill/>
        </p:spPr>
        <p:txBody>
          <a:bodyPr wrap="none" lIns="0" rIns="0" tIns="0" bIns="0">
            <a:spAutoFit/>
          </a:bodyPr>
          <a:lstStyle/>
          <a:p>
            <a:pPr>
              <a:defRPr sz="1000">
                <a:solidFill>
                  <a:srgbClr val="94A3B8"/>
                </a:solidFill>
              </a:defRPr>
            </a:pPr>
            <a:r>
              <a:t>© R.K. SKILLFORGE  •  AI Mentor Masterclass Series</a:t>
            </a:r>
          </a:p>
        </p:txBody>
      </p:sp>
      <p:sp>
        <p:nvSpPr>
          <p:cNvPr id="7" name="TextBox 6"/>
          <p:cNvSpPr txBox="1"/>
          <p:nvPr/>
        </p:nvSpPr>
        <p:spPr>
          <a:xfrm>
            <a:off x="9601200" y="6327648"/>
            <a:ext cx="1828800" cy="320040"/>
          </a:xfrm>
          <a:prstGeom prst="rect">
            <a:avLst/>
          </a:prstGeom>
          <a:noFill/>
        </p:spPr>
        <p:txBody>
          <a:bodyPr wrap="none" lIns="0" rIns="0" tIns="0" bIns="0">
            <a:spAutoFit/>
          </a:bodyPr>
          <a:lstStyle/>
          <a:p>
            <a:pPr algn="r">
              <a:defRPr sz="1000">
                <a:solidFill>
                  <a:srgbClr val="94A3B8"/>
                </a:solidFill>
              </a:defRPr>
            </a:pPr>
            <a:r>
              <a:t>Slide 4</a:t>
            </a:r>
          </a:p>
        </p:txBody>
      </p:sp>
      <p:sp>
        <p:nvSpPr>
          <p:cNvPr id="8" name="Rounded Rectangle 7"/>
          <p:cNvSpPr/>
          <p:nvPr/>
        </p:nvSpPr>
        <p:spPr>
          <a:xfrm>
            <a:off x="731520" y="1645920"/>
            <a:ext cx="5120640" cy="4297680"/>
          </a:xfrm>
          <a:prstGeom prst="roundRect">
            <a:avLst/>
          </a:prstGeom>
          <a:solidFill>
            <a:srgbClr val="141C2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92608" tIns="274320"/>
          <a:lstStyle/>
          <a:p>
            <a:pPr algn="ctr">
              <a:defRPr sz="1200" b="1">
                <a:solidFill>
                  <a:srgbClr val="38BDF8"/>
                </a:solidFill>
              </a:defRPr>
            </a:pPr>
            <a:r>
              <a:t>🎯 PILLAR 01: DISSECT THE TARGET ROLE</a:t>
            </a:r>
          </a:p>
          <a:p>
            <a:pPr>
              <a:spcBef>
                <a:spcPts val="400"/>
              </a:spcBef>
              <a:defRPr sz="2000" b="1">
                <a:solidFill>
                  <a:srgbClr val="F8FAFC"/>
                </a:solidFill>
              </a:defRPr>
            </a:pPr>
            <a:r>
              <a:t>What Does The Role Actually Do?</a:t>
            </a:r>
          </a:p>
          <a:p>
            <a:pPr>
              <a:spcBef>
                <a:spcPts val="1000"/>
              </a:spcBef>
              <a:defRPr sz="1350" b="1">
                <a:solidFill>
                  <a:srgbClr val="2DD4BF"/>
                </a:solidFill>
              </a:defRPr>
            </a:pPr>
            <a:r>
              <a:t>• Why Does The Role Exist?:</a:t>
            </a:r>
          </a:p>
          <a:p>
            <a:pPr>
              <a:spcBef>
                <a:spcPts val="200"/>
              </a:spcBef>
              <a:defRPr sz="1200">
                <a:solidFill>
                  <a:srgbClr val="E2E8F0"/>
                </a:solidFill>
              </a:defRPr>
            </a:pPr>
            <a:r>
              <a:t>What business objective does this position serve? (e.g. reducing infrastructure latency, automating pipeline deployments).</a:t>
            </a:r>
          </a:p>
          <a:p>
            <a:pPr>
              <a:spcBef>
                <a:spcPts val="1000"/>
              </a:spcBef>
              <a:defRPr sz="1350" b="1">
                <a:solidFill>
                  <a:srgbClr val="2DD4BF"/>
                </a:solidFill>
              </a:defRPr>
            </a:pPr>
            <a:r>
              <a:t>• The Daily 10 AM Reality:</a:t>
            </a:r>
          </a:p>
          <a:p>
            <a:pPr>
              <a:spcBef>
                <a:spcPts val="200"/>
              </a:spcBef>
              <a:defRPr sz="1200">
                <a:solidFill>
                  <a:srgbClr val="E2E8F0"/>
                </a:solidFill>
              </a:defRPr>
            </a:pPr>
            <a:r>
              <a:t>What does an engineer do on a typical morning? Standups, code reviews, writing migrations, diagnosing logs.</a:t>
            </a:r>
          </a:p>
          <a:p>
            <a:pPr>
              <a:spcBef>
                <a:spcPts val="1000"/>
              </a:spcBef>
              <a:defRPr sz="1350" b="1">
                <a:solidFill>
                  <a:srgbClr val="2DD4BF"/>
                </a:solidFill>
              </a:defRPr>
            </a:pPr>
            <a:r>
              <a:t>• Cross-Functional Partners:</a:t>
            </a:r>
          </a:p>
          <a:p>
            <a:pPr>
              <a:spcBef>
                <a:spcPts val="200"/>
              </a:spcBef>
              <a:defRPr sz="1200">
                <a:solidFill>
                  <a:srgbClr val="E2E8F0"/>
                </a:solidFill>
              </a:defRPr>
            </a:pPr>
            <a:r>
              <a:t>Who does this person interact with daily? Product managers, QA leads, security teams, UI designers.</a:t>
            </a:r>
          </a:p>
          <a:p>
            <a:pPr>
              <a:spcBef>
                <a:spcPts val="1000"/>
              </a:spcBef>
              <a:defRPr sz="1350" b="1">
                <a:solidFill>
                  <a:srgbClr val="2DD4BF"/>
                </a:solidFill>
              </a:defRPr>
            </a:pPr>
            <a:r>
              <a:t>• Hiring Manager KPIs:</a:t>
            </a:r>
          </a:p>
          <a:p>
            <a:pPr>
              <a:spcBef>
                <a:spcPts val="200"/>
              </a:spcBef>
              <a:defRPr sz="1200">
                <a:solidFill>
                  <a:srgbClr val="E2E8F0"/>
                </a:solidFill>
              </a:defRPr>
            </a:pPr>
            <a:r>
              <a:t>What metrics determine whether this hire was a success after 90 days? (Delivery velocity, system reliability).</a:t>
            </a:r>
          </a:p>
        </p:txBody>
      </p:sp>
      <p:sp>
        <p:nvSpPr>
          <p:cNvPr id="9" name="Rounded Rectangle 8"/>
          <p:cNvSpPr/>
          <p:nvPr/>
        </p:nvSpPr>
        <p:spPr>
          <a:xfrm>
            <a:off x="6309360" y="1645920"/>
            <a:ext cx="5120640" cy="4297680"/>
          </a:xfrm>
          <a:prstGeom prst="roundRect">
            <a:avLst/>
          </a:prstGeom>
          <a:solidFill>
            <a:srgbClr val="141C2B"/>
          </a:solidFill>
          <a:ln w="1905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wrap="square" lIns="292608" tIns="274320"/>
          <a:lstStyle/>
          <a:p>
            <a:pPr algn="ctr">
              <a:defRPr sz="1200" b="1">
                <a:solidFill>
                  <a:srgbClr val="2DD4BF"/>
                </a:solidFill>
              </a:defRPr>
            </a:pPr>
            <a:r>
              <a:t>📊 PILLAR 02: SKILL TAXONOMY</a:t>
            </a:r>
          </a:p>
          <a:p>
            <a:pPr>
              <a:spcBef>
                <a:spcPts val="400"/>
              </a:spcBef>
              <a:defRPr sz="2000" b="1">
                <a:solidFill>
                  <a:srgbClr val="F8FAFC"/>
                </a:solidFill>
              </a:defRPr>
            </a:pPr>
            <a:r>
              <a:t>The 5 Competency Buckets</a:t>
            </a:r>
          </a:p>
          <a:p>
            <a:pPr>
              <a:spcBef>
                <a:spcPts val="800"/>
              </a:spcBef>
              <a:defRPr sz="1350" b="1">
                <a:solidFill>
                  <a:srgbClr val="FBBF24"/>
                </a:solidFill>
              </a:defRPr>
            </a:pPr>
            <a:r>
              <a:t>1. Timeless Fundamentals:</a:t>
            </a:r>
          </a:p>
          <a:p>
            <a:pPr>
              <a:spcBef>
                <a:spcPts val="200"/>
              </a:spcBef>
              <a:defRPr sz="1200">
                <a:solidFill>
                  <a:srgbClr val="E2E8F0"/>
                </a:solidFill>
              </a:defRPr>
            </a:pPr>
            <a:r>
              <a:t>Data structures, memory models, networking protocols, OS mechanics.</a:t>
            </a:r>
          </a:p>
          <a:p>
            <a:pPr>
              <a:spcBef>
                <a:spcPts val="800"/>
              </a:spcBef>
              <a:defRPr sz="1350" b="1">
                <a:solidFill>
                  <a:srgbClr val="FBBF24"/>
                </a:solidFill>
              </a:defRPr>
            </a:pPr>
            <a:r>
              <a:t>2. Practical Implementation:</a:t>
            </a:r>
          </a:p>
          <a:p>
            <a:pPr>
              <a:spcBef>
                <a:spcPts val="200"/>
              </a:spcBef>
              <a:defRPr sz="1200">
                <a:solidFill>
                  <a:srgbClr val="E2E8F0"/>
                </a:solidFill>
              </a:defRPr>
            </a:pPr>
            <a:r>
              <a:t>Writing modular, test-driven production code and handling edge cases.</a:t>
            </a:r>
          </a:p>
          <a:p>
            <a:pPr>
              <a:spcBef>
                <a:spcPts val="800"/>
              </a:spcBef>
              <a:defRPr sz="1350" b="1">
                <a:solidFill>
                  <a:srgbClr val="FBBF24"/>
                </a:solidFill>
              </a:defRPr>
            </a:pPr>
            <a:r>
              <a:t>3. Tools &amp; Ecosystem:</a:t>
            </a:r>
          </a:p>
          <a:p>
            <a:pPr>
              <a:spcBef>
                <a:spcPts val="200"/>
              </a:spcBef>
              <a:defRPr sz="1200">
                <a:solidFill>
                  <a:srgbClr val="E2E8F0"/>
                </a:solidFill>
              </a:defRPr>
            </a:pPr>
            <a:r>
              <a:t>Git, Docker, CI/CD pipelines, cloud infrastructure (AWS/GCP).</a:t>
            </a:r>
          </a:p>
          <a:p>
            <a:pPr>
              <a:spcBef>
                <a:spcPts val="800"/>
              </a:spcBef>
              <a:defRPr sz="1350" b="1">
                <a:solidFill>
                  <a:srgbClr val="FBBF24"/>
                </a:solidFill>
              </a:defRPr>
            </a:pPr>
            <a:r>
              <a:t>4. Domain Knowledge:</a:t>
            </a:r>
          </a:p>
          <a:p>
            <a:pPr>
              <a:spcBef>
                <a:spcPts val="200"/>
              </a:spcBef>
              <a:defRPr sz="1200">
                <a:solidFill>
                  <a:srgbClr val="E2E8F0"/>
                </a:solidFill>
              </a:defRPr>
            </a:pPr>
            <a:r>
              <a:t>Fintech compliance, healthcare privacy, distributed systems throughput.</a:t>
            </a:r>
          </a:p>
          <a:p>
            <a:pPr>
              <a:spcBef>
                <a:spcPts val="800"/>
              </a:spcBef>
              <a:defRPr sz="1350" b="1">
                <a:solidFill>
                  <a:srgbClr val="FBBF24"/>
                </a:solidFill>
              </a:defRPr>
            </a:pPr>
            <a:r>
              <a:t>5. Collaboration:</a:t>
            </a:r>
          </a:p>
          <a:p>
            <a:pPr>
              <a:spcBef>
                <a:spcPts val="200"/>
              </a:spcBef>
              <a:defRPr sz="1200">
                <a:solidFill>
                  <a:srgbClr val="E2E8F0"/>
                </a:solidFill>
              </a:defRPr>
            </a:pPr>
            <a:r>
              <a:t>Effective pull requests, async written updates, peer mentoring.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100" b="1">
                <a:solidFill>
                  <a:srgbClr val="2DD4BF"/>
                </a:solidFill>
              </a:defRPr>
            </a:pPr>
            <a:r>
              <a:t>R.K. SKILLFORGE   |   LESSON 4.1 • PREPARATION FOR JOB HUNTING</a:t>
            </a:r>
          </a:p>
        </p:txBody>
      </p:sp>
      <p:sp>
        <p:nvSpPr>
          <p:cNvPr id="4" name="TextBox 3"/>
          <p:cNvSpPr txBox="1"/>
          <p:nvPr/>
        </p:nvSpPr>
        <p:spPr>
          <a:xfrm>
            <a:off x="731520" y="658368"/>
            <a:ext cx="10698480" cy="685800"/>
          </a:xfrm>
          <a:prstGeom prst="rect">
            <a:avLst/>
          </a:prstGeom>
          <a:noFill/>
        </p:spPr>
        <p:txBody>
          <a:bodyPr wrap="square" lIns="0" rIns="0" tIns="0" bIns="0">
            <a:spAutoFit/>
          </a:bodyPr>
          <a:lstStyle/>
          <a:p>
            <a:pPr>
              <a:defRPr sz="2800" b="1">
                <a:solidFill>
                  <a:srgbClr val="F8FAFC"/>
                </a:solidFill>
              </a:defRPr>
            </a:pPr>
            <a:r>
              <a:t>Pillars 3 &amp; 4: The Tri-Tier System &amp; Preparation Roadmap</a:t>
            </a:r>
          </a:p>
        </p:txBody>
      </p:sp>
      <p:sp>
        <p:nvSpPr>
          <p:cNvPr id="5" name="Rectangle 4"/>
          <p:cNvSpPr/>
          <p:nvPr/>
        </p:nvSpPr>
        <p:spPr>
          <a:xfrm>
            <a:off x="731520" y="6263640"/>
            <a:ext cx="10728655" cy="18288"/>
          </a:xfrm>
          <a:prstGeom prst="rect">
            <a:avLst/>
          </a:prstGeom>
          <a:solidFill>
            <a:srgbClr val="273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27648"/>
            <a:ext cx="7315200" cy="320040"/>
          </a:xfrm>
          <a:prstGeom prst="rect">
            <a:avLst/>
          </a:prstGeom>
          <a:noFill/>
        </p:spPr>
        <p:txBody>
          <a:bodyPr wrap="none" lIns="0" rIns="0" tIns="0" bIns="0">
            <a:spAutoFit/>
          </a:bodyPr>
          <a:lstStyle/>
          <a:p>
            <a:pPr>
              <a:defRPr sz="1000">
                <a:solidFill>
                  <a:srgbClr val="94A3B8"/>
                </a:solidFill>
              </a:defRPr>
            </a:pPr>
            <a:r>
              <a:t>© R.K. SKILLFORGE  •  AI Mentor Masterclass Series</a:t>
            </a:r>
          </a:p>
        </p:txBody>
      </p:sp>
      <p:sp>
        <p:nvSpPr>
          <p:cNvPr id="7" name="TextBox 6"/>
          <p:cNvSpPr txBox="1"/>
          <p:nvPr/>
        </p:nvSpPr>
        <p:spPr>
          <a:xfrm>
            <a:off x="9601200" y="6327648"/>
            <a:ext cx="1828800" cy="320040"/>
          </a:xfrm>
          <a:prstGeom prst="rect">
            <a:avLst/>
          </a:prstGeom>
          <a:noFill/>
        </p:spPr>
        <p:txBody>
          <a:bodyPr wrap="none" lIns="0" rIns="0" tIns="0" bIns="0">
            <a:spAutoFit/>
          </a:bodyPr>
          <a:lstStyle/>
          <a:p>
            <a:pPr algn="r">
              <a:defRPr sz="1000">
                <a:solidFill>
                  <a:srgbClr val="94A3B8"/>
                </a:solidFill>
              </a:defRPr>
            </a:pPr>
            <a:r>
              <a:t>Slide 5</a:t>
            </a:r>
          </a:p>
        </p:txBody>
      </p:sp>
      <p:sp>
        <p:nvSpPr>
          <p:cNvPr id="8" name="Rounded Rectangle 7"/>
          <p:cNvSpPr/>
          <p:nvPr/>
        </p:nvSpPr>
        <p:spPr>
          <a:xfrm>
            <a:off x="731520" y="1645920"/>
            <a:ext cx="5120640" cy="4297680"/>
          </a:xfrm>
          <a:prstGeom prst="roundRect">
            <a:avLst/>
          </a:prstGeom>
          <a:solidFill>
            <a:srgbClr val="141C2B"/>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292608" tIns="274320"/>
          <a:lstStyle/>
          <a:p>
            <a:pPr algn="ctr">
              <a:defRPr sz="1200" b="1">
                <a:solidFill>
                  <a:srgbClr val="FBBF24"/>
                </a:solidFill>
              </a:defRPr>
            </a:pPr>
            <a:r>
              <a:t>⚖️ PILLAR 03: THE TRI-TIER SYSTEM</a:t>
            </a:r>
          </a:p>
          <a:p>
            <a:pPr>
              <a:spcBef>
                <a:spcPts val="400"/>
              </a:spcBef>
              <a:defRPr sz="2000" b="1">
                <a:solidFill>
                  <a:srgbClr val="F8FAFC"/>
                </a:solidFill>
              </a:defRPr>
            </a:pPr>
            <a:r>
              <a:t>Don't Learn Everything At Once</a:t>
            </a:r>
          </a:p>
          <a:p>
            <a:pPr>
              <a:spcBef>
                <a:spcPts val="1200"/>
              </a:spcBef>
              <a:defRPr sz="1350" b="1">
                <a:solidFill>
                  <a:srgbClr val="F87171"/>
                </a:solidFill>
              </a:defRPr>
            </a:pPr>
            <a:r>
              <a:t>• TIER 1: MUST LEARN (Non-Negotiables)</a:t>
            </a:r>
          </a:p>
          <a:p>
            <a:pPr>
              <a:spcBef>
                <a:spcPts val="200"/>
              </a:spcBef>
              <a:defRPr sz="1250">
                <a:solidFill>
                  <a:srgbClr val="E2E8F0"/>
                </a:solidFill>
              </a:defRPr>
            </a:pPr>
            <a:r>
              <a:t>The core skills required to pass technical screening and perform on Day 1. Focus 80% of your initial energy here.</a:t>
            </a:r>
          </a:p>
          <a:p>
            <a:pPr>
              <a:spcBef>
                <a:spcPts val="1200"/>
              </a:spcBef>
              <a:defRPr sz="1350" b="1">
                <a:solidFill>
                  <a:srgbClr val="FBBF24"/>
                </a:solidFill>
              </a:defRPr>
            </a:pPr>
            <a:r>
              <a:t>• TIER 2: SHOULD LEARN (Differentiators)</a:t>
            </a:r>
          </a:p>
          <a:p>
            <a:pPr>
              <a:spcBef>
                <a:spcPts val="200"/>
              </a:spcBef>
              <a:defRPr sz="1250">
                <a:solidFill>
                  <a:srgbClr val="E2E8F0"/>
                </a:solidFill>
              </a:defRPr>
            </a:pPr>
            <a:r>
              <a:t>High-value skills that elevate your resume above 90% of applicants (e.g. automated integration testing, CI/CD).</a:t>
            </a:r>
          </a:p>
          <a:p>
            <a:pPr>
              <a:spcBef>
                <a:spcPts val="1200"/>
              </a:spcBef>
              <a:defRPr sz="1350" b="1">
                <a:solidFill>
                  <a:srgbClr val="2DD4BF"/>
                </a:solidFill>
              </a:defRPr>
            </a:pPr>
            <a:r>
              <a:t>• TIER 3: LEARN LATER (On The Job)</a:t>
            </a:r>
          </a:p>
          <a:p>
            <a:pPr>
              <a:spcBef>
                <a:spcPts val="200"/>
              </a:spcBef>
              <a:defRPr sz="1250">
                <a:solidFill>
                  <a:srgbClr val="E2E8F0"/>
                </a:solidFill>
              </a:defRPr>
            </a:pPr>
            <a:r>
              <a:t>Advanced edge-case tools or internal company frameworks. Stop stressing about these before getting hired!</a:t>
            </a:r>
          </a:p>
        </p:txBody>
      </p:sp>
      <p:sp>
        <p:nvSpPr>
          <p:cNvPr id="9" name="Rounded Rectangle 8"/>
          <p:cNvSpPr/>
          <p:nvPr/>
        </p:nvSpPr>
        <p:spPr>
          <a:xfrm>
            <a:off x="6309360" y="1645920"/>
            <a:ext cx="5120640" cy="4297680"/>
          </a:xfrm>
          <a:prstGeom prst="roundRect">
            <a:avLst/>
          </a:prstGeom>
          <a:solidFill>
            <a:srgbClr val="141C2B"/>
          </a:solidFill>
          <a:ln w="1905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wrap="square" lIns="292608" tIns="274320"/>
          <a:lstStyle/>
          <a:p>
            <a:pPr algn="ctr">
              <a:defRPr sz="1200" b="1">
                <a:solidFill>
                  <a:srgbClr val="A78BFA"/>
                </a:solidFill>
              </a:defRPr>
            </a:pPr>
            <a:r>
              <a:t>🗺️ PILLAR 04: PREPARATION ROADMAP</a:t>
            </a:r>
          </a:p>
          <a:p>
            <a:pPr>
              <a:spcBef>
                <a:spcPts val="400"/>
              </a:spcBef>
              <a:defRPr sz="2000" b="1">
                <a:solidFill>
                  <a:srgbClr val="F8FAFC"/>
                </a:solidFill>
              </a:defRPr>
            </a:pPr>
            <a:r>
              <a:t>7-Step Milestone Execution</a:t>
            </a:r>
          </a:p>
          <a:p>
            <a:pPr>
              <a:spcBef>
                <a:spcPts val="700"/>
              </a:spcBef>
              <a:defRPr sz="1250">
                <a:solidFill>
                  <a:srgbClr val="E2E8F0"/>
                </a:solidFill>
              </a:defRPr>
            </a:pPr>
            <a:r>
              <a:t>1. UNDERSTAND ➔ Deconstruct 10 live job postings for patterns</a:t>
            </a:r>
          </a:p>
          <a:p>
            <a:pPr>
              <a:spcBef>
                <a:spcPts val="700"/>
              </a:spcBef>
              <a:defRPr sz="1250">
                <a:solidFill>
                  <a:srgbClr val="E2E8F0"/>
                </a:solidFill>
              </a:defRPr>
            </a:pPr>
            <a:r>
              <a:t>2. LEARN ➔ Master Tier 1 core principles via primary docs</a:t>
            </a:r>
          </a:p>
          <a:p>
            <a:pPr>
              <a:spcBef>
                <a:spcPts val="700"/>
              </a:spcBef>
              <a:defRPr sz="1250">
                <a:solidFill>
                  <a:srgbClr val="E2E8F0"/>
                </a:solidFill>
              </a:defRPr>
            </a:pPr>
            <a:r>
              <a:t>3. PRACTICE ➔ Solve targeted exercises &amp; debug live code</a:t>
            </a:r>
          </a:p>
          <a:p>
            <a:pPr>
              <a:spcBef>
                <a:spcPts val="700"/>
              </a:spcBef>
              <a:defRPr sz="1250">
                <a:solidFill>
                  <a:srgbClr val="E2E8F0"/>
                </a:solidFill>
              </a:defRPr>
            </a:pPr>
            <a:r>
              <a:t>4. BUILD ➔ Engineer 2 multi-component production projects</a:t>
            </a:r>
          </a:p>
          <a:p>
            <a:pPr>
              <a:spcBef>
                <a:spcPts val="700"/>
              </a:spcBef>
              <a:defRPr sz="1250">
                <a:solidFill>
                  <a:srgbClr val="E2E8F0"/>
                </a:solidFill>
              </a:defRPr>
            </a:pPr>
            <a:r>
              <a:t>5. IMPROVE ➔ Add unit tests, performance profiling &amp; CI/CD</a:t>
            </a:r>
          </a:p>
          <a:p>
            <a:pPr>
              <a:spcBef>
                <a:spcPts val="700"/>
              </a:spcBef>
              <a:defRPr sz="1250">
                <a:solidFill>
                  <a:srgbClr val="E2E8F0"/>
                </a:solidFill>
              </a:defRPr>
            </a:pPr>
            <a:r>
              <a:t>6. PREPARE ➔ Conduct mock interviews &amp; ATS resume tuning</a:t>
            </a:r>
          </a:p>
          <a:p>
            <a:pPr>
              <a:spcBef>
                <a:spcPts val="700"/>
              </a:spcBef>
              <a:defRPr sz="1250">
                <a:solidFill>
                  <a:srgbClr val="E2E8F0"/>
                </a:solidFill>
              </a:defRPr>
            </a:pPr>
            <a:r>
              <a:t>7. APPLY ➔ Strategic targeted applications with warm intros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100" b="1">
                <a:solidFill>
                  <a:srgbClr val="2DD4BF"/>
                </a:solidFill>
              </a:defRPr>
            </a:pPr>
            <a:r>
              <a:t>R.K. SKILLFORGE   |   LESSON 4.1 • PREPARATION FOR JOB HUNTING</a:t>
            </a:r>
          </a:p>
        </p:txBody>
      </p:sp>
      <p:sp>
        <p:nvSpPr>
          <p:cNvPr id="4" name="TextBox 3"/>
          <p:cNvSpPr txBox="1"/>
          <p:nvPr/>
        </p:nvSpPr>
        <p:spPr>
          <a:xfrm>
            <a:off x="731520" y="658368"/>
            <a:ext cx="10698480" cy="685800"/>
          </a:xfrm>
          <a:prstGeom prst="rect">
            <a:avLst/>
          </a:prstGeom>
          <a:noFill/>
        </p:spPr>
        <p:txBody>
          <a:bodyPr wrap="square" lIns="0" rIns="0" tIns="0" bIns="0">
            <a:spAutoFit/>
          </a:bodyPr>
          <a:lstStyle/>
          <a:p>
            <a:pPr>
              <a:defRPr sz="2800" b="1">
                <a:solidFill>
                  <a:srgbClr val="F8FAFC"/>
                </a:solidFill>
              </a:defRPr>
            </a:pPr>
            <a:r>
              <a:t>Pillars 5 &amp; 6: Undeniable Proof of Work &amp; Technical Soft Skills</a:t>
            </a:r>
          </a:p>
        </p:txBody>
      </p:sp>
      <p:sp>
        <p:nvSpPr>
          <p:cNvPr id="5" name="Rectangle 4"/>
          <p:cNvSpPr/>
          <p:nvPr/>
        </p:nvSpPr>
        <p:spPr>
          <a:xfrm>
            <a:off x="731520" y="6263640"/>
            <a:ext cx="10728655" cy="18288"/>
          </a:xfrm>
          <a:prstGeom prst="rect">
            <a:avLst/>
          </a:prstGeom>
          <a:solidFill>
            <a:srgbClr val="273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27648"/>
            <a:ext cx="7315200" cy="320040"/>
          </a:xfrm>
          <a:prstGeom prst="rect">
            <a:avLst/>
          </a:prstGeom>
          <a:noFill/>
        </p:spPr>
        <p:txBody>
          <a:bodyPr wrap="none" lIns="0" rIns="0" tIns="0" bIns="0">
            <a:spAutoFit/>
          </a:bodyPr>
          <a:lstStyle/>
          <a:p>
            <a:pPr>
              <a:defRPr sz="1000">
                <a:solidFill>
                  <a:srgbClr val="94A3B8"/>
                </a:solidFill>
              </a:defRPr>
            </a:pPr>
            <a:r>
              <a:t>© R.K. SKILLFORGE  •  AI Mentor Masterclass Series</a:t>
            </a:r>
          </a:p>
        </p:txBody>
      </p:sp>
      <p:sp>
        <p:nvSpPr>
          <p:cNvPr id="7" name="TextBox 6"/>
          <p:cNvSpPr txBox="1"/>
          <p:nvPr/>
        </p:nvSpPr>
        <p:spPr>
          <a:xfrm>
            <a:off x="9601200" y="6327648"/>
            <a:ext cx="1828800" cy="320040"/>
          </a:xfrm>
          <a:prstGeom prst="rect">
            <a:avLst/>
          </a:prstGeom>
          <a:noFill/>
        </p:spPr>
        <p:txBody>
          <a:bodyPr wrap="none" lIns="0" rIns="0" tIns="0" bIns="0">
            <a:spAutoFit/>
          </a:bodyPr>
          <a:lstStyle/>
          <a:p>
            <a:pPr algn="r">
              <a:defRPr sz="1000">
                <a:solidFill>
                  <a:srgbClr val="94A3B8"/>
                </a:solidFill>
              </a:defRPr>
            </a:pPr>
            <a:r>
              <a:t>Slide 6</a:t>
            </a:r>
          </a:p>
        </p:txBody>
      </p:sp>
      <p:sp>
        <p:nvSpPr>
          <p:cNvPr id="8" name="Rounded Rectangle 7"/>
          <p:cNvSpPr/>
          <p:nvPr/>
        </p:nvSpPr>
        <p:spPr>
          <a:xfrm>
            <a:off x="731520" y="1645920"/>
            <a:ext cx="5120640" cy="4297680"/>
          </a:xfrm>
          <a:prstGeom prst="roundRect">
            <a:avLst/>
          </a:prstGeom>
          <a:solidFill>
            <a:srgbClr val="141C2B"/>
          </a:solidFill>
          <a:ln w="1905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wrap="square" lIns="292608" tIns="274320"/>
          <a:lstStyle/>
          <a:p>
            <a:pPr algn="ctr">
              <a:defRPr sz="1200" b="1">
                <a:solidFill>
                  <a:srgbClr val="2DD4BF"/>
                </a:solidFill>
              </a:defRPr>
            </a:pPr>
            <a:r>
              <a:t>🛠️ PILLAR 05: PRACTICAL PROOF OF WORK</a:t>
            </a:r>
          </a:p>
          <a:p>
            <a:pPr>
              <a:spcBef>
                <a:spcPts val="400"/>
              </a:spcBef>
              <a:defRPr sz="2000" b="1">
                <a:solidFill>
                  <a:srgbClr val="F8FAFC"/>
                </a:solidFill>
              </a:defRPr>
            </a:pPr>
            <a:r>
              <a:t>Proof Beats Certificates</a:t>
            </a:r>
          </a:p>
          <a:p>
            <a:pPr>
              <a:spcBef>
                <a:spcPts val="1000"/>
              </a:spcBef>
              <a:defRPr sz="1350" b="1">
                <a:solidFill>
                  <a:srgbClr val="FBBF24"/>
                </a:solidFill>
              </a:defRPr>
            </a:pPr>
            <a:r>
              <a:t>• Multi-Component Architecture:</a:t>
            </a:r>
          </a:p>
          <a:p>
            <a:pPr>
              <a:spcBef>
                <a:spcPts val="200"/>
              </a:spcBef>
              <a:defRPr sz="1200">
                <a:solidFill>
                  <a:srgbClr val="E2E8F0"/>
                </a:solidFill>
              </a:defRPr>
            </a:pPr>
            <a:r>
              <a:t>Projects featuring authentication, database migrations, caching, asynchronous queues, and real API integrations.</a:t>
            </a:r>
          </a:p>
          <a:p>
            <a:pPr>
              <a:spcBef>
                <a:spcPts val="1000"/>
              </a:spcBef>
              <a:defRPr sz="1350" b="1">
                <a:solidFill>
                  <a:srgbClr val="FBBF24"/>
                </a:solidFill>
              </a:defRPr>
            </a:pPr>
            <a:r>
              <a:t>• Open-Source Contributions:</a:t>
            </a:r>
          </a:p>
          <a:p>
            <a:pPr>
              <a:spcBef>
                <a:spcPts val="200"/>
              </a:spcBef>
              <a:defRPr sz="1200">
                <a:solidFill>
                  <a:srgbClr val="E2E8F0"/>
                </a:solidFill>
              </a:defRPr>
            </a:pPr>
            <a:r>
              <a:t>Merged pull requests into established tools demonstrating clean Git hygiene and professional review handling.</a:t>
            </a:r>
          </a:p>
          <a:p>
            <a:pPr>
              <a:spcBef>
                <a:spcPts val="1000"/>
              </a:spcBef>
              <a:defRPr sz="1350" b="1">
                <a:solidFill>
                  <a:srgbClr val="FBBF24"/>
                </a:solidFill>
              </a:defRPr>
            </a:pPr>
            <a:r>
              <a:t>• Architectural Decision Records (ADRs):</a:t>
            </a:r>
          </a:p>
          <a:p>
            <a:pPr>
              <a:spcBef>
                <a:spcPts val="200"/>
              </a:spcBef>
              <a:defRPr sz="1200">
                <a:solidFill>
                  <a:srgbClr val="E2E8F0"/>
                </a:solidFill>
              </a:defRPr>
            </a:pPr>
            <a:r>
              <a:t>Markdown docs explaining WHY you picked PostgreSQL over MongoDB, or Redis over Memcached.</a:t>
            </a:r>
          </a:p>
          <a:p>
            <a:pPr>
              <a:spcBef>
                <a:spcPts val="1000"/>
              </a:spcBef>
              <a:defRPr sz="1350" b="1">
                <a:solidFill>
                  <a:srgbClr val="FBBF24"/>
                </a:solidFill>
              </a:defRPr>
            </a:pPr>
            <a:r>
              <a:t>• Debugging Post-Mortems:</a:t>
            </a:r>
          </a:p>
          <a:p>
            <a:pPr>
              <a:spcBef>
                <a:spcPts val="200"/>
              </a:spcBef>
              <a:defRPr sz="1200">
                <a:solidFill>
                  <a:srgbClr val="E2E8F0"/>
                </a:solidFill>
              </a:defRPr>
            </a:pPr>
            <a:r>
              <a:t>Write-ups detailing how you tracked down a race condition or memory leak.</a:t>
            </a:r>
          </a:p>
        </p:txBody>
      </p:sp>
      <p:sp>
        <p:nvSpPr>
          <p:cNvPr id="9" name="Rounded Rectangle 8"/>
          <p:cNvSpPr/>
          <p:nvPr/>
        </p:nvSpPr>
        <p:spPr>
          <a:xfrm>
            <a:off x="6309360" y="1645920"/>
            <a:ext cx="5120640" cy="4297680"/>
          </a:xfrm>
          <a:prstGeom prst="roundRect">
            <a:avLst/>
          </a:prstGeom>
          <a:solidFill>
            <a:srgbClr val="141C2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92608" tIns="274320"/>
          <a:lstStyle/>
          <a:p>
            <a:pPr algn="ctr">
              <a:defRPr sz="1200" b="1">
                <a:solidFill>
                  <a:srgbClr val="38BDF8"/>
                </a:solidFill>
              </a:defRPr>
            </a:pPr>
            <a:r>
              <a:t>🗣️ PILLAR 06: ROLE-BASED SOFT SKILLS</a:t>
            </a:r>
          </a:p>
          <a:p>
            <a:pPr>
              <a:spcBef>
                <a:spcPts val="400"/>
              </a:spcBef>
              <a:defRPr sz="2000" b="1">
                <a:solidFill>
                  <a:srgbClr val="F8FAFC"/>
                </a:solidFill>
              </a:defRPr>
            </a:pPr>
            <a:r>
              <a:t>Communication Is An Engineering Skill</a:t>
            </a:r>
          </a:p>
          <a:p>
            <a:pPr>
              <a:spcBef>
                <a:spcPts val="1000"/>
              </a:spcBef>
              <a:defRPr sz="1350" b="1">
                <a:solidFill>
                  <a:srgbClr val="2DD4BF"/>
                </a:solidFill>
              </a:defRPr>
            </a:pPr>
            <a:r>
              <a:t>• Technical Communication:</a:t>
            </a:r>
          </a:p>
          <a:p>
            <a:pPr>
              <a:spcBef>
                <a:spcPts val="200"/>
              </a:spcBef>
              <a:defRPr sz="1200">
                <a:solidFill>
                  <a:srgbClr val="E2E8F0"/>
                </a:solidFill>
              </a:defRPr>
            </a:pPr>
            <a:r>
              <a:t>Explaining complex technical trade-offs in plain English to product managers and non-technical stakeholders.</a:t>
            </a:r>
          </a:p>
          <a:p>
            <a:pPr>
              <a:spcBef>
                <a:spcPts val="1000"/>
              </a:spcBef>
              <a:defRPr sz="1350" b="1">
                <a:solidFill>
                  <a:srgbClr val="2DD4BF"/>
                </a:solidFill>
              </a:defRPr>
            </a:pPr>
            <a:r>
              <a:t>• Problem Decomposition:</a:t>
            </a:r>
          </a:p>
          <a:p>
            <a:pPr>
              <a:spcBef>
                <a:spcPts val="200"/>
              </a:spcBef>
              <a:defRPr sz="1200">
                <a:solidFill>
                  <a:srgbClr val="E2E8F0"/>
                </a:solidFill>
              </a:defRPr>
            </a:pPr>
            <a:r>
              <a:t>Breaking ambiguous, messy business problems into crisp, testable technical specifications.</a:t>
            </a:r>
          </a:p>
          <a:p>
            <a:pPr>
              <a:spcBef>
                <a:spcPts val="1000"/>
              </a:spcBef>
              <a:defRPr sz="1350" b="1">
                <a:solidFill>
                  <a:srgbClr val="2DD4BF"/>
                </a:solidFill>
              </a:defRPr>
            </a:pPr>
            <a:r>
              <a:t>• Code Review Etiquette:</a:t>
            </a:r>
          </a:p>
          <a:p>
            <a:pPr>
              <a:spcBef>
                <a:spcPts val="200"/>
              </a:spcBef>
              <a:defRPr sz="1200">
                <a:solidFill>
                  <a:srgbClr val="E2E8F0"/>
                </a:solidFill>
              </a:defRPr>
            </a:pPr>
            <a:r>
              <a:t>Giving empathetic, constructive feedback and receiving peer critique without getting defensive.</a:t>
            </a:r>
          </a:p>
          <a:p>
            <a:pPr>
              <a:spcBef>
                <a:spcPts val="1000"/>
              </a:spcBef>
              <a:defRPr sz="1350" b="1">
                <a:solidFill>
                  <a:srgbClr val="2DD4BF"/>
                </a:solidFill>
              </a:defRPr>
            </a:pPr>
            <a:r>
              <a:t>• Extreme Ownership:</a:t>
            </a:r>
          </a:p>
          <a:p>
            <a:pPr>
              <a:spcBef>
                <a:spcPts val="200"/>
              </a:spcBef>
              <a:defRPr sz="1200">
                <a:solidFill>
                  <a:srgbClr val="E2E8F0"/>
                </a:solidFill>
              </a:defRPr>
            </a:pPr>
            <a:r>
              <a:t>Taking full accountability for deliverables, deadlines, and production outages.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100" b="1">
                <a:solidFill>
                  <a:srgbClr val="2DD4BF"/>
                </a:solidFill>
              </a:defRPr>
            </a:pPr>
            <a:r>
              <a:t>R.K. SKILLFORGE   |   LESSON 4.1 • PREPARATION FOR JOB HUNTING</a:t>
            </a:r>
          </a:p>
        </p:txBody>
      </p:sp>
      <p:sp>
        <p:nvSpPr>
          <p:cNvPr id="4" name="TextBox 3"/>
          <p:cNvSpPr txBox="1"/>
          <p:nvPr/>
        </p:nvSpPr>
        <p:spPr>
          <a:xfrm>
            <a:off x="731520" y="658368"/>
            <a:ext cx="10698480" cy="685800"/>
          </a:xfrm>
          <a:prstGeom prst="rect">
            <a:avLst/>
          </a:prstGeom>
          <a:noFill/>
        </p:spPr>
        <p:txBody>
          <a:bodyPr wrap="square" lIns="0" rIns="0" tIns="0" bIns="0">
            <a:spAutoFit/>
          </a:bodyPr>
          <a:lstStyle/>
          <a:p>
            <a:pPr>
              <a:defRPr sz="2800" b="1">
                <a:solidFill>
                  <a:srgbClr val="F8FAFC"/>
                </a:solidFill>
              </a:defRPr>
            </a:pPr>
            <a:r>
              <a:t>Pillar 7: Mastering The Modern Recruitment Pipeline</a:t>
            </a:r>
          </a:p>
        </p:txBody>
      </p:sp>
      <p:sp>
        <p:nvSpPr>
          <p:cNvPr id="5" name="Rectangle 4"/>
          <p:cNvSpPr/>
          <p:nvPr/>
        </p:nvSpPr>
        <p:spPr>
          <a:xfrm>
            <a:off x="731520" y="6263640"/>
            <a:ext cx="10728655" cy="18288"/>
          </a:xfrm>
          <a:prstGeom prst="rect">
            <a:avLst/>
          </a:prstGeom>
          <a:solidFill>
            <a:srgbClr val="273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27648"/>
            <a:ext cx="7315200" cy="320040"/>
          </a:xfrm>
          <a:prstGeom prst="rect">
            <a:avLst/>
          </a:prstGeom>
          <a:noFill/>
        </p:spPr>
        <p:txBody>
          <a:bodyPr wrap="none" lIns="0" rIns="0" tIns="0" bIns="0">
            <a:spAutoFit/>
          </a:bodyPr>
          <a:lstStyle/>
          <a:p>
            <a:pPr>
              <a:defRPr sz="1000">
                <a:solidFill>
                  <a:srgbClr val="94A3B8"/>
                </a:solidFill>
              </a:defRPr>
            </a:pPr>
            <a:r>
              <a:t>© R.K. SKILLFORGE  •  AI Mentor Masterclass Series</a:t>
            </a:r>
          </a:p>
        </p:txBody>
      </p:sp>
      <p:sp>
        <p:nvSpPr>
          <p:cNvPr id="7" name="TextBox 6"/>
          <p:cNvSpPr txBox="1"/>
          <p:nvPr/>
        </p:nvSpPr>
        <p:spPr>
          <a:xfrm>
            <a:off x="9601200" y="6327648"/>
            <a:ext cx="1828800" cy="320040"/>
          </a:xfrm>
          <a:prstGeom prst="rect">
            <a:avLst/>
          </a:prstGeom>
          <a:noFill/>
        </p:spPr>
        <p:txBody>
          <a:bodyPr wrap="none" lIns="0" rIns="0" tIns="0" bIns="0">
            <a:spAutoFit/>
          </a:bodyPr>
          <a:lstStyle/>
          <a:p>
            <a:pPr algn="r">
              <a:defRPr sz="1000">
                <a:solidFill>
                  <a:srgbClr val="94A3B8"/>
                </a:solidFill>
              </a:defRPr>
            </a:pPr>
            <a:r>
              <a:t>Slide 7</a:t>
            </a:r>
          </a:p>
        </p:txBody>
      </p:sp>
      <p:sp>
        <p:nvSpPr>
          <p:cNvPr id="8" name="Rounded Rectangle 7"/>
          <p:cNvSpPr/>
          <p:nvPr/>
        </p:nvSpPr>
        <p:spPr>
          <a:xfrm>
            <a:off x="731520" y="1600200"/>
            <a:ext cx="10698480" cy="777240"/>
          </a:xfrm>
          <a:prstGeom prst="roundRect">
            <a:avLst/>
          </a:prstGeom>
          <a:solidFill>
            <a:srgbClr val="141C2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defRPr sz="1700" b="1">
                <a:solidFill>
                  <a:srgbClr val="38BDF8"/>
                </a:solidFill>
              </a:defRPr>
            </a:pPr>
            <a:r>
              <a:t>01. ATS RESUME</a:t>
            </a:r>
          </a:p>
          <a:p>
            <a:pPr>
              <a:spcBef>
                <a:spcPts val="200"/>
              </a:spcBef>
              <a:defRPr sz="1300">
                <a:solidFill>
                  <a:srgbClr val="F8FAFC"/>
                </a:solidFill>
              </a:defRPr>
            </a:pPr>
            <a:r>
              <a:t>Use the Google Formula: 'Accomplished [X], measured by [Y], by doing [Z]'. Zero fluff, quantifiable metrics.</a:t>
            </a:r>
          </a:p>
        </p:txBody>
      </p:sp>
      <p:sp>
        <p:nvSpPr>
          <p:cNvPr id="9" name="Rounded Rectangle 8"/>
          <p:cNvSpPr/>
          <p:nvPr/>
        </p:nvSpPr>
        <p:spPr>
          <a:xfrm>
            <a:off x="731520" y="2542032"/>
            <a:ext cx="10698480" cy="777240"/>
          </a:xfrm>
          <a:prstGeom prst="roundRect">
            <a:avLst/>
          </a:prstGeom>
          <a:solidFill>
            <a:srgbClr val="141C2B"/>
          </a:solidFill>
          <a:ln w="1905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defRPr sz="1700" b="1">
                <a:solidFill>
                  <a:srgbClr val="2DD4BF"/>
                </a:solidFill>
              </a:defRPr>
            </a:pPr>
            <a:r>
              <a:t>02. TECHNICAL SCREEN</a:t>
            </a:r>
          </a:p>
          <a:p>
            <a:pPr>
              <a:spcBef>
                <a:spcPts val="200"/>
              </a:spcBef>
              <a:defRPr sz="1300">
                <a:solidFill>
                  <a:srgbClr val="F8FAFC"/>
                </a:solidFill>
              </a:defRPr>
            </a:pPr>
            <a:r>
              <a:t>A 30-minute conversational check: Explaining architecture, trade-offs, and past production challenges.</a:t>
            </a:r>
          </a:p>
        </p:txBody>
      </p:sp>
      <p:sp>
        <p:nvSpPr>
          <p:cNvPr id="10" name="Rounded Rectangle 9"/>
          <p:cNvSpPr/>
          <p:nvPr/>
        </p:nvSpPr>
        <p:spPr>
          <a:xfrm>
            <a:off x="731520" y="3483864"/>
            <a:ext cx="10698480" cy="777240"/>
          </a:xfrm>
          <a:prstGeom prst="roundRect">
            <a:avLst/>
          </a:prstGeom>
          <a:solidFill>
            <a:srgbClr val="141C2B"/>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defRPr sz="1700" b="1">
                <a:solidFill>
                  <a:srgbClr val="FBBF24"/>
                </a:solidFill>
              </a:defRPr>
            </a:pPr>
            <a:r>
              <a:t>03. LIVE ASSESSMENT</a:t>
            </a:r>
          </a:p>
          <a:p>
            <a:pPr>
              <a:spcBef>
                <a:spcPts val="200"/>
              </a:spcBef>
              <a:defRPr sz="1300">
                <a:solidFill>
                  <a:srgbClr val="F8FAFC"/>
                </a:solidFill>
              </a:defRPr>
            </a:pPr>
            <a:r>
              <a:t>System design &amp; live problem decomposition. Think out loud, clarify constraints, and test edge cases.</a:t>
            </a:r>
          </a:p>
        </p:txBody>
      </p:sp>
      <p:sp>
        <p:nvSpPr>
          <p:cNvPr id="11" name="Rounded Rectangle 10"/>
          <p:cNvSpPr/>
          <p:nvPr/>
        </p:nvSpPr>
        <p:spPr>
          <a:xfrm>
            <a:off x="731520" y="4425696"/>
            <a:ext cx="10698480" cy="777240"/>
          </a:xfrm>
          <a:prstGeom prst="roundRect">
            <a:avLst/>
          </a:prstGeom>
          <a:solidFill>
            <a:srgbClr val="141C2B"/>
          </a:solidFill>
          <a:ln w="1905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defRPr sz="1700" b="1">
                <a:solidFill>
                  <a:srgbClr val="A78BFA"/>
                </a:solidFill>
              </a:defRPr>
            </a:pPr>
            <a:r>
              <a:t>04. BEHAVIORAL INTERVIEW</a:t>
            </a:r>
          </a:p>
          <a:p>
            <a:pPr>
              <a:spcBef>
                <a:spcPts val="200"/>
              </a:spcBef>
              <a:defRPr sz="1300">
                <a:solidFill>
                  <a:srgbClr val="F8FAFC"/>
                </a:solidFill>
              </a:defRPr>
            </a:pPr>
            <a:r>
              <a:t>Master the STAR method (Situation, Task, Action, Result). Highlight real failures and lessons learned.</a:t>
            </a:r>
          </a:p>
        </p:txBody>
      </p:sp>
      <p:sp>
        <p:nvSpPr>
          <p:cNvPr id="12" name="Rounded Rectangle 11"/>
          <p:cNvSpPr/>
          <p:nvPr/>
        </p:nvSpPr>
        <p:spPr>
          <a:xfrm>
            <a:off x="731520" y="5367528"/>
            <a:ext cx="10698480" cy="777240"/>
          </a:xfrm>
          <a:prstGeom prst="roundRect">
            <a:avLst/>
          </a:prstGeom>
          <a:solidFill>
            <a:srgbClr val="141C2B"/>
          </a:solidFill>
          <a:ln w="1905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defRPr sz="1700" b="1">
                <a:solidFill>
                  <a:srgbClr val="2DD4BF"/>
                </a:solidFill>
              </a:defRPr>
            </a:pPr>
            <a:r>
              <a:t>05. OFFER &amp; NEGOTIATION</a:t>
            </a:r>
          </a:p>
          <a:p>
            <a:pPr>
              <a:spcBef>
                <a:spcPts val="200"/>
              </a:spcBef>
              <a:defRPr sz="1300">
                <a:solidFill>
                  <a:srgbClr val="F8FAFC"/>
                </a:solidFill>
              </a:defRPr>
            </a:pPr>
            <a:r>
              <a:t>Base compensation conversations on verified market salary bands, equity, and remote benefits.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100" b="1">
                <a:solidFill>
                  <a:srgbClr val="2DD4BF"/>
                </a:solidFill>
              </a:defRPr>
            </a:pPr>
            <a:r>
              <a:t>R.K. SKILLFORGE   |   LESSON 4.1 • PREPARATION FOR JOB HUNTING</a:t>
            </a:r>
          </a:p>
        </p:txBody>
      </p:sp>
      <p:sp>
        <p:nvSpPr>
          <p:cNvPr id="4" name="TextBox 3"/>
          <p:cNvSpPr txBox="1"/>
          <p:nvPr/>
        </p:nvSpPr>
        <p:spPr>
          <a:xfrm>
            <a:off x="731520" y="658368"/>
            <a:ext cx="10698480" cy="685800"/>
          </a:xfrm>
          <a:prstGeom prst="rect">
            <a:avLst/>
          </a:prstGeom>
          <a:noFill/>
        </p:spPr>
        <p:txBody>
          <a:bodyPr wrap="square" lIns="0" rIns="0" tIns="0" bIns="0">
            <a:spAutoFit/>
          </a:bodyPr>
          <a:lstStyle/>
          <a:p>
            <a:pPr>
              <a:defRPr sz="2800" b="1">
                <a:solidFill>
                  <a:srgbClr val="F8FAFC"/>
                </a:solidFill>
              </a:defRPr>
            </a:pPr>
            <a:r>
              <a:t>Pillars 8 &amp; 9: Job-Ready Assessment &amp; The Hard Reality Check</a:t>
            </a:r>
          </a:p>
        </p:txBody>
      </p:sp>
      <p:sp>
        <p:nvSpPr>
          <p:cNvPr id="5" name="Rectangle 4"/>
          <p:cNvSpPr/>
          <p:nvPr/>
        </p:nvSpPr>
        <p:spPr>
          <a:xfrm>
            <a:off x="731520" y="6263640"/>
            <a:ext cx="10728655" cy="18288"/>
          </a:xfrm>
          <a:prstGeom prst="rect">
            <a:avLst/>
          </a:prstGeom>
          <a:solidFill>
            <a:srgbClr val="273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27648"/>
            <a:ext cx="7315200" cy="320040"/>
          </a:xfrm>
          <a:prstGeom prst="rect">
            <a:avLst/>
          </a:prstGeom>
          <a:noFill/>
        </p:spPr>
        <p:txBody>
          <a:bodyPr wrap="none" lIns="0" rIns="0" tIns="0" bIns="0">
            <a:spAutoFit/>
          </a:bodyPr>
          <a:lstStyle/>
          <a:p>
            <a:pPr>
              <a:defRPr sz="1000">
                <a:solidFill>
                  <a:srgbClr val="94A3B8"/>
                </a:solidFill>
              </a:defRPr>
            </a:pPr>
            <a:r>
              <a:t>© R.K. SKILLFORGE  •  AI Mentor Masterclass Series</a:t>
            </a:r>
          </a:p>
        </p:txBody>
      </p:sp>
      <p:sp>
        <p:nvSpPr>
          <p:cNvPr id="7" name="TextBox 6"/>
          <p:cNvSpPr txBox="1"/>
          <p:nvPr/>
        </p:nvSpPr>
        <p:spPr>
          <a:xfrm>
            <a:off x="9601200" y="6327648"/>
            <a:ext cx="1828800" cy="320040"/>
          </a:xfrm>
          <a:prstGeom prst="rect">
            <a:avLst/>
          </a:prstGeom>
          <a:noFill/>
        </p:spPr>
        <p:txBody>
          <a:bodyPr wrap="none" lIns="0" rIns="0" tIns="0" bIns="0">
            <a:spAutoFit/>
          </a:bodyPr>
          <a:lstStyle/>
          <a:p>
            <a:pPr algn="r">
              <a:defRPr sz="1000">
                <a:solidFill>
                  <a:srgbClr val="94A3B8"/>
                </a:solidFill>
              </a:defRPr>
            </a:pPr>
            <a:r>
              <a:t>Slide 8</a:t>
            </a:r>
          </a:p>
        </p:txBody>
      </p:sp>
      <p:sp>
        <p:nvSpPr>
          <p:cNvPr id="8" name="Rounded Rectangle 7"/>
          <p:cNvSpPr/>
          <p:nvPr/>
        </p:nvSpPr>
        <p:spPr>
          <a:xfrm>
            <a:off x="731520" y="1645920"/>
            <a:ext cx="5120640" cy="4297680"/>
          </a:xfrm>
          <a:prstGeom prst="roundRect">
            <a:avLst/>
          </a:prstGeom>
          <a:solidFill>
            <a:srgbClr val="141C2B"/>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292608" tIns="274320"/>
          <a:lstStyle/>
          <a:p>
            <a:pPr algn="ctr">
              <a:defRPr sz="1200" b="1">
                <a:solidFill>
                  <a:srgbClr val="FBBF24"/>
                </a:solidFill>
              </a:defRPr>
            </a:pPr>
            <a:r>
              <a:t>⚖️ PILLAR 08: THE JOB-READY AUDIT</a:t>
            </a:r>
          </a:p>
          <a:p>
            <a:pPr>
              <a:spcBef>
                <a:spcPts val="400"/>
              </a:spcBef>
              <a:defRPr sz="2000" b="1">
                <a:solidFill>
                  <a:srgbClr val="F8FAFC"/>
                </a:solidFill>
              </a:defRPr>
            </a:pPr>
            <a:r>
              <a:t>Job-Ready Score: X / 10</a:t>
            </a:r>
          </a:p>
          <a:p>
            <a:pPr>
              <a:spcBef>
                <a:spcPts val="1200"/>
              </a:spcBef>
              <a:defRPr sz="1400" b="1">
                <a:solidFill>
                  <a:srgbClr val="FBBF24"/>
                </a:solidFill>
              </a:defRPr>
            </a:pPr>
            <a:r>
              <a:t>✅ What is Strong:</a:t>
            </a:r>
          </a:p>
          <a:p>
            <a:pPr>
              <a:spcBef>
                <a:spcPts val="200"/>
              </a:spcBef>
              <a:defRPr sz="1300">
                <a:solidFill>
                  <a:srgbClr val="E2E8F0"/>
                </a:solidFill>
              </a:defRPr>
            </a:pPr>
            <a:r>
              <a:t>Clean core fundamentals, solid API design, and good Git habits.</a:t>
            </a:r>
          </a:p>
          <a:p>
            <a:pPr>
              <a:spcBef>
                <a:spcPts val="1200"/>
              </a:spcBef>
              <a:defRPr sz="1400" b="1">
                <a:solidFill>
                  <a:srgbClr val="FBBF24"/>
                </a:solidFill>
              </a:defRPr>
            </a:pPr>
            <a:r>
              <a:t>⚠️ What is Missing:</a:t>
            </a:r>
          </a:p>
          <a:p>
            <a:pPr>
              <a:spcBef>
                <a:spcPts val="200"/>
              </a:spcBef>
              <a:defRPr sz="1300">
                <a:solidFill>
                  <a:srgbClr val="E2E8F0"/>
                </a:solidFill>
              </a:defRPr>
            </a:pPr>
            <a:r>
              <a:t>Lack of automated test coverage (unit/integration) and CI/CD setup.</a:t>
            </a:r>
          </a:p>
          <a:p>
            <a:pPr>
              <a:spcBef>
                <a:spcPts val="1200"/>
              </a:spcBef>
              <a:defRPr sz="1400" b="1">
                <a:solidFill>
                  <a:srgbClr val="FBBF24"/>
                </a:solidFill>
              </a:defRPr>
            </a:pPr>
            <a:r>
              <a:t>🛠️ What Needs Work:</a:t>
            </a:r>
          </a:p>
          <a:p>
            <a:pPr>
              <a:spcBef>
                <a:spcPts val="200"/>
              </a:spcBef>
              <a:defRPr sz="1300">
                <a:solidFill>
                  <a:srgbClr val="E2E8F0"/>
                </a:solidFill>
              </a:defRPr>
            </a:pPr>
            <a:r>
              <a:t>Explanation of memory complexity and time trade-offs during live coding.</a:t>
            </a:r>
          </a:p>
          <a:p>
            <a:pPr>
              <a:spcBef>
                <a:spcPts val="1200"/>
              </a:spcBef>
              <a:defRPr sz="1400" b="1">
                <a:solidFill>
                  <a:srgbClr val="FBBF24"/>
                </a:solidFill>
              </a:defRPr>
            </a:pPr>
            <a:r>
              <a:t>🚀 Immediate Next Action:</a:t>
            </a:r>
          </a:p>
          <a:p>
            <a:pPr>
              <a:spcBef>
                <a:spcPts val="200"/>
              </a:spcBef>
              <a:defRPr sz="1300">
                <a:solidFill>
                  <a:srgbClr val="E2E8F0"/>
                </a:solidFill>
              </a:defRPr>
            </a:pPr>
            <a:r>
              <a:t>Add Jest/Pytest test suites to GitHub repo and record a 3-minute video walkthrough.</a:t>
            </a:r>
          </a:p>
        </p:txBody>
      </p:sp>
      <p:sp>
        <p:nvSpPr>
          <p:cNvPr id="9" name="Rounded Rectangle 8"/>
          <p:cNvSpPr/>
          <p:nvPr/>
        </p:nvSpPr>
        <p:spPr>
          <a:xfrm>
            <a:off x="6309360" y="1645920"/>
            <a:ext cx="5120640" cy="4297680"/>
          </a:xfrm>
          <a:prstGeom prst="roundRect">
            <a:avLst/>
          </a:prstGeom>
          <a:solidFill>
            <a:srgbClr val="141C2B"/>
          </a:solidFill>
          <a:ln w="1905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wrap="square" lIns="292608" tIns="274320"/>
          <a:lstStyle/>
          <a:p>
            <a:pPr algn="ctr">
              <a:defRPr sz="1200" b="1">
                <a:solidFill>
                  <a:srgbClr val="F87171"/>
                </a:solidFill>
              </a:defRPr>
            </a:pPr>
            <a:r>
              <a:t>🛡️ PILLAR 09: THE HONEST REALITY CHECK</a:t>
            </a:r>
          </a:p>
          <a:p>
            <a:pPr>
              <a:spcBef>
                <a:spcPts val="400"/>
              </a:spcBef>
              <a:defRPr sz="2000" b="1">
                <a:solidFill>
                  <a:srgbClr val="F8FAFC"/>
                </a:solidFill>
              </a:defRPr>
            </a:pPr>
            <a:r>
              <a:t>No False Guarantees</a:t>
            </a:r>
          </a:p>
          <a:p>
            <a:pPr>
              <a:spcBef>
                <a:spcPts val="1000"/>
              </a:spcBef>
              <a:defRPr sz="1350" b="1">
                <a:solidFill>
                  <a:srgbClr val="2DD4BF"/>
                </a:solidFill>
              </a:defRPr>
            </a:pPr>
            <a:r>
              <a:t>• Completing Courses != A Job:</a:t>
            </a:r>
          </a:p>
          <a:p>
            <a:pPr>
              <a:spcBef>
                <a:spcPts val="200"/>
              </a:spcBef>
              <a:defRPr sz="1250">
                <a:solidFill>
                  <a:srgbClr val="E2E8F0"/>
                </a:solidFill>
              </a:defRPr>
            </a:pPr>
            <a:r>
              <a:t>Finishing a curriculum gives you knowledge, not employment. Only demonstrable problem-solving closes interviews.</a:t>
            </a:r>
          </a:p>
          <a:p>
            <a:pPr>
              <a:spcBef>
                <a:spcPts val="1000"/>
              </a:spcBef>
              <a:defRPr sz="1350" b="1">
                <a:solidFill>
                  <a:srgbClr val="2DD4BF"/>
                </a:solidFill>
              </a:defRPr>
            </a:pPr>
            <a:r>
              <a:t>• Market Volatility Is Real:</a:t>
            </a:r>
          </a:p>
          <a:p>
            <a:pPr>
              <a:spcBef>
                <a:spcPts val="200"/>
              </a:spcBef>
              <a:defRPr sz="1250">
                <a:solidFill>
                  <a:srgbClr val="E2E8F0"/>
                </a:solidFill>
              </a:defRPr>
            </a:pPr>
            <a:r>
              <a:t>Hiring budgets shift. Adaptability and continuous building are required.</a:t>
            </a:r>
          </a:p>
          <a:p>
            <a:pPr>
              <a:spcBef>
                <a:spcPts val="1000"/>
              </a:spcBef>
              <a:defRPr sz="1350" b="1">
                <a:solidFill>
                  <a:srgbClr val="2DD4BF"/>
                </a:solidFill>
              </a:defRPr>
            </a:pPr>
            <a:r>
              <a:t>• Expect Rejection &amp; Iterate:</a:t>
            </a:r>
          </a:p>
          <a:p>
            <a:pPr>
              <a:spcBef>
                <a:spcPts val="200"/>
              </a:spcBef>
              <a:defRPr sz="1250">
                <a:solidFill>
                  <a:srgbClr val="E2E8F0"/>
                </a:solidFill>
              </a:defRPr>
            </a:pPr>
            <a:r>
              <a:t>Top engineers receive dozens of rejections before landing their ideal role. Treat every interview as diagnostic data.</a:t>
            </a:r>
          </a:p>
          <a:p>
            <a:pPr>
              <a:spcBef>
                <a:spcPts val="1000"/>
              </a:spcBef>
              <a:defRPr sz="1350" b="1">
                <a:solidFill>
                  <a:srgbClr val="2DD4BF"/>
                </a:solidFill>
              </a:defRPr>
            </a:pPr>
            <a:r>
              <a:t>• Demand Brutal Feedback:</a:t>
            </a:r>
          </a:p>
          <a:p>
            <a:pPr>
              <a:spcBef>
                <a:spcPts val="200"/>
              </a:spcBef>
              <a:defRPr sz="1250">
                <a:solidFill>
                  <a:srgbClr val="E2E8F0"/>
                </a:solidFill>
              </a:defRPr>
            </a:pPr>
            <a:r>
              <a:t>At R.K. SKILLFORGE, we never flatter your resume. We tell you the blunt truth so you can fix flaws before employers see them.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100" b="1">
                <a:solidFill>
                  <a:srgbClr val="2DD4BF"/>
                </a:solidFill>
              </a:defRPr>
            </a:pPr>
            <a:r>
              <a:t>R.K. SKILLFORGE   |   LESSON 4.1 • PREPARATION FOR JOB HUNTING</a:t>
            </a:r>
          </a:p>
        </p:txBody>
      </p:sp>
      <p:sp>
        <p:nvSpPr>
          <p:cNvPr id="4" name="TextBox 3"/>
          <p:cNvSpPr txBox="1"/>
          <p:nvPr/>
        </p:nvSpPr>
        <p:spPr>
          <a:xfrm>
            <a:off x="731520" y="658368"/>
            <a:ext cx="10698480" cy="685800"/>
          </a:xfrm>
          <a:prstGeom prst="rect">
            <a:avLst/>
          </a:prstGeom>
          <a:noFill/>
        </p:spPr>
        <p:txBody>
          <a:bodyPr wrap="square" lIns="0" rIns="0" tIns="0" bIns="0">
            <a:spAutoFit/>
          </a:bodyPr>
          <a:lstStyle/>
          <a:p>
            <a:pPr>
              <a:defRPr sz="2800" b="1">
                <a:solidFill>
                  <a:srgbClr val="F8FAFC"/>
                </a:solidFill>
              </a:defRPr>
            </a:pPr>
            <a:r>
              <a:t>Pillars 10 &amp; 11: Radical Accuracy &amp; The Job-Ready Pipeline</a:t>
            </a:r>
          </a:p>
        </p:txBody>
      </p:sp>
      <p:sp>
        <p:nvSpPr>
          <p:cNvPr id="5" name="Rectangle 4"/>
          <p:cNvSpPr/>
          <p:nvPr/>
        </p:nvSpPr>
        <p:spPr>
          <a:xfrm>
            <a:off x="731520" y="6263640"/>
            <a:ext cx="10728655" cy="18288"/>
          </a:xfrm>
          <a:prstGeom prst="rect">
            <a:avLst/>
          </a:prstGeom>
          <a:solidFill>
            <a:srgbClr val="273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27648"/>
            <a:ext cx="7315200" cy="320040"/>
          </a:xfrm>
          <a:prstGeom prst="rect">
            <a:avLst/>
          </a:prstGeom>
          <a:noFill/>
        </p:spPr>
        <p:txBody>
          <a:bodyPr wrap="none" lIns="0" rIns="0" tIns="0" bIns="0">
            <a:spAutoFit/>
          </a:bodyPr>
          <a:lstStyle/>
          <a:p>
            <a:pPr>
              <a:defRPr sz="1000">
                <a:solidFill>
                  <a:srgbClr val="94A3B8"/>
                </a:solidFill>
              </a:defRPr>
            </a:pPr>
            <a:r>
              <a:t>© R.K. SKILLFORGE  •  AI Mentor Masterclass Series</a:t>
            </a:r>
          </a:p>
        </p:txBody>
      </p:sp>
      <p:sp>
        <p:nvSpPr>
          <p:cNvPr id="7" name="TextBox 6"/>
          <p:cNvSpPr txBox="1"/>
          <p:nvPr/>
        </p:nvSpPr>
        <p:spPr>
          <a:xfrm>
            <a:off x="9601200" y="6327648"/>
            <a:ext cx="1828800" cy="320040"/>
          </a:xfrm>
          <a:prstGeom prst="rect">
            <a:avLst/>
          </a:prstGeom>
          <a:noFill/>
        </p:spPr>
        <p:txBody>
          <a:bodyPr wrap="none" lIns="0" rIns="0" tIns="0" bIns="0">
            <a:spAutoFit/>
          </a:bodyPr>
          <a:lstStyle/>
          <a:p>
            <a:pPr algn="r">
              <a:defRPr sz="1000">
                <a:solidFill>
                  <a:srgbClr val="94A3B8"/>
                </a:solidFill>
              </a:defRPr>
            </a:pPr>
            <a:r>
              <a:t>Slide 9</a:t>
            </a:r>
          </a:p>
        </p:txBody>
      </p:sp>
      <p:sp>
        <p:nvSpPr>
          <p:cNvPr id="8" name="Rounded Rectangle 7"/>
          <p:cNvSpPr/>
          <p:nvPr/>
        </p:nvSpPr>
        <p:spPr>
          <a:xfrm>
            <a:off x="731520" y="1645920"/>
            <a:ext cx="5120640" cy="4297680"/>
          </a:xfrm>
          <a:prstGeom prst="roundRect">
            <a:avLst/>
          </a:prstGeom>
          <a:solidFill>
            <a:srgbClr val="141C2B"/>
          </a:solidFill>
          <a:ln w="1905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wrap="square" lIns="292608" tIns="274320"/>
          <a:lstStyle/>
          <a:p>
            <a:pPr algn="ctr">
              <a:defRPr sz="1200" b="1">
                <a:solidFill>
                  <a:srgbClr val="F87171"/>
                </a:solidFill>
              </a:defRPr>
            </a:pPr>
            <a:r>
              <a:t>🛡️ PILLAR 10: ZERO HIRING HALLUCINATIONS</a:t>
            </a:r>
          </a:p>
          <a:p>
            <a:pPr>
              <a:spcBef>
                <a:spcPts val="400"/>
              </a:spcBef>
              <a:defRPr sz="2000" b="1">
                <a:solidFill>
                  <a:srgbClr val="F8FAFC"/>
                </a:solidFill>
              </a:defRPr>
            </a:pPr>
            <a:r>
              <a:t>Radical Market Truth</a:t>
            </a:r>
          </a:p>
          <a:p>
            <a:pPr>
              <a:spcBef>
                <a:spcPts val="1200"/>
              </a:spcBef>
              <a:defRPr sz="1400" b="1">
                <a:solidFill>
                  <a:srgbClr val="2DD4BF"/>
                </a:solidFill>
              </a:defRPr>
            </a:pPr>
            <a:r>
              <a:t>• Never Fabricate Credentials:</a:t>
            </a:r>
          </a:p>
          <a:p>
            <a:pPr>
              <a:spcBef>
                <a:spcPts val="200"/>
              </a:spcBef>
              <a:defRPr sz="1300">
                <a:solidFill>
                  <a:srgbClr val="E2E8F0"/>
                </a:solidFill>
              </a:defRPr>
            </a:pPr>
            <a:r>
              <a:t>Lying about past company roles or certifications is an immediate, permanent industry blacklist.</a:t>
            </a:r>
          </a:p>
          <a:p>
            <a:pPr>
              <a:spcBef>
                <a:spcPts val="1200"/>
              </a:spcBef>
              <a:defRPr sz="1400" b="1">
                <a:solidFill>
                  <a:srgbClr val="2DD4BF"/>
                </a:solidFill>
              </a:defRPr>
            </a:pPr>
            <a:r>
              <a:t>• No Fake Salary Hype:</a:t>
            </a:r>
          </a:p>
          <a:p>
            <a:pPr>
              <a:spcBef>
                <a:spcPts val="200"/>
              </a:spcBef>
              <a:defRPr sz="1300">
                <a:solidFill>
                  <a:srgbClr val="E2E8F0"/>
                </a:solidFill>
              </a:defRPr>
            </a:pPr>
            <a:r>
              <a:t>Verify compensation benchmarks on reputable datasets (Levels.fyi, Glassdoor, live postings).</a:t>
            </a:r>
          </a:p>
          <a:p>
            <a:pPr>
              <a:spcBef>
                <a:spcPts val="1200"/>
              </a:spcBef>
              <a:defRPr sz="1400" b="1">
                <a:solidFill>
                  <a:srgbClr val="2DD4BF"/>
                </a:solidFill>
              </a:defRPr>
            </a:pPr>
            <a:r>
              <a:t>• Validate Live Job Requirements:</a:t>
            </a:r>
          </a:p>
          <a:p>
            <a:pPr>
              <a:spcBef>
                <a:spcPts val="200"/>
              </a:spcBef>
              <a:defRPr sz="1300">
                <a:solidFill>
                  <a:srgbClr val="E2E8F0"/>
                </a:solidFill>
              </a:defRPr>
            </a:pPr>
            <a:r>
              <a:t>Analyze what active job postings are hiring for this month, not outdated blog posts from 2020.</a:t>
            </a:r>
          </a:p>
          <a:p>
            <a:pPr>
              <a:spcBef>
                <a:spcPts val="1200"/>
              </a:spcBef>
              <a:defRPr sz="1400" b="1">
                <a:solidFill>
                  <a:srgbClr val="2DD4BF"/>
                </a:solidFill>
              </a:defRPr>
            </a:pPr>
            <a:r>
              <a:t>• Radical Personal Integrity:</a:t>
            </a:r>
          </a:p>
          <a:p>
            <a:pPr>
              <a:spcBef>
                <a:spcPts val="200"/>
              </a:spcBef>
              <a:defRPr sz="1300">
                <a:solidFill>
                  <a:srgbClr val="E2E8F0"/>
                </a:solidFill>
              </a:defRPr>
            </a:pPr>
            <a:r>
              <a:t>Say 'I haven't used that in production, but here is how I would approach it.' Honesty builds immense respect.</a:t>
            </a:r>
          </a:p>
        </p:txBody>
      </p:sp>
      <p:sp>
        <p:nvSpPr>
          <p:cNvPr id="9" name="Rounded Rectangle 8"/>
          <p:cNvSpPr/>
          <p:nvPr/>
        </p:nvSpPr>
        <p:spPr>
          <a:xfrm>
            <a:off x="6309360" y="1645920"/>
            <a:ext cx="5120640" cy="4297680"/>
          </a:xfrm>
          <a:prstGeom prst="roundRect">
            <a:avLst/>
          </a:prstGeom>
          <a:solidFill>
            <a:srgbClr val="141C2B"/>
          </a:solidFill>
          <a:ln w="1905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wrap="square" lIns="292608" tIns="274320"/>
          <a:lstStyle/>
          <a:p>
            <a:pPr algn="ctr">
              <a:defRPr sz="1200" b="1">
                <a:solidFill>
                  <a:srgbClr val="2DD4BF"/>
                </a:solidFill>
              </a:defRPr>
            </a:pPr>
            <a:r>
              <a:t>🚀 PILLAR 11: THE JOB-READY PIPELINE</a:t>
            </a:r>
          </a:p>
          <a:p>
            <a:pPr>
              <a:spcBef>
                <a:spcPts val="400"/>
              </a:spcBef>
              <a:defRPr sz="2000" b="1">
                <a:solidFill>
                  <a:srgbClr val="F8FAFC"/>
                </a:solidFill>
              </a:defRPr>
            </a:pPr>
            <a:r>
              <a:t>The Complete Transformation Path</a:t>
            </a:r>
          </a:p>
          <a:p>
            <a:pPr>
              <a:spcBef>
                <a:spcPts val="800"/>
              </a:spcBef>
              <a:defRPr sz="1250">
                <a:solidFill>
                  <a:srgbClr val="E2E8F0"/>
                </a:solidFill>
              </a:defRPr>
            </a:pPr>
            <a:r>
              <a:t>1. ROLE SELECTION ➔ Pick 1 clear target position</a:t>
            </a:r>
          </a:p>
          <a:p>
            <a:pPr>
              <a:spcBef>
                <a:spcPts val="800"/>
              </a:spcBef>
              <a:defRPr sz="1250">
                <a:solidFill>
                  <a:srgbClr val="E2E8F0"/>
                </a:solidFill>
              </a:defRPr>
            </a:pPr>
            <a:r>
              <a:t>2. UNDERSTAND ➔ Daily duties, KPIs &amp; architecture</a:t>
            </a:r>
          </a:p>
          <a:p>
            <a:pPr>
              <a:spcBef>
                <a:spcPts val="800"/>
              </a:spcBef>
              <a:defRPr sz="1250">
                <a:solidFill>
                  <a:srgbClr val="E2E8F0"/>
                </a:solidFill>
              </a:defRPr>
            </a:pPr>
            <a:r>
              <a:t>3. PRIORITIZE ➔ Focus 80% on Tier 1 non-negotiables</a:t>
            </a:r>
          </a:p>
          <a:p>
            <a:pPr>
              <a:spcBef>
                <a:spcPts val="800"/>
              </a:spcBef>
              <a:defRPr sz="1250">
                <a:solidFill>
                  <a:srgbClr val="E2E8F0"/>
                </a:solidFill>
              </a:defRPr>
            </a:pPr>
            <a:r>
              <a:t>4. BUILD PROOF ➔ 2 complex, tested production projects</a:t>
            </a:r>
          </a:p>
          <a:p>
            <a:pPr>
              <a:spcBef>
                <a:spcPts val="800"/>
              </a:spcBef>
              <a:defRPr sz="1250">
                <a:solidFill>
                  <a:srgbClr val="E2E8F0"/>
                </a:solidFill>
              </a:defRPr>
            </a:pPr>
            <a:r>
              <a:t>5. SOFT SKILLS ➔ Technical communication &amp; review hygiene</a:t>
            </a:r>
          </a:p>
          <a:p>
            <a:pPr>
              <a:spcBef>
                <a:spcPts val="800"/>
              </a:spcBef>
              <a:defRPr sz="1250">
                <a:solidFill>
                  <a:srgbClr val="E2E8F0"/>
                </a:solidFill>
              </a:defRPr>
            </a:pPr>
            <a:r>
              <a:t>6. INTERVIEW PREP ➔ System design &amp; STAR behavioral rounds</a:t>
            </a:r>
          </a:p>
          <a:p>
            <a:pPr>
              <a:spcBef>
                <a:spcPts val="800"/>
              </a:spcBef>
              <a:defRPr sz="1250">
                <a:solidFill>
                  <a:srgbClr val="E2E8F0"/>
                </a:solidFill>
              </a:defRPr>
            </a:pPr>
            <a:r>
              <a:t>7. JOB-READY CANDIDATE ➔ Win top offers with confidence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rIns="0" tIns="0" bIns="0">
            <a:spAutoFit/>
          </a:bodyPr>
          <a:lstStyle/>
          <a:p>
            <a:pPr>
              <a:defRPr sz="1100" b="1">
                <a:solidFill>
                  <a:srgbClr val="2DD4BF"/>
                </a:solidFill>
              </a:defRPr>
            </a:pPr>
            <a:r>
              <a:t>R.K. SKILLFORGE   |   LESSON 4.1 • PREPARATION FOR JOB HUNTING</a:t>
            </a:r>
          </a:p>
        </p:txBody>
      </p:sp>
      <p:sp>
        <p:nvSpPr>
          <p:cNvPr id="4" name="TextBox 3"/>
          <p:cNvSpPr txBox="1"/>
          <p:nvPr/>
        </p:nvSpPr>
        <p:spPr>
          <a:xfrm>
            <a:off x="731520" y="658368"/>
            <a:ext cx="10698480" cy="685800"/>
          </a:xfrm>
          <a:prstGeom prst="rect">
            <a:avLst/>
          </a:prstGeom>
          <a:noFill/>
        </p:spPr>
        <p:txBody>
          <a:bodyPr wrap="square" lIns="0" rIns="0" tIns="0" bIns="0">
            <a:spAutoFit/>
          </a:bodyPr>
          <a:lstStyle/>
          <a:p>
            <a:pPr>
              <a:defRPr sz="2800" b="1">
                <a:solidFill>
                  <a:srgbClr val="F8FAFC"/>
                </a:solidFill>
              </a:defRPr>
            </a:pPr>
            <a:r>
              <a:t>Module Assets: Copy-Paste Prompts &amp; Skill Jars</a:t>
            </a:r>
          </a:p>
        </p:txBody>
      </p:sp>
      <p:sp>
        <p:nvSpPr>
          <p:cNvPr id="5" name="Rectangle 4"/>
          <p:cNvSpPr/>
          <p:nvPr/>
        </p:nvSpPr>
        <p:spPr>
          <a:xfrm>
            <a:off x="731520" y="6263640"/>
            <a:ext cx="10728655" cy="18288"/>
          </a:xfrm>
          <a:prstGeom prst="rect">
            <a:avLst/>
          </a:prstGeom>
          <a:solidFill>
            <a:srgbClr val="273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327648"/>
            <a:ext cx="7315200" cy="320040"/>
          </a:xfrm>
          <a:prstGeom prst="rect">
            <a:avLst/>
          </a:prstGeom>
          <a:noFill/>
        </p:spPr>
        <p:txBody>
          <a:bodyPr wrap="none" lIns="0" rIns="0" tIns="0" bIns="0">
            <a:spAutoFit/>
          </a:bodyPr>
          <a:lstStyle/>
          <a:p>
            <a:pPr>
              <a:defRPr sz="1000">
                <a:solidFill>
                  <a:srgbClr val="94A3B8"/>
                </a:solidFill>
              </a:defRPr>
            </a:pPr>
            <a:r>
              <a:t>© R.K. SKILLFORGE  •  AI Mentor Masterclass Series</a:t>
            </a:r>
          </a:p>
        </p:txBody>
      </p:sp>
      <p:sp>
        <p:nvSpPr>
          <p:cNvPr id="7" name="TextBox 6"/>
          <p:cNvSpPr txBox="1"/>
          <p:nvPr/>
        </p:nvSpPr>
        <p:spPr>
          <a:xfrm>
            <a:off x="9601200" y="6327648"/>
            <a:ext cx="1828800" cy="320040"/>
          </a:xfrm>
          <a:prstGeom prst="rect">
            <a:avLst/>
          </a:prstGeom>
          <a:noFill/>
        </p:spPr>
        <p:txBody>
          <a:bodyPr wrap="none" lIns="0" rIns="0" tIns="0" bIns="0">
            <a:spAutoFit/>
          </a:bodyPr>
          <a:lstStyle/>
          <a:p>
            <a:pPr algn="r">
              <a:defRPr sz="1000">
                <a:solidFill>
                  <a:srgbClr val="94A3B8"/>
                </a:solidFill>
              </a:defRPr>
            </a:pPr>
            <a:r>
              <a:t>Slide 10</a:t>
            </a:r>
          </a:p>
        </p:txBody>
      </p:sp>
      <p:sp>
        <p:nvSpPr>
          <p:cNvPr id="8" name="Rounded Rectangle 7"/>
          <p:cNvSpPr/>
          <p:nvPr/>
        </p:nvSpPr>
        <p:spPr>
          <a:xfrm>
            <a:off x="731520" y="1645920"/>
            <a:ext cx="5120640" cy="4297680"/>
          </a:xfrm>
          <a:prstGeom prst="roundRect">
            <a:avLst/>
          </a:prstGeom>
          <a:solidFill>
            <a:srgbClr val="141C2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320040" tIns="274320"/>
          <a:lstStyle/>
          <a:p>
            <a:pPr algn="ctr">
              <a:defRPr sz="1200" b="1">
                <a:solidFill>
                  <a:srgbClr val="38BDF8"/>
                </a:solidFill>
              </a:defRPr>
            </a:pPr>
            <a:r>
              <a:t>📄 UNIVERSAL PROMPT SYSTEM</a:t>
            </a:r>
          </a:p>
          <a:p>
            <a:pPr>
              <a:spcBef>
                <a:spcPts val="400"/>
              </a:spcBef>
              <a:defRPr sz="2100" b="1">
                <a:solidFill>
                  <a:srgbClr val="F8FAFC"/>
                </a:solidFill>
              </a:defRPr>
            </a:pPr>
            <a:r>
              <a:t>JOB-HUNTING-PROMPT.md</a:t>
            </a:r>
          </a:p>
          <a:p>
            <a:pPr>
              <a:spcBef>
                <a:spcPts val="1400"/>
              </a:spcBef>
              <a:defRPr sz="1400" b="1">
                <a:solidFill>
                  <a:srgbClr val="2DD4BF"/>
                </a:solidFill>
              </a:defRPr>
            </a:pPr>
            <a:r>
              <a:t>• AI Interview Simulator:</a:t>
            </a:r>
          </a:p>
          <a:p>
            <a:pPr>
              <a:spcBef>
                <a:spcPts val="200"/>
              </a:spcBef>
              <a:defRPr sz="1300">
                <a:solidFill>
                  <a:srgbClr val="E2E8F0"/>
                </a:solidFill>
              </a:defRPr>
            </a:pPr>
            <a:r>
              <a:t>Conducts realistic live mock technical assessments and behavioral STAR rounds.</a:t>
            </a:r>
          </a:p>
          <a:p>
            <a:pPr>
              <a:spcBef>
                <a:spcPts val="1400"/>
              </a:spcBef>
              <a:defRPr sz="1400" b="1">
                <a:solidFill>
                  <a:srgbClr val="2DD4BF"/>
                </a:solidFill>
              </a:defRPr>
            </a:pPr>
            <a:r>
              <a:t>• Resume &amp; ATS Auditor:</a:t>
            </a:r>
          </a:p>
          <a:p>
            <a:pPr>
              <a:spcBef>
                <a:spcPts val="200"/>
              </a:spcBef>
              <a:defRPr sz="1300">
                <a:solidFill>
                  <a:srgbClr val="E2E8F0"/>
                </a:solidFill>
              </a:defRPr>
            </a:pPr>
            <a:r>
              <a:t>Rewrites bullet points into quantifiable Google formula impact statements.</a:t>
            </a:r>
          </a:p>
          <a:p>
            <a:pPr>
              <a:spcBef>
                <a:spcPts val="1400"/>
              </a:spcBef>
              <a:defRPr sz="1400" b="1">
                <a:solidFill>
                  <a:srgbClr val="2DD4BF"/>
                </a:solidFill>
              </a:defRPr>
            </a:pPr>
            <a:r>
              <a:t>• Universal AI Support:</a:t>
            </a:r>
          </a:p>
          <a:p>
            <a:pPr>
              <a:spcBef>
                <a:spcPts val="200"/>
              </a:spcBef>
              <a:defRPr sz="1300">
                <a:solidFill>
                  <a:srgbClr val="E2E8F0"/>
                </a:solidFill>
              </a:defRPr>
            </a:pPr>
            <a:r>
              <a:t>Works instantly in ChatGPT, Claude Projects, Google Gemini, or local models.</a:t>
            </a:r>
          </a:p>
        </p:txBody>
      </p:sp>
      <p:sp>
        <p:nvSpPr>
          <p:cNvPr id="9" name="Rounded Rectangle 8"/>
          <p:cNvSpPr/>
          <p:nvPr/>
        </p:nvSpPr>
        <p:spPr>
          <a:xfrm>
            <a:off x="6309360" y="1645920"/>
            <a:ext cx="5120640" cy="4297680"/>
          </a:xfrm>
          <a:prstGeom prst="roundRect">
            <a:avLst/>
          </a:prstGeom>
          <a:solidFill>
            <a:srgbClr val="141C2B"/>
          </a:solidFill>
          <a:ln w="19050">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wrap="square" lIns="320040" tIns="274320"/>
          <a:lstStyle/>
          <a:p>
            <a:pPr algn="ctr">
              <a:defRPr sz="1200" b="1">
                <a:solidFill>
                  <a:srgbClr val="2DD4BF"/>
                </a:solidFill>
              </a:defRPr>
            </a:pPr>
            <a:r>
              <a:t>📦 PRE-PACKAGED SKILL JAR</a:t>
            </a:r>
          </a:p>
          <a:p>
            <a:pPr>
              <a:spcBef>
                <a:spcPts val="400"/>
              </a:spcBef>
              <a:defRPr sz="2100" b="1">
                <a:solidFill>
                  <a:srgbClr val="F8FAFC"/>
                </a:solidFill>
              </a:defRPr>
            </a:pPr>
            <a:r>
              <a:t>job-hunting.skill</a:t>
            </a:r>
          </a:p>
          <a:p>
            <a:pPr>
              <a:spcBef>
                <a:spcPts val="1400"/>
              </a:spcBef>
              <a:defRPr sz="1400" b="1">
                <a:solidFill>
                  <a:srgbClr val="FBBF24"/>
                </a:solidFill>
              </a:defRPr>
            </a:pPr>
            <a:r>
              <a:t>• Readiness Rubrics Included:</a:t>
            </a:r>
          </a:p>
          <a:p>
            <a:pPr>
              <a:spcBef>
                <a:spcPts val="200"/>
              </a:spcBef>
              <a:defRPr sz="1300">
                <a:solidFill>
                  <a:srgbClr val="E2E8F0"/>
                </a:solidFill>
              </a:defRPr>
            </a:pPr>
            <a:r>
              <a:t>Contains full evaluation criteria for Technical Assessments, System Design, and Behavioral interviews.</a:t>
            </a:r>
          </a:p>
          <a:p>
            <a:pPr>
              <a:spcBef>
                <a:spcPts val="1400"/>
              </a:spcBef>
              <a:defRPr sz="1400" b="1">
                <a:solidFill>
                  <a:srgbClr val="FBBF24"/>
                </a:solidFill>
              </a:defRPr>
            </a:pPr>
            <a:r>
              <a:t>• One-Click Knowledge Base:</a:t>
            </a:r>
          </a:p>
          <a:p>
            <a:pPr>
              <a:spcBef>
                <a:spcPts val="200"/>
              </a:spcBef>
              <a:defRPr sz="1300">
                <a:solidFill>
                  <a:srgbClr val="E2E8F0"/>
                </a:solidFill>
              </a:defRPr>
            </a:pPr>
            <a:r>
              <a:t>Upload directly into Claude Projects or Antigravity agents for personal career coaching.</a:t>
            </a:r>
          </a:p>
          <a:p>
            <a:pPr>
              <a:spcBef>
                <a:spcPts val="1400"/>
              </a:spcBef>
              <a:defRPr sz="1400" b="1">
                <a:solidFill>
                  <a:srgbClr val="FBBF24"/>
                </a:solidFill>
              </a:defRPr>
            </a:pPr>
            <a:r>
              <a:t>• 100% Free &amp; Open Source:</a:t>
            </a:r>
          </a:p>
          <a:p>
            <a:pPr>
              <a:spcBef>
                <a:spcPts val="200"/>
              </a:spcBef>
              <a:defRPr sz="1300">
                <a:solidFill>
                  <a:srgbClr val="E2E8F0"/>
                </a:solidFill>
              </a:defRPr>
            </a:pPr>
            <a:r>
              <a:t>Engineered by R.K. SKILLFORGE to democratize career growth for builders globally.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0698480" cy="73152"/>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25880"/>
            <a:ext cx="10698480" cy="1280160"/>
          </a:xfrm>
          <a:prstGeom prst="rect">
            <a:avLst/>
          </a:prstGeom>
          <a:noFill/>
        </p:spPr>
        <p:txBody>
          <a:bodyPr wrap="square">
            <a:spAutoFit/>
          </a:bodyPr>
          <a:lstStyle/>
          <a:p>
            <a:pPr>
              <a:defRPr sz="1400" b="1">
                <a:solidFill>
                  <a:srgbClr val="FBBF24"/>
                </a:solidFill>
              </a:defRPr>
            </a:pPr>
            <a:r>
              <a:t>🎉 CONGRATULATIONS ON COMPLETING THE MASTERCLASS!</a:t>
            </a:r>
          </a:p>
          <a:p>
            <a:pPr>
              <a:spcBef>
                <a:spcPts val="400"/>
              </a:spcBef>
              <a:defRPr sz="3600" b="1">
                <a:solidFill>
                  <a:srgbClr val="F8FAFC"/>
                </a:solidFill>
              </a:defRPr>
            </a:pPr>
            <a:r>
              <a:t>AI Mentor: From Interest to Career Mastery</a:t>
            </a:r>
          </a:p>
        </p:txBody>
      </p:sp>
      <p:sp>
        <p:nvSpPr>
          <p:cNvPr id="5" name="Rounded Rectangle 4"/>
          <p:cNvSpPr/>
          <p:nvPr/>
        </p:nvSpPr>
        <p:spPr>
          <a:xfrm>
            <a:off x="731520" y="2834640"/>
            <a:ext cx="10698480" cy="2743200"/>
          </a:xfrm>
          <a:prstGeom prst="roundRect">
            <a:avLst/>
          </a:prstGeom>
          <a:solidFill>
            <a:srgbClr val="141C2B"/>
          </a:solidFill>
          <a:ln w="12700">
            <a:solidFill>
              <a:srgbClr val="27334A"/>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defRPr sz="2200" b="1">
                <a:solidFill>
                  <a:srgbClr val="2DD4BF"/>
                </a:solidFill>
              </a:defRPr>
            </a:pPr>
            <a:r>
              <a:t>Presented with Pride &amp; Passion by R.K. SKILLFORGE</a:t>
            </a:r>
          </a:p>
          <a:p>
            <a:pPr>
              <a:spcBef>
                <a:spcPts val="1000"/>
              </a:spcBef>
              <a:defRPr sz="1500">
                <a:solidFill>
                  <a:srgbClr val="E2E8F0"/>
                </a:solidFill>
              </a:defRPr>
            </a:pPr>
            <a:r>
              <a:t>🌟  Star the AI Mentor GitHub Repository to keep all 5 modules in your toolkit</a:t>
            </a:r>
          </a:p>
          <a:p>
            <a:pPr>
              <a:spcBef>
                <a:spcPts val="1000"/>
              </a:spcBef>
              <a:defRPr sz="1500">
                <a:solidFill>
                  <a:srgbClr val="E2E8F0"/>
                </a:solidFill>
              </a:defRPr>
            </a:pPr>
            <a:r>
              <a:t>🔔  Subscribe to our channel with notifications for upcoming masterclasses and deep dives</a:t>
            </a:r>
          </a:p>
          <a:p>
            <a:pPr>
              <a:spcBef>
                <a:spcPts val="1000"/>
              </a:spcBef>
              <a:defRPr sz="1500">
                <a:solidFill>
                  <a:srgbClr val="E2E8F0"/>
                </a:solidFill>
              </a:defRPr>
            </a:pPr>
            <a:r>
              <a:t>💬  Drop your career goals and target role in the comments—we will personally review your plans!</a:t>
            </a:r>
          </a:p>
          <a:p>
            <a:pPr>
              <a:spcBef>
                <a:spcPts val="1000"/>
              </a:spcBef>
              <a:defRPr sz="1500">
                <a:solidFill>
                  <a:srgbClr val="E2E8F0"/>
                </a:solidFill>
              </a:defRPr>
            </a:pPr>
            <a:r>
              <a:t>🚀  Go take action: Build your proof of work, connect with real mentors, and win your dream role!</a:t>
            </a:r>
          </a:p>
        </p:txBody>
      </p:sp>
      <p:sp>
        <p:nvSpPr>
          <p:cNvPr id="6" name="TextBox 5"/>
          <p:cNvSpPr txBox="1"/>
          <p:nvPr/>
        </p:nvSpPr>
        <p:spPr>
          <a:xfrm>
            <a:off x="731520" y="5806440"/>
            <a:ext cx="10698480" cy="457200"/>
          </a:xfrm>
          <a:prstGeom prst="rect">
            <a:avLst/>
          </a:prstGeom>
          <a:noFill/>
        </p:spPr>
        <p:txBody>
          <a:bodyPr wrap="none">
            <a:spAutoFit/>
          </a:bodyPr>
          <a:lstStyle/>
          <a:p>
            <a:pPr algn="ctr">
              <a:defRPr sz="1300">
                <a:solidFill>
                  <a:srgbClr val="94A3B8"/>
                </a:solidFill>
              </a:defRPr>
            </a:pPr>
            <a:r>
              <a:t>© R.K. SKILLFORGE   |   AI Mentor Masterclass Series   |   100% Free Lifetime Access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