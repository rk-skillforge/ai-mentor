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INTRO:</a:t>
            </a:r>
          </a:p>
          <a:p>
            <a:r>
              <a:t>"Welcome back to AI Mentor by R.K. SKILLFORGE! Today we are diving into Module 01: 'Find Your Way'.</a:t>
            </a:r>
          </a:p>
          <a:p>
            <a:r>
              <a:t>In our introduction, we looked at why traditional learning fails. In this video, we're giving you the exact 9-pillar engine to take ANY idea, topic, or career interest and turn it into a battle-tested, step-by-step reality.</a:t>
            </a:r>
          </a:p>
          <a:p>
            <a:r>
              <a:t>Whether you want to learn AI Engineering, Cloud Architecture, Full-Stack Development, or Data Science, this framework will give you radical clarity.</a:t>
            </a:r>
          </a:p>
          <a:p>
            <a:r>
              <a:t>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"Whenever you get excited about a new skill, your instinct is usually to open YouTube and search 'Python Tutorial for Beginners' or 'Docker Crash Course'.</a:t>
            </a:r>
          </a:p>
          <a:p>
            <a:r>
              <a:t>Stop right there. That is how people get stuck in tutorial purgatory.</a:t>
            </a:r>
          </a:p>
          <a:p>
            <a:r>
              <a:t>Before you spend hundreds of hours, you need diagnostic clarity. You need to know: Does this skill lead to real jobs? What will you actually build? What are the daily headaches of that role?</a:t>
            </a:r>
          </a:p>
          <a:p>
            <a:r>
              <a:t>Module 01 provides that compass so you only invest your time where it generates long-term career value."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the complete architecture of our framework. 9 structured pillars.</a:t>
            </a:r>
          </a:p>
          <a:p>
            <a:r>
              <a:t>Notice how this is not a random checklist. It is an end-to-end pipeline.</a:t>
            </a:r>
          </a:p>
          <a:p>
            <a:r>
              <a:t>We start with Topic Exploration, separate Fundamentals from Trends, map Career Opportunities, build a custom Roadmap, apply AI Safely, connect with Human Mentors, defend against Hallucinations, Score the idea out of 10, and commit to Practical Action.</a:t>
            </a:r>
          </a:p>
          <a:p>
            <a:r>
              <a:t>Let's break down how each pillar works in detail."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"Let's look at Pillars 1 and 2.</a:t>
            </a:r>
          </a:p>
          <a:p>
            <a:r>
              <a:t>In Pillar 1, before writing any code, we ask 11 diagnostic questions. Who uses this? What are daily responsibilities? What are real production headaches?</a:t>
            </a:r>
          </a:p>
          <a:p>
            <a:r>
              <a:t>In Pillar 2, we ruthlessly separate fundamentals from hype. If you spend all your time learning the trendy JavaScript library of the week, you'll be obsolete next year.</a:t>
            </a:r>
          </a:p>
          <a:p>
            <a:r>
              <a:t>Learn the core protocols, databases, and problem-solving principles. Fundamentals never expire."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"In Pillar 3, we map career opportunities. Don't learn a skill in a vacuum. Understand where you will apply it: in a startup, in enterprise tech, or as an independent consultant?</a:t>
            </a:r>
          </a:p>
          <a:p>
            <a:r>
              <a:t>In Pillar 4, we build a 7-stage roadmap:</a:t>
            </a:r>
          </a:p>
          <a:p>
            <a:r>
              <a:t>Start, Learn, Practice, Build, Apply, Improve, Opportunity.</a:t>
            </a:r>
          </a:p>
          <a:p>
            <a:r>
              <a:t>Notice that 'Build' and 'Apply' come before 'Opportunity'. A certificate doesn't get you hired; a deployed project that solves a business problem does."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"Pillar 5 is critical in today's generative AI era: Safe AI Usage.</a:t>
            </a:r>
          </a:p>
          <a:p>
            <a:r>
              <a:t>If you use AI as a crutch—copy-pasting code without understanding how it works—you will fail the first technical interview you sit for.</a:t>
            </a:r>
          </a:p>
          <a:p>
            <a:r>
              <a:t>Use AI to explain hard concepts, generate test data, or debug confusing errors.</a:t>
            </a:r>
          </a:p>
          <a:p>
            <a:r>
              <a:t>Never let AI do your thinking for you. Your value as a professional lies in your ability to reason, architect, and communicate."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let's talk about Pillar 6: Finding a Real Mentor.</a:t>
            </a:r>
          </a:p>
          <a:p>
            <a:r>
              <a:t>AI is incredible, but AI cannot introduce you to a hiring manager, and AI cannot tell you what it feels like to manage a 3 AM database outage.</a:t>
            </a:r>
          </a:p>
          <a:p>
            <a:r>
              <a:t>Real human mentors provide context, nuance, and encouragement.</a:t>
            </a:r>
          </a:p>
          <a:p>
            <a:r>
              <a:t>Notice how we teach outreach: Never ask someone blindly 'will you mentor me?'. Instead, show what you've already built, ask a specific question about an edge case, and show gratitude. That is how real relationships are forged."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"Pillars 7 and 8 are what make AI Mentor unique in the industry.</a:t>
            </a:r>
          </a:p>
          <a:p>
            <a:r>
              <a:t>Most AI chat models are 'yes-men'. They praise whatever idea you give them, even if it makes zero sense.</a:t>
            </a:r>
          </a:p>
          <a:p>
            <a:r>
              <a:t>In AI Mentor, we demand honesty over agreement. We instruct the model: 'If I am wrong, tell me I'm wrong.'</a:t>
            </a:r>
          </a:p>
          <a:p>
            <a:r>
              <a:t>And in Pillar 8, we give every plan an honest score out of 10, highlighting what is weak, what is missing, and what could fail before you invest your life savings or 6 months of your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Pillar 9 in a single visual: The 10-Step Action Pipeline.</a:t>
            </a:r>
          </a:p>
          <a:p>
            <a:r>
              <a:t>You start with Curiosity. You explore and understand. You isolate fundamentals, learn, practice, connect with real mentors, build real production code, generate market proof, and land the career.</a:t>
            </a:r>
          </a:p>
          <a:p>
            <a:r>
              <a:t>If you skip steps—if you jump from Interest straight to Job Applications without building or connecting—you will get frustrated.</a:t>
            </a:r>
          </a:p>
          <a:p>
            <a:r>
              <a:t>Follow this 10-step pipeline, and success becomes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"Everything we just covered is not just theory. We have built the tools for you.</a:t>
            </a:r>
          </a:p>
          <a:p>
            <a:r>
              <a:t>In the Module 01 repository, you will find two ready-to-use assets:</a:t>
            </a:r>
          </a:p>
          <a:p>
            <a:r>
              <a:t>First, AI-MENTOR-PROMPT.md. You can copy and paste this into ChatGPT, Gemini, or Claude right now, and it will immediately act as your personal AI Mentor.</a:t>
            </a:r>
          </a:p>
          <a:p>
            <a:r>
              <a:t>Second, ai-mentor.skill, which is a pre-packaged skill jar that you can upload to Claude Projects or your custom AI agents.</a:t>
            </a:r>
          </a:p>
          <a:p>
            <a:r>
              <a:t>Both are 100% free and open-source from R.K. SKILLFORGE."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OUTRO:</a:t>
            </a:r>
          </a:p>
          <a:p>
            <a:r>
              <a:t>"Thank you for watching Module 01 of AI Mentor, brought to you by R.K. SKILLFORGE.</a:t>
            </a:r>
          </a:p>
          <a:p>
            <a:r>
              <a:t>You now have the exact blueprint to take any vague interest and turn it into a concrete career path.</a:t>
            </a:r>
          </a:p>
          <a:p>
            <a:r>
              <a:t>In our next video, Module 02: Make an Online Presence, we will show you how to build your proof of work, stand out from the crowd, and get noticed by clients and recruiters.</a:t>
            </a:r>
          </a:p>
          <a:p>
            <a:r>
              <a:t>Don't forget to like, subscribe, and star the GitHub repository.</a:t>
            </a:r>
          </a:p>
          <a:p>
            <a:r>
              <a:t>I'll see you in Module 02!"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9728" cy="43891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097280"/>
            <a:ext cx="6217920" cy="411480"/>
          </a:xfrm>
          <a:prstGeom prst="rect">
            <a:avLst/>
          </a:prstGeom>
          <a:noFill/>
        </p:spPr>
        <p:txBody>
          <a:bodyPr wrap="none">
            <a:spAutoFit/>
          </a:bodyPr>
          <a:lstStyle/>
          <a:p>
            <a:pPr>
              <a:defRPr sz="1400" b="1">
                <a:solidFill>
                  <a:srgbClr val="2DD4BF"/>
                </a:solidFill>
              </a:defRPr>
            </a:pPr>
            <a:r>
              <a:t>🚀 R.K. SKILLFORGE MASTERCLASS</a:t>
            </a:r>
          </a:p>
        </p:txBody>
      </p:sp>
      <p:sp>
        <p:nvSpPr>
          <p:cNvPr id="5" name="TextBox 4"/>
          <p:cNvSpPr txBox="1"/>
          <p:nvPr/>
        </p:nvSpPr>
        <p:spPr>
          <a:xfrm>
            <a:off x="1051560" y="1600200"/>
            <a:ext cx="6217920" cy="1554480"/>
          </a:xfrm>
          <a:prstGeom prst="rect">
            <a:avLst/>
          </a:prstGeom>
          <a:noFill/>
        </p:spPr>
        <p:txBody>
          <a:bodyPr wrap="square">
            <a:spAutoFit/>
          </a:bodyPr>
          <a:lstStyle/>
          <a:p>
            <a:pPr>
              <a:defRPr sz="4600" b="1">
                <a:solidFill>
                  <a:srgbClr val="F8FAFC"/>
                </a:solidFill>
              </a:defRPr>
            </a:pPr>
            <a:r>
              <a:t>AI MENTOR</a:t>
            </a:r>
          </a:p>
          <a:p>
            <a:pPr>
              <a:defRPr sz="2200" b="1">
                <a:solidFill>
                  <a:srgbClr val="38BDF8"/>
                </a:solidFill>
              </a:defRPr>
            </a:pPr>
            <a:r>
              <a:t>Module 01: Find Your Way</a:t>
            </a:r>
          </a:p>
        </p:txBody>
      </p:sp>
      <p:sp>
        <p:nvSpPr>
          <p:cNvPr id="6" name="TextBox 5"/>
          <p:cNvSpPr txBox="1"/>
          <p:nvPr/>
        </p:nvSpPr>
        <p:spPr>
          <a:xfrm>
            <a:off x="1051560" y="3291840"/>
            <a:ext cx="6217920" cy="1097280"/>
          </a:xfrm>
          <a:prstGeom prst="rect">
            <a:avLst/>
          </a:prstGeom>
          <a:noFill/>
        </p:spPr>
        <p:txBody>
          <a:bodyPr wrap="square">
            <a:spAutoFit/>
          </a:bodyPr>
          <a:lstStyle/>
          <a:p>
            <a:pPr>
              <a:defRPr sz="1700">
                <a:solidFill>
                  <a:srgbClr val="F8FAFC"/>
                </a:solidFill>
              </a:defRPr>
            </a:pPr>
            <a:r>
              <a:t>Lesson 1.1 — From Vague Interest to Concrete Mastery</a:t>
            </a:r>
          </a:p>
          <a:p>
            <a:pPr>
              <a:spcBef>
                <a:spcPts val="600"/>
              </a:spcBef>
              <a:defRPr sz="1600" b="1">
                <a:solidFill>
                  <a:srgbClr val="FBBF24"/>
                </a:solidFill>
              </a:defRPr>
            </a:pPr>
            <a:r>
              <a:t>Honest Skill Analysis  •  Custom Roadmaps  •  Real Mentorship</a:t>
            </a:r>
          </a:p>
        </p:txBody>
      </p:sp>
      <p:sp>
        <p:nvSpPr>
          <p:cNvPr id="7" name="Rounded Rectangle 6"/>
          <p:cNvSpPr/>
          <p:nvPr/>
        </p:nvSpPr>
        <p:spPr>
          <a:xfrm>
            <a:off x="7333488" y="1298448"/>
            <a:ext cx="4169664" cy="2414016"/>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 Mentor Thumbnail.png"/>
          <p:cNvPicPr>
            <a:picLocks noChangeAspect="1"/>
          </p:cNvPicPr>
          <p:nvPr/>
        </p:nvPicPr>
        <p:blipFill>
          <a:blip r:embed="rId2"/>
          <a:stretch>
            <a:fillRect/>
          </a:stretch>
        </p:blipFill>
        <p:spPr>
          <a:xfrm>
            <a:off x="7406640" y="1371600"/>
            <a:ext cx="4023360" cy="2267712"/>
          </a:xfrm>
          <a:prstGeom prst="rect">
            <a:avLst/>
          </a:prstGeom>
        </p:spPr>
      </p:pic>
      <p:sp>
        <p:nvSpPr>
          <p:cNvPr id="9" name="Rounded Rectangle 8"/>
          <p:cNvSpPr/>
          <p:nvPr/>
        </p:nvSpPr>
        <p:spPr>
          <a:xfrm>
            <a:off x="7406640" y="3840480"/>
            <a:ext cx="4023360" cy="16459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FBBF24"/>
                </a:solidFill>
              </a:defRPr>
            </a:pPr>
            <a:r>
              <a:t>🧭 The 9-Pillar Decision Framework</a:t>
            </a:r>
          </a:p>
          <a:p>
            <a:pPr>
              <a:spcBef>
                <a:spcPts val="400"/>
              </a:spcBef>
              <a:defRPr sz="1200">
                <a:solidFill>
                  <a:srgbClr val="94A3B8"/>
                </a:solidFill>
              </a:defRPr>
            </a:pPr>
            <a:r>
              <a:t>Presented by R.K. SKILLFORGE</a:t>
            </a:r>
            <a:br/>
            <a:r>
              <a:t>Includes: Prompt Jar &amp; Custom Frameworks</a:t>
            </a:r>
            <a:br/>
            <a:r>
              <a:t>Outcome: Crystal Clear Career Blueprint</a:t>
            </a:r>
          </a:p>
        </p:txBody>
      </p:sp>
      <p:sp>
        <p:nvSpPr>
          <p:cNvPr id="10" name="Rounded Rectangle 9"/>
          <p:cNvSpPr/>
          <p:nvPr/>
        </p:nvSpPr>
        <p:spPr>
          <a:xfrm>
            <a:off x="1051560" y="4754880"/>
            <a:ext cx="6035040" cy="7315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lIns="228600" tIns="137160"/>
          <a:lstStyle/>
          <a:p>
            <a:pPr algn="ctr">
              <a:defRPr sz="1200" b="1">
                <a:solidFill>
                  <a:srgbClr val="F8FAFC"/>
                </a:solidFill>
              </a:defRPr>
            </a:pPr>
            <a:r>
              <a:t>Engineered by R.K. SKILLFORGE</a:t>
            </a:r>
          </a:p>
          <a:p>
            <a:pPr>
              <a:defRPr sz="1100">
                <a:solidFill>
                  <a:srgbClr val="94A3B8"/>
                </a:solidFill>
              </a:defRPr>
            </a:pPr>
            <a:r>
              <a:t>How to evaluate any skill, build actionable roadmaps, and avoid AI traps.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1.1 • FIND YOUR WAY</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Core Mission: Interest ➔ Passion ➔ Career</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2</a:t>
            </a:r>
          </a:p>
        </p:txBody>
      </p:sp>
      <p:sp>
        <p:nvSpPr>
          <p:cNvPr id="8" name="Rounded Rectangle 7"/>
          <p:cNvSpPr/>
          <p:nvPr/>
        </p:nvSpPr>
        <p:spPr>
          <a:xfrm>
            <a:off x="731520" y="1508760"/>
            <a:ext cx="10698480" cy="10972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200" b="1">
                <a:solidFill>
                  <a:srgbClr val="FBBF24"/>
                </a:solidFill>
              </a:defRPr>
            </a:pPr>
            <a:r>
              <a:t>THE TRANSFORMATION FORMULA</a:t>
            </a:r>
          </a:p>
          <a:p>
            <a:pPr algn="ctr">
              <a:spcBef>
                <a:spcPts val="400"/>
              </a:spcBef>
              <a:defRPr sz="2800" b="1">
                <a:solidFill>
                  <a:srgbClr val="F8FAFC"/>
                </a:solidFill>
              </a:defRPr>
            </a:pPr>
            <a:r>
              <a:t>INTEREST   ➔   PASSION   ➔   CAREER</a:t>
            </a:r>
          </a:p>
        </p:txBody>
      </p:sp>
      <p:sp>
        <p:nvSpPr>
          <p:cNvPr id="9" name="Rounded Rectangle 8"/>
          <p:cNvSpPr/>
          <p:nvPr/>
        </p:nvSpPr>
        <p:spPr>
          <a:xfrm>
            <a:off x="731520" y="2834640"/>
            <a:ext cx="3328416" cy="32004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800" b="1">
                <a:solidFill>
                  <a:srgbClr val="2DD4BF"/>
                </a:solidFill>
              </a:defRPr>
            </a:pPr>
            <a:r>
              <a:t>💡 1. Stop Vague Guessing</a:t>
            </a:r>
          </a:p>
          <a:p>
            <a:pPr>
              <a:spcBef>
                <a:spcPts val="1400"/>
              </a:spcBef>
              <a:defRPr sz="1400">
                <a:solidFill>
                  <a:srgbClr val="E2E8F0"/>
                </a:solidFill>
              </a:defRPr>
            </a:pPr>
            <a:r>
              <a:t>Most learners waste 6-12 months learning tools they will never use in production. We replace guesswork with rigorous diagnostic research before writing a single line of code.</a:t>
            </a:r>
          </a:p>
        </p:txBody>
      </p:sp>
      <p:sp>
        <p:nvSpPr>
          <p:cNvPr id="10" name="Rounded Rectangle 9"/>
          <p:cNvSpPr/>
          <p:nvPr/>
        </p:nvSpPr>
        <p:spPr>
          <a:xfrm>
            <a:off x="4425696" y="2834640"/>
            <a:ext cx="3328416" cy="32004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800" b="1">
                <a:solidFill>
                  <a:srgbClr val="38BDF8"/>
                </a:solidFill>
              </a:defRPr>
            </a:pPr>
            <a:r>
              <a:t>🔬 2. Honest Market Analysis</a:t>
            </a:r>
          </a:p>
          <a:p>
            <a:pPr>
              <a:spcBef>
                <a:spcPts val="1400"/>
              </a:spcBef>
              <a:defRPr sz="1400">
                <a:solidFill>
                  <a:srgbClr val="E2E8F0"/>
                </a:solidFill>
              </a:defRPr>
            </a:pPr>
            <a:r>
              <a:t>We analyze the actual hiring landscape: Which industries pay for this skill? What does a practitioner actually do on an average morning? What are the hard failure points?</a:t>
            </a:r>
          </a:p>
        </p:txBody>
      </p:sp>
      <p:sp>
        <p:nvSpPr>
          <p:cNvPr id="11" name="Rounded Rectangle 10"/>
          <p:cNvSpPr/>
          <p:nvPr/>
        </p:nvSpPr>
        <p:spPr>
          <a:xfrm>
            <a:off x="8119872" y="2834640"/>
            <a:ext cx="3328416" cy="32004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800" b="1">
                <a:solidFill>
                  <a:srgbClr val="FBBF24"/>
                </a:solidFill>
              </a:defRPr>
            </a:pPr>
            <a:r>
              <a:t>🚀 3. Measurable Progression</a:t>
            </a:r>
          </a:p>
          <a:p>
            <a:pPr>
              <a:spcBef>
                <a:spcPts val="1400"/>
              </a:spcBef>
              <a:defRPr sz="1400">
                <a:solidFill>
                  <a:srgbClr val="E2E8F0"/>
                </a:solidFill>
              </a:defRPr>
            </a:pPr>
            <a:r>
              <a:t>Transition from passive tutorial watching to building authentic projects, receiving blunt critique, and connecting with real industry professionals.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1.1 • FIND YOUR WAY</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9 Pillars of the Find-Your-Way Framework</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3</a:t>
            </a:r>
          </a:p>
        </p:txBody>
      </p:sp>
      <p:sp>
        <p:nvSpPr>
          <p:cNvPr id="8" name="Rounded Rectangle 7"/>
          <p:cNvSpPr/>
          <p:nvPr/>
        </p:nvSpPr>
        <p:spPr>
          <a:xfrm>
            <a:off x="731520" y="1645920"/>
            <a:ext cx="3328416" cy="12801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600" b="1">
                <a:solidFill>
                  <a:srgbClr val="38BDF8"/>
                </a:solidFill>
              </a:defRPr>
            </a:pPr>
            <a:r>
              <a:t>01. Understand Topic</a:t>
            </a:r>
          </a:p>
          <a:p>
            <a:pPr>
              <a:spcBef>
                <a:spcPts val="400"/>
              </a:spcBef>
              <a:defRPr sz="1200">
                <a:solidFill>
                  <a:srgbClr val="94A3B8"/>
                </a:solidFill>
              </a:defRPr>
            </a:pPr>
            <a:r>
              <a:t>Deep research into real-world applications &amp; daily duties.</a:t>
            </a:r>
          </a:p>
        </p:txBody>
      </p:sp>
      <p:sp>
        <p:nvSpPr>
          <p:cNvPr id="9" name="Rounded Rectangle 8"/>
          <p:cNvSpPr/>
          <p:nvPr/>
        </p:nvSpPr>
        <p:spPr>
          <a:xfrm>
            <a:off x="4425696" y="1645920"/>
            <a:ext cx="3328416" cy="12801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600" b="1">
                <a:solidFill>
                  <a:srgbClr val="2DD4BF"/>
                </a:solidFill>
              </a:defRPr>
            </a:pPr>
            <a:r>
              <a:t>02. Fundamentals vs Trends</a:t>
            </a:r>
          </a:p>
          <a:p>
            <a:pPr>
              <a:spcBef>
                <a:spcPts val="400"/>
              </a:spcBef>
              <a:defRPr sz="1200">
                <a:solidFill>
                  <a:srgbClr val="94A3B8"/>
                </a:solidFill>
              </a:defRPr>
            </a:pPr>
            <a:r>
              <a:t>Isolate timeless principles from temporary tool fads.</a:t>
            </a:r>
          </a:p>
        </p:txBody>
      </p:sp>
      <p:sp>
        <p:nvSpPr>
          <p:cNvPr id="10" name="Rounded Rectangle 9"/>
          <p:cNvSpPr/>
          <p:nvPr/>
        </p:nvSpPr>
        <p:spPr>
          <a:xfrm>
            <a:off x="8119872" y="1645920"/>
            <a:ext cx="3328416" cy="12801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600" b="1">
                <a:solidFill>
                  <a:srgbClr val="FBBF24"/>
                </a:solidFill>
              </a:defRPr>
            </a:pPr>
            <a:r>
              <a:t>03. Career Analysis</a:t>
            </a:r>
          </a:p>
          <a:p>
            <a:pPr>
              <a:spcBef>
                <a:spcPts val="400"/>
              </a:spcBef>
              <a:defRPr sz="1200">
                <a:solidFill>
                  <a:srgbClr val="94A3B8"/>
                </a:solidFill>
              </a:defRPr>
            </a:pPr>
            <a:r>
              <a:t>Map out industries, job roles, and freelance routes.</a:t>
            </a:r>
          </a:p>
        </p:txBody>
      </p:sp>
      <p:sp>
        <p:nvSpPr>
          <p:cNvPr id="11" name="Rounded Rectangle 10"/>
          <p:cNvSpPr/>
          <p:nvPr/>
        </p:nvSpPr>
        <p:spPr>
          <a:xfrm>
            <a:off x="731520" y="3154680"/>
            <a:ext cx="3328416" cy="12801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600" b="1">
                <a:solidFill>
                  <a:srgbClr val="A78BFA"/>
                </a:solidFill>
              </a:defRPr>
            </a:pPr>
            <a:r>
              <a:t>04. Learning Roadmap</a:t>
            </a:r>
          </a:p>
          <a:p>
            <a:pPr>
              <a:spcBef>
                <a:spcPts val="400"/>
              </a:spcBef>
              <a:defRPr sz="1200">
                <a:solidFill>
                  <a:srgbClr val="94A3B8"/>
                </a:solidFill>
              </a:defRPr>
            </a:pPr>
            <a:r>
              <a:t>A milestone-driven roadmap from Start to Mastery.</a:t>
            </a:r>
          </a:p>
        </p:txBody>
      </p:sp>
      <p:sp>
        <p:nvSpPr>
          <p:cNvPr id="12" name="Rounded Rectangle 11"/>
          <p:cNvSpPr/>
          <p:nvPr/>
        </p:nvSpPr>
        <p:spPr>
          <a:xfrm>
            <a:off x="4425696" y="3154680"/>
            <a:ext cx="3328416" cy="12801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600" b="1">
                <a:solidFill>
                  <a:srgbClr val="38BDF8"/>
                </a:solidFill>
              </a:defRPr>
            </a:pPr>
            <a:r>
              <a:t>05. AI Tools &amp; Safe Usage</a:t>
            </a:r>
          </a:p>
          <a:p>
            <a:pPr>
              <a:spcBef>
                <a:spcPts val="400"/>
              </a:spcBef>
              <a:defRPr sz="1200">
                <a:solidFill>
                  <a:srgbClr val="94A3B8"/>
                </a:solidFill>
              </a:defRPr>
            </a:pPr>
            <a:r>
              <a:t>Harness AI speed while preserving independent thinking.</a:t>
            </a:r>
          </a:p>
        </p:txBody>
      </p:sp>
      <p:sp>
        <p:nvSpPr>
          <p:cNvPr id="13" name="Rounded Rectangle 12"/>
          <p:cNvSpPr/>
          <p:nvPr/>
        </p:nvSpPr>
        <p:spPr>
          <a:xfrm>
            <a:off x="8119872" y="3154680"/>
            <a:ext cx="3328416" cy="12801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600" b="1">
                <a:solidFill>
                  <a:srgbClr val="2DD4BF"/>
                </a:solidFill>
              </a:defRPr>
            </a:pPr>
            <a:r>
              <a:t>06. Find a Real Mentor</a:t>
            </a:r>
          </a:p>
          <a:p>
            <a:pPr>
              <a:spcBef>
                <a:spcPts val="400"/>
              </a:spcBef>
              <a:defRPr sz="1200">
                <a:solidFill>
                  <a:srgbClr val="94A3B8"/>
                </a:solidFill>
              </a:defRPr>
            </a:pPr>
            <a:r>
              <a:t>Bridge AI with authentic human wisdom and networking.</a:t>
            </a:r>
          </a:p>
        </p:txBody>
      </p:sp>
      <p:sp>
        <p:nvSpPr>
          <p:cNvPr id="14" name="Rounded Rectangle 13"/>
          <p:cNvSpPr/>
          <p:nvPr/>
        </p:nvSpPr>
        <p:spPr>
          <a:xfrm>
            <a:off x="731520" y="4663440"/>
            <a:ext cx="3328416" cy="12801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600" b="1">
                <a:solidFill>
                  <a:srgbClr val="F87171"/>
                </a:solidFill>
              </a:defRPr>
            </a:pPr>
            <a:r>
              <a:t>07. Hallucination Defense</a:t>
            </a:r>
          </a:p>
          <a:p>
            <a:pPr>
              <a:spcBef>
                <a:spcPts val="400"/>
              </a:spcBef>
              <a:defRPr sz="1200">
                <a:solidFill>
                  <a:srgbClr val="94A3B8"/>
                </a:solidFill>
              </a:defRPr>
            </a:pPr>
            <a:r>
              <a:t>Demand blunt honesty over pleasing or fake confidence.</a:t>
            </a:r>
          </a:p>
        </p:txBody>
      </p:sp>
      <p:sp>
        <p:nvSpPr>
          <p:cNvPr id="15" name="Rounded Rectangle 14"/>
          <p:cNvSpPr/>
          <p:nvPr/>
        </p:nvSpPr>
        <p:spPr>
          <a:xfrm>
            <a:off x="4425696" y="4663440"/>
            <a:ext cx="3328416" cy="12801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600" b="1">
                <a:solidFill>
                  <a:srgbClr val="FBBF24"/>
                </a:solidFill>
              </a:defRPr>
            </a:pPr>
            <a:r>
              <a:t>08. Honest Idea Scoring</a:t>
            </a:r>
          </a:p>
          <a:p>
            <a:pPr>
              <a:spcBef>
                <a:spcPts val="400"/>
              </a:spcBef>
              <a:defRPr sz="1200">
                <a:solidFill>
                  <a:srgbClr val="94A3B8"/>
                </a:solidFill>
              </a:defRPr>
            </a:pPr>
            <a:r>
              <a:t>Get your plan or idea rated out of 10 with direct critique.</a:t>
            </a:r>
          </a:p>
        </p:txBody>
      </p:sp>
      <p:sp>
        <p:nvSpPr>
          <p:cNvPr id="16" name="Rounded Rectangle 15"/>
          <p:cNvSpPr/>
          <p:nvPr/>
        </p:nvSpPr>
        <p:spPr>
          <a:xfrm>
            <a:off x="8119872" y="4663440"/>
            <a:ext cx="3328416" cy="12801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600" b="1">
                <a:solidFill>
                  <a:srgbClr val="2DD4BF"/>
                </a:solidFill>
              </a:defRPr>
            </a:pPr>
            <a:r>
              <a:t>09. Practical Action</a:t>
            </a:r>
          </a:p>
          <a:p>
            <a:pPr>
              <a:spcBef>
                <a:spcPts val="400"/>
              </a:spcBef>
              <a:defRPr sz="1200">
                <a:solidFill>
                  <a:srgbClr val="94A3B8"/>
                </a:solidFill>
              </a:defRPr>
            </a:pPr>
            <a:r>
              <a:t>Convert research into projects, portfolio, and employment.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1.1 • FIND YOUR WAY</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1 &amp; 2: Topic Clarity &amp; Fundamentals vs Trends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4</a:t>
            </a:r>
          </a:p>
        </p:txBody>
      </p:sp>
      <p:sp>
        <p:nvSpPr>
          <p:cNvPr id="8" name="Rounded Rectangle 7"/>
          <p:cNvSpPr/>
          <p:nvPr/>
        </p:nvSpPr>
        <p:spPr>
          <a:xfrm>
            <a:off x="73152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38BDF8"/>
                </a:solidFill>
              </a:defRPr>
            </a:pPr>
            <a:r>
              <a:t>🏛️ PILLAR 01: UNDERSTAND THE TOPIC</a:t>
            </a:r>
          </a:p>
          <a:p>
            <a:pPr>
              <a:spcBef>
                <a:spcPts val="400"/>
              </a:spcBef>
              <a:defRPr sz="2000" b="1">
                <a:solidFill>
                  <a:srgbClr val="F8FAFC"/>
                </a:solidFill>
              </a:defRPr>
            </a:pPr>
            <a:r>
              <a:t>The 11 Diagnostic Questions</a:t>
            </a:r>
          </a:p>
          <a:p>
            <a:pPr>
              <a:spcBef>
                <a:spcPts val="800"/>
              </a:spcBef>
              <a:defRPr sz="1300">
                <a:solidFill>
                  <a:srgbClr val="E2E8F0"/>
                </a:solidFill>
              </a:defRPr>
            </a:pPr>
            <a:r>
              <a:t>• 1. What is this fundamentally?</a:t>
            </a:r>
          </a:p>
          <a:p>
            <a:pPr>
              <a:spcBef>
                <a:spcPts val="800"/>
              </a:spcBef>
              <a:defRPr sz="1300">
                <a:solidFill>
                  <a:srgbClr val="E2E8F0"/>
                </a:solidFill>
              </a:defRPr>
            </a:pPr>
            <a:r>
              <a:t>• 2. Why is it commercially important?</a:t>
            </a:r>
          </a:p>
          <a:p>
            <a:pPr>
              <a:spcBef>
                <a:spcPts val="800"/>
              </a:spcBef>
              <a:defRPr sz="1300">
                <a:solidFill>
                  <a:srgbClr val="E2E8F0"/>
                </a:solidFill>
              </a:defRPr>
            </a:pPr>
            <a:r>
              <a:t>• 3. How does it help people / businesses?</a:t>
            </a:r>
          </a:p>
          <a:p>
            <a:pPr>
              <a:spcBef>
                <a:spcPts val="800"/>
              </a:spcBef>
              <a:defRPr sz="1300">
                <a:solidFill>
                  <a:srgbClr val="E2E8F0"/>
                </a:solidFill>
              </a:defRPr>
            </a:pPr>
            <a:r>
              <a:t>• 4. Which exact industries hire for it?</a:t>
            </a:r>
          </a:p>
          <a:p>
            <a:pPr>
              <a:spcBef>
                <a:spcPts val="800"/>
              </a:spcBef>
              <a:defRPr sz="1300">
                <a:solidFill>
                  <a:srgbClr val="E2E8F0"/>
                </a:solidFill>
              </a:defRPr>
            </a:pPr>
            <a:r>
              <a:t>• 5. What are real-world production applications?</a:t>
            </a:r>
          </a:p>
          <a:p>
            <a:pPr>
              <a:spcBef>
                <a:spcPts val="800"/>
              </a:spcBef>
              <a:defRPr sz="1300">
                <a:solidFill>
                  <a:srgbClr val="E2E8F0"/>
                </a:solidFill>
              </a:defRPr>
            </a:pPr>
            <a:r>
              <a:t>• 6. What job roles actually exist?</a:t>
            </a:r>
          </a:p>
          <a:p>
            <a:pPr>
              <a:spcBef>
                <a:spcPts val="800"/>
              </a:spcBef>
              <a:defRPr sz="1300">
                <a:solidFill>
                  <a:srgbClr val="E2E8F0"/>
                </a:solidFill>
              </a:defRPr>
            </a:pPr>
            <a:r>
              <a:t>• 7. What are daily role responsibilities?</a:t>
            </a:r>
          </a:p>
          <a:p>
            <a:pPr>
              <a:spcBef>
                <a:spcPts val="800"/>
              </a:spcBef>
              <a:defRPr sz="1300">
                <a:solidFill>
                  <a:srgbClr val="E2E8F0"/>
                </a:solidFill>
              </a:defRPr>
            </a:pPr>
            <a:r>
              <a:t>• 8. What hard challenges will you face?</a:t>
            </a:r>
          </a:p>
        </p:txBody>
      </p:sp>
      <p:sp>
        <p:nvSpPr>
          <p:cNvPr id="9" name="Rounded Rectangle 8"/>
          <p:cNvSpPr/>
          <p:nvPr/>
        </p:nvSpPr>
        <p:spPr>
          <a:xfrm>
            <a:off x="630936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2DD4BF"/>
                </a:solidFill>
              </a:defRPr>
            </a:pPr>
            <a:r>
              <a:t>🧱 PILLAR 02: FUNDAMENTALS VS. TRENDS</a:t>
            </a:r>
          </a:p>
          <a:p>
            <a:pPr>
              <a:spcBef>
                <a:spcPts val="400"/>
              </a:spcBef>
              <a:defRPr sz="2000" b="1">
                <a:solidFill>
                  <a:srgbClr val="F8FAFC"/>
                </a:solidFill>
              </a:defRPr>
            </a:pPr>
            <a:r>
              <a:t>Escaping the FOMO Trap</a:t>
            </a:r>
          </a:p>
          <a:p>
            <a:pPr>
              <a:spcBef>
                <a:spcPts val="1200"/>
              </a:spcBef>
              <a:defRPr sz="1400" b="1">
                <a:solidFill>
                  <a:srgbClr val="FBBF24"/>
                </a:solidFill>
              </a:defRPr>
            </a:pPr>
            <a:r>
              <a:t>⭐ Timeless Fundamentals (Focus 80%)</a:t>
            </a:r>
          </a:p>
          <a:p>
            <a:pPr>
              <a:spcBef>
                <a:spcPts val="200"/>
              </a:spcBef>
              <a:defRPr sz="1250">
                <a:solidFill>
                  <a:srgbClr val="E2E8F0"/>
                </a:solidFill>
              </a:defRPr>
            </a:pPr>
            <a:r>
              <a:t>Data structures, system architecture, HTTP/networking, state management, core language semantics. These stay relevant for decades.</a:t>
            </a:r>
          </a:p>
          <a:p>
            <a:pPr>
              <a:spcBef>
                <a:spcPts val="1200"/>
              </a:spcBef>
              <a:defRPr sz="1400" b="1">
                <a:solidFill>
                  <a:srgbClr val="FBBF24"/>
                </a:solidFill>
              </a:defRPr>
            </a:pPr>
            <a:r>
              <a:t>⭐ Ephemeral Tool Hype (Focus 20%)</a:t>
            </a:r>
          </a:p>
          <a:p>
            <a:pPr>
              <a:spcBef>
                <a:spcPts val="200"/>
              </a:spcBef>
              <a:defRPr sz="1250">
                <a:solidFill>
                  <a:srgbClr val="E2E8F0"/>
                </a:solidFill>
              </a:defRPr>
            </a:pPr>
            <a:r>
              <a:t>New wrapper libraries, UI buzzwords, and weekly AI tools. If you master fundamentals, picking up any new tool takes 48 hours.</a:t>
            </a:r>
          </a:p>
          <a:p>
            <a:pPr>
              <a:spcBef>
                <a:spcPts val="1200"/>
              </a:spcBef>
              <a:defRPr sz="1400" b="1">
                <a:solidFill>
                  <a:srgbClr val="FBBF24"/>
                </a:solidFill>
              </a:defRPr>
            </a:pPr>
            <a:r>
              <a:t>⭐ Rule of Thumb</a:t>
            </a:r>
          </a:p>
          <a:p>
            <a:pPr>
              <a:spcBef>
                <a:spcPts val="200"/>
              </a:spcBef>
              <a:defRPr sz="1250">
                <a:solidFill>
                  <a:srgbClr val="E2E8F0"/>
                </a:solidFill>
              </a:defRPr>
            </a:pPr>
            <a:r>
              <a:t>Avoid spending months chasing fleeting hype. Strong fundamentals give you resilience against technological shifts.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1.1 • FIND YOUR WAY</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3 &amp; 4: Career Opportunities &amp; Action Roadmap</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5</a:t>
            </a:r>
          </a:p>
        </p:txBody>
      </p:sp>
      <p:sp>
        <p:nvSpPr>
          <p:cNvPr id="8" name="Rounded Rectangle 7"/>
          <p:cNvSpPr/>
          <p:nvPr/>
        </p:nvSpPr>
        <p:spPr>
          <a:xfrm>
            <a:off x="731520" y="1645920"/>
            <a:ext cx="5120640"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BBF24"/>
                </a:solidFill>
              </a:defRPr>
            </a:pPr>
            <a:r>
              <a:t>💼 PILLAR 03: CAREER &amp; OPPORTUNITY</a:t>
            </a:r>
          </a:p>
          <a:p>
            <a:pPr>
              <a:spcBef>
                <a:spcPts val="400"/>
              </a:spcBef>
              <a:defRPr sz="2000" b="1">
                <a:solidFill>
                  <a:srgbClr val="F8FAFC"/>
                </a:solidFill>
              </a:defRPr>
            </a:pPr>
            <a:r>
              <a:t>Where Does This Lead?</a:t>
            </a:r>
          </a:p>
          <a:p>
            <a:pPr>
              <a:spcBef>
                <a:spcPts val="1000"/>
              </a:spcBef>
              <a:defRPr sz="1400" b="1">
                <a:solidFill>
                  <a:srgbClr val="FBBF24"/>
                </a:solidFill>
              </a:defRPr>
            </a:pPr>
            <a:r>
              <a:t>• Industry Mapping:</a:t>
            </a:r>
          </a:p>
          <a:p>
            <a:pPr>
              <a:spcBef>
                <a:spcPts val="200"/>
              </a:spcBef>
              <a:defRPr sz="1250">
                <a:solidFill>
                  <a:srgbClr val="E2E8F0"/>
                </a:solidFill>
              </a:defRPr>
            </a:pPr>
            <a:r>
              <a:t>Identify target sectors: Fintech, Healthcare, E-commerce, SaaS, Enterprise.</a:t>
            </a:r>
          </a:p>
          <a:p>
            <a:pPr>
              <a:spcBef>
                <a:spcPts val="1000"/>
              </a:spcBef>
              <a:defRPr sz="1400" b="1">
                <a:solidFill>
                  <a:srgbClr val="FBBF24"/>
                </a:solidFill>
              </a:defRPr>
            </a:pPr>
            <a:r>
              <a:t>• Role Specificity:</a:t>
            </a:r>
          </a:p>
          <a:p>
            <a:pPr>
              <a:spcBef>
                <a:spcPts val="200"/>
              </a:spcBef>
              <a:defRPr sz="1250">
                <a:solidFill>
                  <a:srgbClr val="E2E8F0"/>
                </a:solidFill>
              </a:defRPr>
            </a:pPr>
            <a:r>
              <a:t>Target exact titles: Platform Engineer, Backend Architect, AI Solutions Consultant.</a:t>
            </a:r>
          </a:p>
          <a:p>
            <a:pPr>
              <a:spcBef>
                <a:spcPts val="1000"/>
              </a:spcBef>
              <a:defRPr sz="1400" b="1">
                <a:solidFill>
                  <a:srgbClr val="FBBF24"/>
                </a:solidFill>
              </a:defRPr>
            </a:pPr>
            <a:r>
              <a:t>• Monetization Paths:</a:t>
            </a:r>
          </a:p>
          <a:p>
            <a:pPr>
              <a:spcBef>
                <a:spcPts val="200"/>
              </a:spcBef>
              <a:defRPr sz="1250">
                <a:solidFill>
                  <a:srgbClr val="E2E8F0"/>
                </a:solidFill>
              </a:defRPr>
            </a:pPr>
            <a:r>
              <a:t>Full-time employment vs. Specialized Consulting vs. High-ticket Freelance.</a:t>
            </a:r>
          </a:p>
          <a:p>
            <a:pPr>
              <a:spcBef>
                <a:spcPts val="1000"/>
              </a:spcBef>
              <a:defRPr sz="1400" b="1">
                <a:solidFill>
                  <a:srgbClr val="FBBF24"/>
                </a:solidFill>
              </a:defRPr>
            </a:pPr>
            <a:r>
              <a:t>• Value Longevity:</a:t>
            </a:r>
          </a:p>
          <a:p>
            <a:pPr>
              <a:spcBef>
                <a:spcPts val="200"/>
              </a:spcBef>
              <a:defRPr sz="1250">
                <a:solidFill>
                  <a:srgbClr val="E2E8F0"/>
                </a:solidFill>
              </a:defRPr>
            </a:pPr>
            <a:r>
              <a:t>Focus only on skills that produce measurable economic return for employers.</a:t>
            </a:r>
          </a:p>
        </p:txBody>
      </p:sp>
      <p:sp>
        <p:nvSpPr>
          <p:cNvPr id="9" name="Rounded Rectangle 8"/>
          <p:cNvSpPr/>
          <p:nvPr/>
        </p:nvSpPr>
        <p:spPr>
          <a:xfrm>
            <a:off x="6309360" y="1645920"/>
            <a:ext cx="5120640" cy="429768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A78BFA"/>
                </a:solidFill>
              </a:defRPr>
            </a:pPr>
            <a:r>
              <a:t>🗺️ PILLAR 04: LEARNING ROADMAP</a:t>
            </a:r>
          </a:p>
          <a:p>
            <a:pPr>
              <a:spcBef>
                <a:spcPts val="400"/>
              </a:spcBef>
              <a:defRPr sz="2000" b="1">
                <a:solidFill>
                  <a:srgbClr val="F8FAFC"/>
                </a:solidFill>
              </a:defRPr>
            </a:pPr>
            <a:r>
              <a:t>The 7-Stage Progression</a:t>
            </a:r>
          </a:p>
          <a:p>
            <a:pPr>
              <a:spcBef>
                <a:spcPts val="600"/>
              </a:spcBef>
              <a:defRPr sz="1250">
                <a:solidFill>
                  <a:srgbClr val="E2E8F0"/>
                </a:solidFill>
              </a:defRPr>
            </a:pPr>
            <a:r>
              <a:t>1. START ➔ Pick 1 core topic &amp; set bounded timeframe.</a:t>
            </a:r>
          </a:p>
          <a:p>
            <a:pPr>
              <a:spcBef>
                <a:spcPts val="600"/>
              </a:spcBef>
              <a:defRPr sz="1250">
                <a:solidFill>
                  <a:srgbClr val="E2E8F0"/>
                </a:solidFill>
              </a:defRPr>
            </a:pPr>
            <a:r>
              <a:t>2. LEARN ➔ Consume high-signal documentation &amp; theory.</a:t>
            </a:r>
          </a:p>
          <a:p>
            <a:pPr>
              <a:spcBef>
                <a:spcPts val="600"/>
              </a:spcBef>
              <a:defRPr sz="1250">
                <a:solidFill>
                  <a:srgbClr val="E2E8F0"/>
                </a:solidFill>
              </a:defRPr>
            </a:pPr>
            <a:r>
              <a:t>3. PRACTICE ➔ Solve isolated sandbox challenges.</a:t>
            </a:r>
          </a:p>
          <a:p>
            <a:pPr>
              <a:spcBef>
                <a:spcPts val="600"/>
              </a:spcBef>
              <a:defRPr sz="1250">
                <a:solidFill>
                  <a:srgbClr val="E2E8F0"/>
                </a:solidFill>
              </a:defRPr>
            </a:pPr>
            <a:r>
              <a:t>4. BUILD ➔ Engineer an end-to-end original project.</a:t>
            </a:r>
          </a:p>
          <a:p>
            <a:pPr>
              <a:spcBef>
                <a:spcPts val="600"/>
              </a:spcBef>
              <a:defRPr sz="1250">
                <a:solidFill>
                  <a:srgbClr val="E2E8F0"/>
                </a:solidFill>
              </a:defRPr>
            </a:pPr>
            <a:r>
              <a:t>5. APPLY ➔ Deploy to production with real users.</a:t>
            </a:r>
          </a:p>
          <a:p>
            <a:pPr>
              <a:spcBef>
                <a:spcPts val="600"/>
              </a:spcBef>
              <a:defRPr sz="1250">
                <a:solidFill>
                  <a:srgbClr val="E2E8F0"/>
                </a:solidFill>
              </a:defRPr>
            </a:pPr>
            <a:r>
              <a:t>6. IMPROVE ➔ Refactor, optimize performance &amp; fix bugs.</a:t>
            </a:r>
          </a:p>
          <a:p>
            <a:pPr>
              <a:spcBef>
                <a:spcPts val="600"/>
              </a:spcBef>
              <a:defRPr sz="1250">
                <a:solidFill>
                  <a:srgbClr val="E2E8F0"/>
                </a:solidFill>
              </a:defRPr>
            </a:pPr>
            <a:r>
              <a:t>7. OPPORTUNITY ➔ Showcase proof-of-work to hiring teams.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1.1 • FIND YOUR WAY</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 5: AI Tools &amp; Safe Usage — Avoid AI Dependency</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6</a:t>
            </a:r>
          </a:p>
        </p:txBody>
      </p:sp>
      <p:sp>
        <p:nvSpPr>
          <p:cNvPr id="8" name="Rounded Rectangle 7"/>
          <p:cNvSpPr/>
          <p:nvPr/>
        </p:nvSpPr>
        <p:spPr>
          <a:xfrm>
            <a:off x="731520" y="1645920"/>
            <a:ext cx="10698480" cy="164592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320040" tIns="182880"/>
          <a:lstStyle/>
          <a:p>
            <a:pPr algn="ctr">
              <a:defRPr sz="1200" b="1">
                <a:solidFill>
                  <a:srgbClr val="FBBF24"/>
                </a:solidFill>
              </a:defRPr>
            </a:pPr>
            <a:r>
              <a:t>⚠️ MANDATORY PRINCIPLE: NEVER BECOME AI-DEPENDENT</a:t>
            </a:r>
          </a:p>
          <a:p>
            <a:pPr>
              <a:spcBef>
                <a:spcPts val="400"/>
              </a:spcBef>
              <a:defRPr sz="1800" b="1">
                <a:solidFill>
                  <a:srgbClr val="F8FAFC"/>
                </a:solidFill>
              </a:defRPr>
            </a:pPr>
            <a:r>
              <a:t>AI is a supersonic assistant and research tool, NOT a substitute for human cognitive capability.</a:t>
            </a:r>
          </a:p>
          <a:p>
            <a:pPr>
              <a:spcBef>
                <a:spcPts val="600"/>
              </a:spcBef>
              <a:defRPr sz="1300">
                <a:solidFill>
                  <a:srgbClr val="94A3B8"/>
                </a:solidFill>
              </a:defRPr>
            </a:pPr>
            <a:r>
              <a:t>At R.K. SKILLFORGE, we teach how to use AI to 10x your output while rigorously protecting your core problem-solving muscle.</a:t>
            </a:r>
          </a:p>
        </p:txBody>
      </p:sp>
      <p:sp>
        <p:nvSpPr>
          <p:cNvPr id="9" name="Rounded Rectangle 8"/>
          <p:cNvSpPr/>
          <p:nvPr/>
        </p:nvSpPr>
        <p:spPr>
          <a:xfrm>
            <a:off x="731520" y="3566160"/>
            <a:ext cx="5120640" cy="2468880"/>
          </a:xfrm>
          <a:prstGeom prst="roundRect">
            <a:avLst/>
          </a:prstGeom>
          <a:solidFill>
            <a:srgbClr val="141C2B"/>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74320" tIns="201168"/>
          <a:lstStyle/>
          <a:p>
            <a:pPr algn="ctr">
              <a:defRPr sz="1600" b="1">
                <a:solidFill>
                  <a:srgbClr val="2DD4BF"/>
                </a:solidFill>
              </a:defRPr>
            </a:pPr>
            <a:r>
              <a:t>🚀 How AI Accelerates Learning</a:t>
            </a:r>
          </a:p>
          <a:p>
            <a:pPr>
              <a:spcBef>
                <a:spcPts val="600"/>
              </a:spcBef>
              <a:defRPr sz="1300">
                <a:solidFill>
                  <a:srgbClr val="E2E8F0"/>
                </a:solidFill>
              </a:defRPr>
            </a:pPr>
            <a:r>
              <a:t>• Rapid domain research &amp; unfamiliar jargon translation</a:t>
            </a:r>
          </a:p>
          <a:p>
            <a:pPr>
              <a:spcBef>
                <a:spcPts val="600"/>
              </a:spcBef>
              <a:defRPr sz="1300">
                <a:solidFill>
                  <a:srgbClr val="E2E8F0"/>
                </a:solidFill>
              </a:defRPr>
            </a:pPr>
            <a:r>
              <a:t>• Generating realistic mock datasets &amp; coding sandboxes</a:t>
            </a:r>
          </a:p>
          <a:p>
            <a:pPr>
              <a:spcBef>
                <a:spcPts val="600"/>
              </a:spcBef>
              <a:defRPr sz="1300">
                <a:solidFill>
                  <a:srgbClr val="E2E8F0"/>
                </a:solidFill>
              </a:defRPr>
            </a:pPr>
            <a:r>
              <a:t>• Instant code refactoring advice &amp; error diagnostics</a:t>
            </a:r>
          </a:p>
          <a:p>
            <a:pPr>
              <a:spcBef>
                <a:spcPts val="600"/>
              </a:spcBef>
              <a:defRPr sz="1300">
                <a:solidFill>
                  <a:srgbClr val="E2E8F0"/>
                </a:solidFill>
              </a:defRPr>
            </a:pPr>
            <a:r>
              <a:t>• Simulating interview questions and technical reviews</a:t>
            </a:r>
          </a:p>
        </p:txBody>
      </p:sp>
      <p:sp>
        <p:nvSpPr>
          <p:cNvPr id="10" name="Rounded Rectangle 9"/>
          <p:cNvSpPr/>
          <p:nvPr/>
        </p:nvSpPr>
        <p:spPr>
          <a:xfrm>
            <a:off x="6309360" y="3566160"/>
            <a:ext cx="5120640" cy="2468880"/>
          </a:xfrm>
          <a:prstGeom prst="roundRect">
            <a:avLst/>
          </a:prstGeom>
          <a:solidFill>
            <a:srgbClr val="141C2B"/>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74320" tIns="201168"/>
          <a:lstStyle/>
          <a:p>
            <a:pPr algn="ctr">
              <a:defRPr sz="1600" b="1">
                <a:solidFill>
                  <a:srgbClr val="F87171"/>
                </a:solidFill>
              </a:defRPr>
            </a:pPr>
            <a:r>
              <a:t>🧠 Skills You Must Never Delegate to AI</a:t>
            </a:r>
          </a:p>
          <a:p>
            <a:pPr>
              <a:spcBef>
                <a:spcPts val="600"/>
              </a:spcBef>
              <a:defRPr sz="1300">
                <a:solidFill>
                  <a:srgbClr val="E2E8F0"/>
                </a:solidFill>
              </a:defRPr>
            </a:pPr>
            <a:r>
              <a:t>• Independent first-principles critical thinking</a:t>
            </a:r>
          </a:p>
          <a:p>
            <a:pPr>
              <a:spcBef>
                <a:spcPts val="600"/>
              </a:spcBef>
              <a:defRPr sz="1300">
                <a:solidFill>
                  <a:srgbClr val="E2E8F0"/>
                </a:solidFill>
              </a:defRPr>
            </a:pPr>
            <a:r>
              <a:t>• Deep foundational problem-solving &amp; debugging grit</a:t>
            </a:r>
          </a:p>
          <a:p>
            <a:pPr>
              <a:spcBef>
                <a:spcPts val="600"/>
              </a:spcBef>
              <a:defRPr sz="1300">
                <a:solidFill>
                  <a:srgbClr val="E2E8F0"/>
                </a:solidFill>
              </a:defRPr>
            </a:pPr>
            <a:r>
              <a:t>• High-level architectural &amp; business decision making</a:t>
            </a:r>
          </a:p>
          <a:p>
            <a:pPr>
              <a:spcBef>
                <a:spcPts val="600"/>
              </a:spcBef>
              <a:defRPr sz="1300">
                <a:solidFill>
                  <a:srgbClr val="E2E8F0"/>
                </a:solidFill>
              </a:defRPr>
            </a:pPr>
            <a:r>
              <a:t>• Human empathy, storytelling, and client communication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1.1 • FIND YOUR WAY</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 6: The Human Mentor Bridge (Human + AI)</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7</a:t>
            </a:r>
          </a:p>
        </p:txBody>
      </p:sp>
      <p:sp>
        <p:nvSpPr>
          <p:cNvPr id="8" name="Rounded Rectangle 7"/>
          <p:cNvSpPr/>
          <p:nvPr/>
        </p:nvSpPr>
        <p:spPr>
          <a:xfrm>
            <a:off x="731520" y="1645920"/>
            <a:ext cx="3328416"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900" b="1">
                <a:solidFill>
                  <a:srgbClr val="F8FAFC"/>
                </a:solidFill>
              </a:defRPr>
            </a:pPr>
            <a:r>
              <a:t>Why Mentors Matter</a:t>
            </a:r>
          </a:p>
          <a:p>
            <a:pPr>
              <a:spcBef>
                <a:spcPts val="200"/>
              </a:spcBef>
              <a:defRPr sz="1300" i="1">
                <a:solidFill>
                  <a:srgbClr val="38BDF8"/>
                </a:solidFill>
              </a:defRPr>
            </a:pPr>
            <a:r>
              <a:t>Lived Battle Scars</a:t>
            </a:r>
          </a:p>
          <a:p>
            <a:pPr>
              <a:spcBef>
                <a:spcPts val="800"/>
              </a:spcBef>
              <a:defRPr sz="800">
                <a:solidFill>
                  <a:srgbClr val="27334A"/>
                </a:solidFill>
              </a:defRPr>
            </a:pPr>
            <a:r>
              <a:t>─────────────────────</a:t>
            </a:r>
          </a:p>
          <a:p>
            <a:pPr>
              <a:spcBef>
                <a:spcPts val="1000"/>
              </a:spcBef>
              <a:defRPr sz="1300">
                <a:solidFill>
                  <a:srgbClr val="E2E8F0"/>
                </a:solidFill>
              </a:defRPr>
            </a:pPr>
            <a:r>
              <a:t>•  AI has access to text; mentors have lived experience.</a:t>
            </a:r>
          </a:p>
          <a:p>
            <a:pPr>
              <a:spcBef>
                <a:spcPts val="1000"/>
              </a:spcBef>
              <a:defRPr sz="1300">
                <a:solidFill>
                  <a:srgbClr val="E2E8F0"/>
                </a:solidFill>
              </a:defRPr>
            </a:pPr>
            <a:r>
              <a:t>•  Mentors understand unwritten corporate culture &amp; team dynamics.</a:t>
            </a:r>
          </a:p>
          <a:p>
            <a:pPr>
              <a:spcBef>
                <a:spcPts val="1000"/>
              </a:spcBef>
              <a:defRPr sz="1300">
                <a:solidFill>
                  <a:srgbClr val="E2E8F0"/>
                </a:solidFill>
              </a:defRPr>
            </a:pPr>
            <a:r>
              <a:t>•  They spot blind spots AI will completely overlook.</a:t>
            </a:r>
          </a:p>
          <a:p>
            <a:pPr>
              <a:spcBef>
                <a:spcPts val="1000"/>
              </a:spcBef>
              <a:defRPr sz="1300">
                <a:solidFill>
                  <a:srgbClr val="E2E8F0"/>
                </a:solidFill>
              </a:defRPr>
            </a:pPr>
            <a:r>
              <a:t>•  They open doors through personal reputation and referrals.</a:t>
            </a:r>
          </a:p>
        </p:txBody>
      </p:sp>
      <p:sp>
        <p:nvSpPr>
          <p:cNvPr id="9" name="Rounded Rectangle 8"/>
          <p:cNvSpPr/>
          <p:nvPr/>
        </p:nvSpPr>
        <p:spPr>
          <a:xfrm>
            <a:off x="4425696" y="1645920"/>
            <a:ext cx="3328416"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900" b="1">
                <a:solidFill>
                  <a:srgbClr val="F8FAFC"/>
                </a:solidFill>
              </a:defRPr>
            </a:pPr>
            <a:r>
              <a:t>Where to Connect</a:t>
            </a:r>
          </a:p>
          <a:p>
            <a:pPr>
              <a:spcBef>
                <a:spcPts val="200"/>
              </a:spcBef>
              <a:defRPr sz="1300" i="1">
                <a:solidFill>
                  <a:srgbClr val="2DD4BF"/>
                </a:solidFill>
              </a:defRPr>
            </a:pPr>
            <a:r>
              <a:t>High-Signal Spaces</a:t>
            </a:r>
          </a:p>
          <a:p>
            <a:pPr>
              <a:spcBef>
                <a:spcPts val="800"/>
              </a:spcBef>
              <a:defRPr sz="800">
                <a:solidFill>
                  <a:srgbClr val="27334A"/>
                </a:solidFill>
              </a:defRPr>
            </a:pPr>
            <a:r>
              <a:t>─────────────────────</a:t>
            </a:r>
          </a:p>
          <a:p>
            <a:pPr>
              <a:spcBef>
                <a:spcPts val="1000"/>
              </a:spcBef>
              <a:defRPr sz="1300">
                <a:solidFill>
                  <a:srgbClr val="E2E8F0"/>
                </a:solidFill>
              </a:defRPr>
            </a:pPr>
            <a:r>
              <a:t>•  Open Source GitHub issues &amp; pull requests.</a:t>
            </a:r>
          </a:p>
          <a:p>
            <a:pPr>
              <a:spcBef>
                <a:spcPts val="1000"/>
              </a:spcBef>
              <a:defRPr sz="1300">
                <a:solidFill>
                  <a:srgbClr val="E2E8F0"/>
                </a:solidFill>
              </a:defRPr>
            </a:pPr>
            <a:r>
              <a:t>•  Active technical Discord &amp; Slack engineering channels.</a:t>
            </a:r>
          </a:p>
          <a:p>
            <a:pPr>
              <a:spcBef>
                <a:spcPts val="1000"/>
              </a:spcBef>
              <a:defRPr sz="1300">
                <a:solidFill>
                  <a:srgbClr val="E2E8F0"/>
                </a:solidFill>
              </a:defRPr>
            </a:pPr>
            <a:r>
              <a:t>•  Local developer meetups, conferences, and hackathons.</a:t>
            </a:r>
          </a:p>
          <a:p>
            <a:pPr>
              <a:spcBef>
                <a:spcPts val="1000"/>
              </a:spcBef>
              <a:defRPr sz="1300">
                <a:solidFill>
                  <a:srgbClr val="E2E8F0"/>
                </a:solidFill>
              </a:defRPr>
            </a:pPr>
            <a:r>
              <a:t>•  LinkedIn (with thoughtful, customized outreach).</a:t>
            </a:r>
          </a:p>
        </p:txBody>
      </p:sp>
      <p:sp>
        <p:nvSpPr>
          <p:cNvPr id="10" name="Rounded Rectangle 9"/>
          <p:cNvSpPr/>
          <p:nvPr/>
        </p:nvSpPr>
        <p:spPr>
          <a:xfrm>
            <a:off x="8119872" y="1645920"/>
            <a:ext cx="3328416"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900" b="1">
                <a:solidFill>
                  <a:srgbClr val="F8FAFC"/>
                </a:solidFill>
              </a:defRPr>
            </a:pPr>
            <a:r>
              <a:t>How to Reach Out</a:t>
            </a:r>
          </a:p>
          <a:p>
            <a:pPr>
              <a:spcBef>
                <a:spcPts val="200"/>
              </a:spcBef>
              <a:defRPr sz="1300" i="1">
                <a:solidFill>
                  <a:srgbClr val="FBBF24"/>
                </a:solidFill>
              </a:defRPr>
            </a:pPr>
            <a:r>
              <a:t>The Professional Way</a:t>
            </a:r>
          </a:p>
          <a:p>
            <a:pPr>
              <a:spcBef>
                <a:spcPts val="800"/>
              </a:spcBef>
              <a:defRPr sz="800">
                <a:solidFill>
                  <a:srgbClr val="27334A"/>
                </a:solidFill>
              </a:defRPr>
            </a:pPr>
            <a:r>
              <a:t>─────────────────────</a:t>
            </a:r>
          </a:p>
          <a:p>
            <a:pPr>
              <a:spcBef>
                <a:spcPts val="1000"/>
              </a:spcBef>
              <a:defRPr sz="1300">
                <a:solidFill>
                  <a:srgbClr val="E2E8F0"/>
                </a:solidFill>
              </a:defRPr>
            </a:pPr>
            <a:r>
              <a:t>•  Never send generic 'please be my mentor' messages.</a:t>
            </a:r>
          </a:p>
          <a:p>
            <a:pPr>
              <a:spcBef>
                <a:spcPts val="1000"/>
              </a:spcBef>
              <a:defRPr sz="1300">
                <a:solidFill>
                  <a:srgbClr val="E2E8F0"/>
                </a:solidFill>
              </a:defRPr>
            </a:pPr>
            <a:r>
              <a:t>•  Show proof of work: 'I built this and ran into XYZ constraint.'</a:t>
            </a:r>
          </a:p>
          <a:p>
            <a:pPr>
              <a:spcBef>
                <a:spcPts val="1000"/>
              </a:spcBef>
              <a:defRPr sz="1300">
                <a:solidFill>
                  <a:srgbClr val="E2E8F0"/>
                </a:solidFill>
              </a:defRPr>
            </a:pPr>
            <a:r>
              <a:t>•  Ask 1 specific, high-signal, answerable question.</a:t>
            </a:r>
          </a:p>
          <a:p>
            <a:pPr>
              <a:spcBef>
                <a:spcPts val="1000"/>
              </a:spcBef>
              <a:defRPr sz="1300">
                <a:solidFill>
                  <a:srgbClr val="E2E8F0"/>
                </a:solidFill>
              </a:defRPr>
            </a:pPr>
            <a:r>
              <a:t>•  Respect their time &amp; report back on what happened.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1.1 • FIND YOUR WAY</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7 &amp; 8: Hallucination Defense &amp; Honest Idea Scoring</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8</a:t>
            </a:r>
          </a:p>
        </p:txBody>
      </p:sp>
      <p:sp>
        <p:nvSpPr>
          <p:cNvPr id="8" name="Rounded Rectangle 7"/>
          <p:cNvSpPr/>
          <p:nvPr/>
        </p:nvSpPr>
        <p:spPr>
          <a:xfrm>
            <a:off x="731520" y="1645920"/>
            <a:ext cx="5120640" cy="4297680"/>
          </a:xfrm>
          <a:prstGeom prst="roundRect">
            <a:avLst/>
          </a:prstGeom>
          <a:solidFill>
            <a:srgbClr val="141C2B"/>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87171"/>
                </a:solidFill>
              </a:defRPr>
            </a:pPr>
            <a:r>
              <a:t>🛡️ PILLAR 07: ACCURACY OVER AGREEMENT</a:t>
            </a:r>
          </a:p>
          <a:p>
            <a:pPr>
              <a:spcBef>
                <a:spcPts val="400"/>
              </a:spcBef>
              <a:defRPr sz="2000" b="1">
                <a:solidFill>
                  <a:srgbClr val="F8FAFC"/>
                </a:solidFill>
              </a:defRPr>
            </a:pPr>
            <a:r>
              <a:t>Hallucination Defense</a:t>
            </a:r>
          </a:p>
          <a:p>
            <a:pPr>
              <a:spcBef>
                <a:spcPts val="1000"/>
              </a:spcBef>
              <a:defRPr sz="1350" i="1">
                <a:solidFill>
                  <a:srgbClr val="FBBF24"/>
                </a:solidFill>
              </a:defRPr>
            </a:pPr>
            <a:r>
              <a:t>“Be direct and honest, not agreeable. If I am wrong, tell me I am wrong and explain why.”</a:t>
            </a:r>
          </a:p>
          <a:p>
            <a:pPr>
              <a:spcBef>
                <a:spcPts val="800"/>
              </a:spcBef>
              <a:defRPr sz="1300">
                <a:solidFill>
                  <a:srgbClr val="E2E8F0"/>
                </a:solidFill>
              </a:defRPr>
            </a:pPr>
            <a:r>
              <a:t>• Never invent fake libraries, certifications, or statistics.</a:t>
            </a:r>
          </a:p>
          <a:p>
            <a:pPr>
              <a:spcBef>
                <a:spcPts val="800"/>
              </a:spcBef>
              <a:defRPr sz="1300">
                <a:solidFill>
                  <a:srgbClr val="E2E8F0"/>
                </a:solidFill>
              </a:defRPr>
            </a:pPr>
            <a:r>
              <a:t>• Clearly distinguish between verified facts and reasonable inference.</a:t>
            </a:r>
          </a:p>
          <a:p>
            <a:pPr>
              <a:spcBef>
                <a:spcPts val="800"/>
              </a:spcBef>
              <a:defRPr sz="1300">
                <a:solidFill>
                  <a:srgbClr val="E2E8F0"/>
                </a:solidFill>
              </a:defRPr>
            </a:pPr>
            <a:r>
              <a:t>• Say 'I don't know' rather than guessing confidently.</a:t>
            </a:r>
          </a:p>
          <a:p>
            <a:pPr>
              <a:spcBef>
                <a:spcPts val="800"/>
              </a:spcBef>
              <a:defRPr sz="1300">
                <a:solidFill>
                  <a:srgbClr val="E2E8F0"/>
                </a:solidFill>
              </a:defRPr>
            </a:pPr>
            <a:r>
              <a:t>• Verify high-stakes career choices with authoritative sources.</a:t>
            </a:r>
          </a:p>
        </p:txBody>
      </p:sp>
      <p:sp>
        <p:nvSpPr>
          <p:cNvPr id="9" name="Rounded Rectangle 8"/>
          <p:cNvSpPr/>
          <p:nvPr/>
        </p:nvSpPr>
        <p:spPr>
          <a:xfrm>
            <a:off x="6309360" y="1645920"/>
            <a:ext cx="5120640"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BBF24"/>
                </a:solidFill>
              </a:defRPr>
            </a:pPr>
            <a:r>
              <a:t>⚖️ PILLAR 08: HONEST EVALUATION</a:t>
            </a:r>
          </a:p>
          <a:p>
            <a:pPr>
              <a:spcBef>
                <a:spcPts val="400"/>
              </a:spcBef>
              <a:defRPr sz="2000" b="1">
                <a:solidFill>
                  <a:srgbClr val="F8FAFC"/>
                </a:solidFill>
              </a:defRPr>
            </a:pPr>
            <a:r>
              <a:t>The Idea Score: X / 10</a:t>
            </a:r>
          </a:p>
          <a:p>
            <a:pPr>
              <a:spcBef>
                <a:spcPts val="800"/>
              </a:spcBef>
              <a:defRPr sz="1300">
                <a:solidFill>
                  <a:srgbClr val="E2E8F0"/>
                </a:solidFill>
              </a:defRPr>
            </a:pPr>
            <a:r>
              <a:t>• What is Strong: Acknowledge genuine competitive advantages.</a:t>
            </a:r>
          </a:p>
          <a:p>
            <a:pPr>
              <a:spcBef>
                <a:spcPts val="800"/>
              </a:spcBef>
              <a:defRPr sz="1300">
                <a:solidFill>
                  <a:srgbClr val="E2E8F0"/>
                </a:solidFill>
              </a:defRPr>
            </a:pPr>
            <a:r>
              <a:t>• What is Weak: Expose unvalidated assumptions and flaws.</a:t>
            </a:r>
          </a:p>
          <a:p>
            <a:pPr>
              <a:spcBef>
                <a:spcPts val="800"/>
              </a:spcBef>
              <a:defRPr sz="1300">
                <a:solidFill>
                  <a:srgbClr val="E2E8F0"/>
                </a:solidFill>
              </a:defRPr>
            </a:pPr>
            <a:r>
              <a:t>• What is Missing: Highlight blind spots in the technical architecture.</a:t>
            </a:r>
          </a:p>
          <a:p>
            <a:pPr>
              <a:spcBef>
                <a:spcPts val="800"/>
              </a:spcBef>
              <a:defRPr sz="1300">
                <a:solidFill>
                  <a:srgbClr val="E2E8F0"/>
                </a:solidFill>
              </a:defRPr>
            </a:pPr>
            <a:r>
              <a:t>• What Could Fail: Identify catastrophic risks early before wasting money.</a:t>
            </a:r>
          </a:p>
          <a:p>
            <a:pPr>
              <a:spcBef>
                <a:spcPts val="800"/>
              </a:spcBef>
              <a:defRPr sz="1300">
                <a:solidFill>
                  <a:srgbClr val="E2E8F0"/>
                </a:solidFill>
              </a:defRPr>
            </a:pPr>
            <a:r>
              <a:t>• Actionable Fixes: Deliver an immediate next step to upgrade the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1.1 • FIND YOUR WAY</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 9: The Complete 10-Step Execution Pipeline</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9</a:t>
            </a:r>
          </a:p>
        </p:txBody>
      </p:sp>
      <p:sp>
        <p:nvSpPr>
          <p:cNvPr id="8" name="Rounded Rectangle 7"/>
          <p:cNvSpPr/>
          <p:nvPr/>
        </p:nvSpPr>
        <p:spPr>
          <a:xfrm>
            <a:off x="731520" y="1645920"/>
            <a:ext cx="196596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28600"/>
          <a:lstStyle/>
          <a:p>
            <a:pPr algn="ctr">
              <a:defRPr sz="1600" b="1">
                <a:solidFill>
                  <a:srgbClr val="F8FAFC"/>
                </a:solidFill>
              </a:defRPr>
            </a:pPr>
            <a:r>
              <a:t>1. Interest</a:t>
            </a:r>
          </a:p>
          <a:p>
            <a:pPr>
              <a:spcBef>
                <a:spcPts val="800"/>
              </a:spcBef>
              <a:defRPr sz="1200">
                <a:solidFill>
                  <a:srgbClr val="94A3B8"/>
                </a:solidFill>
              </a:defRPr>
            </a:pPr>
            <a:r>
              <a:t>Curiosity spark</a:t>
            </a:r>
          </a:p>
        </p:txBody>
      </p:sp>
      <p:sp>
        <p:nvSpPr>
          <p:cNvPr id="9" name="Rounded Rectangle 8"/>
          <p:cNvSpPr/>
          <p:nvPr/>
        </p:nvSpPr>
        <p:spPr>
          <a:xfrm>
            <a:off x="2916936" y="1645920"/>
            <a:ext cx="196596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28600"/>
          <a:lstStyle/>
          <a:p>
            <a:pPr algn="ctr">
              <a:defRPr sz="1600" b="1">
                <a:solidFill>
                  <a:srgbClr val="F8FAFC"/>
                </a:solidFill>
              </a:defRPr>
            </a:pPr>
            <a:r>
              <a:t>2. Explore</a:t>
            </a:r>
          </a:p>
          <a:p>
            <a:pPr>
              <a:spcBef>
                <a:spcPts val="800"/>
              </a:spcBef>
              <a:defRPr sz="1200">
                <a:solidFill>
                  <a:srgbClr val="94A3B8"/>
                </a:solidFill>
              </a:defRPr>
            </a:pPr>
            <a:r>
              <a:t>11 diagnostic questions</a:t>
            </a:r>
          </a:p>
        </p:txBody>
      </p:sp>
      <p:sp>
        <p:nvSpPr>
          <p:cNvPr id="10" name="Rounded Rectangle 9"/>
          <p:cNvSpPr/>
          <p:nvPr/>
        </p:nvSpPr>
        <p:spPr>
          <a:xfrm>
            <a:off x="5102352" y="1645920"/>
            <a:ext cx="196596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28600"/>
          <a:lstStyle/>
          <a:p>
            <a:pPr algn="ctr">
              <a:defRPr sz="1600" b="1">
                <a:solidFill>
                  <a:srgbClr val="F8FAFC"/>
                </a:solidFill>
              </a:defRPr>
            </a:pPr>
            <a:r>
              <a:t>3. Understand</a:t>
            </a:r>
          </a:p>
          <a:p>
            <a:pPr>
              <a:spcBef>
                <a:spcPts val="800"/>
              </a:spcBef>
              <a:defRPr sz="1200">
                <a:solidFill>
                  <a:srgbClr val="94A3B8"/>
                </a:solidFill>
              </a:defRPr>
            </a:pPr>
            <a:r>
              <a:t>Real daily duties</a:t>
            </a:r>
          </a:p>
        </p:txBody>
      </p:sp>
      <p:sp>
        <p:nvSpPr>
          <p:cNvPr id="11" name="Rounded Rectangle 10"/>
          <p:cNvSpPr/>
          <p:nvPr/>
        </p:nvSpPr>
        <p:spPr>
          <a:xfrm>
            <a:off x="7287768" y="1645920"/>
            <a:ext cx="196596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28600"/>
          <a:lstStyle/>
          <a:p>
            <a:pPr algn="ctr">
              <a:defRPr sz="1600" b="1">
                <a:solidFill>
                  <a:srgbClr val="F8FAFC"/>
                </a:solidFill>
              </a:defRPr>
            </a:pPr>
            <a:r>
              <a:t>4. Fundamentals</a:t>
            </a:r>
          </a:p>
          <a:p>
            <a:pPr>
              <a:spcBef>
                <a:spcPts val="800"/>
              </a:spcBef>
              <a:defRPr sz="1200">
                <a:solidFill>
                  <a:srgbClr val="94A3B8"/>
                </a:solidFill>
              </a:defRPr>
            </a:pPr>
            <a:r>
              <a:t>Timeless principles</a:t>
            </a:r>
          </a:p>
        </p:txBody>
      </p:sp>
      <p:sp>
        <p:nvSpPr>
          <p:cNvPr id="12" name="Rounded Rectangle 11"/>
          <p:cNvSpPr/>
          <p:nvPr/>
        </p:nvSpPr>
        <p:spPr>
          <a:xfrm>
            <a:off x="9473184" y="1645920"/>
            <a:ext cx="1965960" cy="196596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28600"/>
          <a:lstStyle/>
          <a:p>
            <a:pPr algn="ctr">
              <a:defRPr sz="1600" b="1">
                <a:solidFill>
                  <a:srgbClr val="F8FAFC"/>
                </a:solidFill>
              </a:defRPr>
            </a:pPr>
            <a:r>
              <a:t>5. Learn</a:t>
            </a:r>
          </a:p>
          <a:p>
            <a:pPr>
              <a:spcBef>
                <a:spcPts val="800"/>
              </a:spcBef>
              <a:defRPr sz="1200">
                <a:solidFill>
                  <a:srgbClr val="94A3B8"/>
                </a:solidFill>
              </a:defRPr>
            </a:pPr>
            <a:r>
              <a:t>Structured resources</a:t>
            </a:r>
          </a:p>
        </p:txBody>
      </p:sp>
      <p:sp>
        <p:nvSpPr>
          <p:cNvPr id="13" name="Rounded Rectangle 12"/>
          <p:cNvSpPr/>
          <p:nvPr/>
        </p:nvSpPr>
        <p:spPr>
          <a:xfrm>
            <a:off x="731520" y="3931920"/>
            <a:ext cx="1965960" cy="196596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28600"/>
          <a:lstStyle/>
          <a:p>
            <a:pPr algn="ctr">
              <a:defRPr sz="1600" b="1">
                <a:solidFill>
                  <a:srgbClr val="F8FAFC"/>
                </a:solidFill>
              </a:defRPr>
            </a:pPr>
            <a:r>
              <a:t>6. Practice</a:t>
            </a:r>
          </a:p>
          <a:p>
            <a:pPr>
              <a:spcBef>
                <a:spcPts val="800"/>
              </a:spcBef>
              <a:defRPr sz="1200">
                <a:solidFill>
                  <a:srgbClr val="94A3B8"/>
                </a:solidFill>
              </a:defRPr>
            </a:pPr>
            <a:r>
              <a:t>Sandboxes &amp; drills</a:t>
            </a:r>
          </a:p>
        </p:txBody>
      </p:sp>
      <p:sp>
        <p:nvSpPr>
          <p:cNvPr id="14" name="Rounded Rectangle 13"/>
          <p:cNvSpPr/>
          <p:nvPr/>
        </p:nvSpPr>
        <p:spPr>
          <a:xfrm>
            <a:off x="2916936" y="3931920"/>
            <a:ext cx="1965960" cy="196596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28600"/>
          <a:lstStyle/>
          <a:p>
            <a:pPr algn="ctr">
              <a:defRPr sz="1600" b="1">
                <a:solidFill>
                  <a:srgbClr val="F8FAFC"/>
                </a:solidFill>
              </a:defRPr>
            </a:pPr>
            <a:r>
              <a:t>7. Connect</a:t>
            </a:r>
          </a:p>
          <a:p>
            <a:pPr>
              <a:spcBef>
                <a:spcPts val="800"/>
              </a:spcBef>
              <a:defRPr sz="1200">
                <a:solidFill>
                  <a:srgbClr val="94A3B8"/>
                </a:solidFill>
              </a:defRPr>
            </a:pPr>
            <a:r>
              <a:t>Real human mentors</a:t>
            </a:r>
          </a:p>
        </p:txBody>
      </p:sp>
      <p:sp>
        <p:nvSpPr>
          <p:cNvPr id="15" name="Rounded Rectangle 14"/>
          <p:cNvSpPr/>
          <p:nvPr/>
        </p:nvSpPr>
        <p:spPr>
          <a:xfrm>
            <a:off x="5102352" y="3931920"/>
            <a:ext cx="1965960" cy="196596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28600"/>
          <a:lstStyle/>
          <a:p>
            <a:pPr algn="ctr">
              <a:defRPr sz="1600" b="1">
                <a:solidFill>
                  <a:srgbClr val="F8FAFC"/>
                </a:solidFill>
              </a:defRPr>
            </a:pPr>
            <a:r>
              <a:t>8. Build</a:t>
            </a:r>
          </a:p>
          <a:p>
            <a:pPr>
              <a:spcBef>
                <a:spcPts val="800"/>
              </a:spcBef>
              <a:defRPr sz="1200">
                <a:solidFill>
                  <a:srgbClr val="94A3B8"/>
                </a:solidFill>
              </a:defRPr>
            </a:pPr>
            <a:r>
              <a:t>Production projects</a:t>
            </a:r>
          </a:p>
        </p:txBody>
      </p:sp>
      <p:sp>
        <p:nvSpPr>
          <p:cNvPr id="16" name="Rounded Rectangle 15"/>
          <p:cNvSpPr/>
          <p:nvPr/>
        </p:nvSpPr>
        <p:spPr>
          <a:xfrm>
            <a:off x="7287768" y="3931920"/>
            <a:ext cx="196596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28600"/>
          <a:lstStyle/>
          <a:p>
            <a:pPr algn="ctr">
              <a:defRPr sz="1600" b="1">
                <a:solidFill>
                  <a:srgbClr val="F8FAFC"/>
                </a:solidFill>
              </a:defRPr>
            </a:pPr>
            <a:r>
              <a:t>9. Opportunity</a:t>
            </a:r>
          </a:p>
          <a:p>
            <a:pPr>
              <a:spcBef>
                <a:spcPts val="800"/>
              </a:spcBef>
              <a:defRPr sz="1200">
                <a:solidFill>
                  <a:srgbClr val="94A3B8"/>
                </a:solidFill>
              </a:defRPr>
            </a:pPr>
            <a:r>
              <a:t>Proof of work portfolio</a:t>
            </a:r>
          </a:p>
        </p:txBody>
      </p:sp>
      <p:sp>
        <p:nvSpPr>
          <p:cNvPr id="17" name="Rounded Rectangle 16"/>
          <p:cNvSpPr/>
          <p:nvPr/>
        </p:nvSpPr>
        <p:spPr>
          <a:xfrm>
            <a:off x="9473184" y="3931920"/>
            <a:ext cx="196596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28600"/>
          <a:lstStyle/>
          <a:p>
            <a:pPr algn="ctr">
              <a:defRPr sz="1600" b="1">
                <a:solidFill>
                  <a:srgbClr val="F8FAFC"/>
                </a:solidFill>
              </a:defRPr>
            </a:pPr>
            <a:r>
              <a:t>10. Career</a:t>
            </a:r>
          </a:p>
          <a:p>
            <a:pPr>
              <a:spcBef>
                <a:spcPts val="800"/>
              </a:spcBef>
              <a:defRPr sz="1200">
                <a:solidFill>
                  <a:srgbClr val="94A3B8"/>
                </a:solidFill>
              </a:defRPr>
            </a:pPr>
            <a:r>
              <a:t>Value creation &amp; hiring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1.1 • FIND YOUR WAY</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Deploying the Framework: Prompts &amp; Skill Jars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10</a:t>
            </a:r>
          </a:p>
        </p:txBody>
      </p:sp>
      <p:sp>
        <p:nvSpPr>
          <p:cNvPr id="8" name="Rounded Rectangle 7"/>
          <p:cNvSpPr/>
          <p:nvPr/>
        </p:nvSpPr>
        <p:spPr>
          <a:xfrm>
            <a:off x="73152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38BDF8"/>
                </a:solidFill>
              </a:defRPr>
            </a:pPr>
            <a:r>
              <a:t>📄 UNIVERSAL PROMPT SYSTEM</a:t>
            </a:r>
          </a:p>
          <a:p>
            <a:pPr>
              <a:spcBef>
                <a:spcPts val="400"/>
              </a:spcBef>
              <a:defRPr sz="2200" b="1">
                <a:solidFill>
                  <a:srgbClr val="F8FAFC"/>
                </a:solidFill>
              </a:defRPr>
            </a:pPr>
            <a:r>
              <a:t>AI-MENTOR-PROMPT.md</a:t>
            </a:r>
          </a:p>
          <a:p>
            <a:pPr>
              <a:spcBef>
                <a:spcPts val="1400"/>
              </a:spcBef>
              <a:defRPr sz="1400" b="1">
                <a:solidFill>
                  <a:srgbClr val="2DD4BF"/>
                </a:solidFill>
              </a:defRPr>
            </a:pPr>
            <a:r>
              <a:t>• Universal Compatibility:</a:t>
            </a:r>
          </a:p>
          <a:p>
            <a:pPr>
              <a:spcBef>
                <a:spcPts val="200"/>
              </a:spcBef>
              <a:defRPr sz="1300">
                <a:solidFill>
                  <a:srgbClr val="E2E8F0"/>
                </a:solidFill>
              </a:defRPr>
            </a:pPr>
            <a:r>
              <a:t>Drop directly into ChatGPT, Claude Projects, Google Gemini, or local models.</a:t>
            </a:r>
          </a:p>
          <a:p>
            <a:pPr>
              <a:spcBef>
                <a:spcPts val="1400"/>
              </a:spcBef>
              <a:defRPr sz="1400" b="1">
                <a:solidFill>
                  <a:srgbClr val="2DD4BF"/>
                </a:solidFill>
              </a:defRPr>
            </a:pPr>
            <a:r>
              <a:t>• Built-in Guardrails:</a:t>
            </a:r>
          </a:p>
          <a:p>
            <a:pPr>
              <a:spcBef>
                <a:spcPts val="200"/>
              </a:spcBef>
              <a:defRPr sz="1300">
                <a:solidFill>
                  <a:srgbClr val="E2E8F0"/>
                </a:solidFill>
              </a:defRPr>
            </a:pPr>
            <a:r>
              <a:t>Embeds the 9-pillar diagnostic rules, anti-hallucination prompts, and idea scoring out-of-the-box.</a:t>
            </a:r>
          </a:p>
          <a:p>
            <a:pPr>
              <a:spcBef>
                <a:spcPts val="1400"/>
              </a:spcBef>
              <a:defRPr sz="1400" b="1">
                <a:solidFill>
                  <a:srgbClr val="2DD4BF"/>
                </a:solidFill>
              </a:defRPr>
            </a:pPr>
            <a:r>
              <a:t>• Copy &amp; Paste Ready:</a:t>
            </a:r>
          </a:p>
          <a:p>
            <a:pPr>
              <a:spcBef>
                <a:spcPts val="200"/>
              </a:spcBef>
              <a:defRPr sz="1300">
                <a:solidFill>
                  <a:srgbClr val="E2E8F0"/>
                </a:solidFill>
              </a:defRPr>
            </a:pPr>
            <a:r>
              <a:t>Available inside the Module 01 folder in our GitHub repo.</a:t>
            </a:r>
          </a:p>
        </p:txBody>
      </p:sp>
      <p:sp>
        <p:nvSpPr>
          <p:cNvPr id="9" name="Rounded Rectangle 8"/>
          <p:cNvSpPr/>
          <p:nvPr/>
        </p:nvSpPr>
        <p:spPr>
          <a:xfrm>
            <a:off x="630936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2DD4BF"/>
                </a:solidFill>
              </a:defRPr>
            </a:pPr>
            <a:r>
              <a:t>📦 PRE-PACKAGED SKILL JAR</a:t>
            </a:r>
          </a:p>
          <a:p>
            <a:pPr>
              <a:spcBef>
                <a:spcPts val="400"/>
              </a:spcBef>
              <a:defRPr sz="2200" b="1">
                <a:solidFill>
                  <a:srgbClr val="F8FAFC"/>
                </a:solidFill>
              </a:defRPr>
            </a:pPr>
            <a:r>
              <a:t>ai-mentor.skill</a:t>
            </a:r>
          </a:p>
          <a:p>
            <a:pPr>
              <a:spcBef>
                <a:spcPts val="1400"/>
              </a:spcBef>
              <a:defRPr sz="1400" b="1">
                <a:solidFill>
                  <a:srgbClr val="FBBF24"/>
                </a:solidFill>
              </a:defRPr>
            </a:pPr>
            <a:r>
              <a:t>• Full Skill Archive:</a:t>
            </a:r>
          </a:p>
          <a:p>
            <a:pPr>
              <a:spcBef>
                <a:spcPts val="200"/>
              </a:spcBef>
              <a:defRPr sz="1300">
                <a:solidFill>
                  <a:srgbClr val="E2E8F0"/>
                </a:solidFill>
              </a:defRPr>
            </a:pPr>
            <a:r>
              <a:t>Contains SKILL.md plus references for real mentors and safe AI usage.</a:t>
            </a:r>
          </a:p>
          <a:p>
            <a:pPr>
              <a:spcBef>
                <a:spcPts val="1400"/>
              </a:spcBef>
              <a:defRPr sz="1400" b="1">
                <a:solidFill>
                  <a:srgbClr val="FBBF24"/>
                </a:solidFill>
              </a:defRPr>
            </a:pPr>
            <a:r>
              <a:t>• One-Click Knowledge Base:</a:t>
            </a:r>
          </a:p>
          <a:p>
            <a:pPr>
              <a:spcBef>
                <a:spcPts val="200"/>
              </a:spcBef>
              <a:defRPr sz="1300">
                <a:solidFill>
                  <a:srgbClr val="E2E8F0"/>
                </a:solidFill>
              </a:defRPr>
            </a:pPr>
            <a:r>
              <a:t>Upload directly into Claude Projects or Antigravity agents for permanent intelligence.</a:t>
            </a:r>
          </a:p>
          <a:p>
            <a:pPr>
              <a:spcBef>
                <a:spcPts val="1400"/>
              </a:spcBef>
              <a:defRPr sz="1400" b="1">
                <a:solidFill>
                  <a:srgbClr val="FBBF24"/>
                </a:solidFill>
              </a:defRPr>
            </a:pPr>
            <a:r>
              <a:t>• 100% Free &amp; Open Source:</a:t>
            </a:r>
          </a:p>
          <a:p>
            <a:pPr>
              <a:spcBef>
                <a:spcPts val="200"/>
              </a:spcBef>
              <a:defRPr sz="1300">
                <a:solidFill>
                  <a:srgbClr val="E2E8F0"/>
                </a:solidFill>
              </a:defRPr>
            </a:pPr>
            <a:r>
              <a:t>Engineered and maintained by R.K. SKILLFORGE for the global developer community.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698480" cy="73152"/>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25880"/>
            <a:ext cx="10698480" cy="1280160"/>
          </a:xfrm>
          <a:prstGeom prst="rect">
            <a:avLst/>
          </a:prstGeom>
          <a:noFill/>
        </p:spPr>
        <p:txBody>
          <a:bodyPr wrap="square">
            <a:spAutoFit/>
          </a:bodyPr>
          <a:lstStyle/>
          <a:p>
            <a:pPr>
              <a:defRPr sz="1400" b="1">
                <a:solidFill>
                  <a:srgbClr val="FBBF24"/>
                </a:solidFill>
              </a:defRPr>
            </a:pPr>
            <a:r>
              <a:t>YOU NOW HAVE THE COMPASS</a:t>
            </a:r>
          </a:p>
          <a:p>
            <a:pPr>
              <a:spcBef>
                <a:spcPts val="400"/>
              </a:spcBef>
              <a:defRPr sz="3600" b="1">
                <a:solidFill>
                  <a:srgbClr val="F8FAFC"/>
                </a:solidFill>
              </a:defRPr>
            </a:pPr>
            <a:r>
              <a:t>Next: Module 02 — Make an Online Presence</a:t>
            </a:r>
          </a:p>
        </p:txBody>
      </p:sp>
      <p:sp>
        <p:nvSpPr>
          <p:cNvPr id="5" name="Rounded Rectangle 4"/>
          <p:cNvSpPr/>
          <p:nvPr/>
        </p:nvSpPr>
        <p:spPr>
          <a:xfrm>
            <a:off x="731520" y="2834640"/>
            <a:ext cx="10698480" cy="27432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2200" b="1">
                <a:solidFill>
                  <a:srgbClr val="2DD4BF"/>
                </a:solidFill>
              </a:defRPr>
            </a:pPr>
            <a:r>
              <a:t>Presented with ❤️ by R.K. SKILLFORGE</a:t>
            </a:r>
          </a:p>
          <a:p>
            <a:pPr>
              <a:spcBef>
                <a:spcPts val="1000"/>
              </a:spcBef>
              <a:defRPr sz="1500">
                <a:solidFill>
                  <a:srgbClr val="E2E8F0"/>
                </a:solidFill>
              </a:defRPr>
            </a:pPr>
            <a:r>
              <a:t>👍  Like this video &amp; Subscribe to our channel for Module 02</a:t>
            </a:r>
          </a:p>
          <a:p>
            <a:pPr>
              <a:spcBef>
                <a:spcPts val="1000"/>
              </a:spcBef>
              <a:defRPr sz="1500">
                <a:solidFill>
                  <a:srgbClr val="E2E8F0"/>
                </a:solidFill>
              </a:defRPr>
            </a:pPr>
            <a:r>
              <a:t>⭐  Star our GitHub Repo to grab the AI-MENTOR-PROMPT.md &amp; ai-mentor.skill files</a:t>
            </a:r>
          </a:p>
          <a:p>
            <a:pPr>
              <a:spcBef>
                <a:spcPts val="1000"/>
              </a:spcBef>
              <a:defRPr sz="1500">
                <a:solidFill>
                  <a:srgbClr val="E2E8F0"/>
                </a:solidFill>
              </a:defRPr>
            </a:pPr>
            <a:r>
              <a:t>💬  Drop your current target skill below—let's evaluate it using the 9 pillars!</a:t>
            </a:r>
          </a:p>
          <a:p>
            <a:pPr>
              <a:spcBef>
                <a:spcPts val="1000"/>
              </a:spcBef>
              <a:defRPr sz="1500">
                <a:solidFill>
                  <a:srgbClr val="E2E8F0"/>
                </a:solidFill>
              </a:defRPr>
            </a:pPr>
            <a:r>
              <a:t>➡️  Click the next video to watch Lesson 2.1: Make an Online Presence</a:t>
            </a:r>
          </a:p>
        </p:txBody>
      </p:sp>
      <p:sp>
        <p:nvSpPr>
          <p:cNvPr id="6" name="TextBox 5"/>
          <p:cNvSpPr txBox="1"/>
          <p:nvPr/>
        </p:nvSpPr>
        <p:spPr>
          <a:xfrm>
            <a:off x="731520" y="5806440"/>
            <a:ext cx="10698480" cy="457200"/>
          </a:xfrm>
          <a:prstGeom prst="rect">
            <a:avLst/>
          </a:prstGeom>
          <a:noFill/>
        </p:spPr>
        <p:txBody>
          <a:bodyPr wrap="none">
            <a:spAutoFit/>
          </a:bodyPr>
          <a:lstStyle/>
          <a:p>
            <a:pPr algn="ctr">
              <a:defRPr sz="1300">
                <a:solidFill>
                  <a:srgbClr val="94A3B8"/>
                </a:solidFill>
              </a:defRPr>
            </a:pPr>
            <a:r>
              <a:t>© R.K. SKILLFORGE   |   AI Mentor Masterclass   |   100% Free Lifetime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