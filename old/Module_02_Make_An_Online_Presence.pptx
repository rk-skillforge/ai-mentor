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 INTRO:</a:t>
            </a:r>
          </a:p>
          <a:p>
            <a:r>
              <a:t>"Welcome to Module 02 of AI Mentor by R.K. SKILLFORGE!</a:t>
            </a:r>
          </a:p>
          <a:p>
            <a:r>
              <a:t>In Module 01, we built your roadmap and identified your target skills.</a:t>
            </a:r>
          </a:p>
          <a:p>
            <a:r>
              <a:t>Now, here is the harsh reality of the tech market: You can be a brilliant engineer or creator, but if nobody knows you exist, you will struggle to find clients or land high-paying roles.</a:t>
            </a:r>
          </a:p>
          <a:p>
            <a:r>
              <a:t>In Lesson 2.1, 'Make an Online Presence', we will show you how to turn what you learn every single day into compelling, high-value content that builds undeniable professional credibility.</a:t>
            </a:r>
          </a:p>
          <a:p>
            <a:r>
              <a:t>Let's dive in!"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"Most technical people hate the phrase 'personal branding'. And I don't blame them.</a:t>
            </a:r>
          </a:p>
          <a:p>
            <a:r>
              <a:t>When you hear 'content creator', you think of clickbait influencers doing dances or giving fake business advice.</a:t>
            </a:r>
          </a:p>
          <a:p>
            <a:r>
              <a:t>That is NOT what we teach at R.K. SKILLFORGE.</a:t>
            </a:r>
          </a:p>
          <a:p>
            <a:r>
              <a:t>An online presence is simply your digital proof of competence. When an employer or client searches your name on Google or LinkedIn, do they find an empty profile, or do they find 20 detailed breakdowns of problems you've actually solved?</a:t>
            </a:r>
          </a:p>
          <a:p>
            <a:r>
              <a:t>Don't pretend to be an expert. Just document what you learned today."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"Here is our 10-pillar framework for building authority online.</a:t>
            </a:r>
          </a:p>
          <a:p>
            <a:r>
              <a:t>We will teach you how to extract ideas from your daily work, how to craft posts for LinkedIn vs Twitter vs Instagram, how to write short video scripts, how to build a routine you won't quit after two weeks, how to repurpose one lesson into six pieces of content, and how to stay 100% authentic.</a:t>
            </a:r>
          </a:p>
          <a:p>
            <a:r>
              <a:t>Let's walk through each component step by step."</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"Let's look at Pillars 1 and 2.</a:t>
            </a:r>
          </a:p>
          <a:p>
            <a:r>
              <a:t>In Pillar 1, the biggest mistake people make is trying to write an encyclopedia. Stop doing that. Just pick ONE insight from your study session today and explain it cleanly.</a:t>
            </a:r>
          </a:p>
          <a:p>
            <a:r>
              <a:t>In Pillar 2, never auto-publish the exact same text across LinkedIn, X, and Instagram. Each network has its own cultural grammar.</a:t>
            </a:r>
          </a:p>
          <a:p>
            <a:r>
              <a:t>On LinkedIn, speak like a thoughtful professional sharing a post-mortem. On Twitter, be punchy and direct. On Instagram, make it visual.</a:t>
            </a:r>
          </a:p>
          <a:p>
            <a:r>
              <a:t>Same core idea, customized wrapper."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"Pillar 3 is all about Video. Whether you make 60-second YouTube Shorts, LinkedIn video clips, or full course walkthroughs like this one.</a:t>
            </a:r>
          </a:p>
          <a:p>
            <a:r>
              <a:t>Remember: The first 3 seconds decide whether someone watches your video or swipes away.</a:t>
            </a:r>
          </a:p>
          <a:p>
            <a:r>
              <a:t>Never start with 'Hey guys, welcome back to my channel.' That is an instant swipe-away.</a:t>
            </a:r>
          </a:p>
          <a:p>
            <a:r>
              <a:t>Start with the problem: 'Here is why your API is leaking memory', or 'Here are 3 prompt techniques you should stop using today.'</a:t>
            </a:r>
          </a:p>
          <a:p>
            <a:r>
              <a:t>Follow that with clear screen visuals, and end with a direct call to action."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"In Pillars 4 and 5, we focus on psychology and longevity.</a:t>
            </a:r>
          </a:p>
          <a:p>
            <a:r>
              <a:t>If you want to stay in this game, lower your friction. You don't need cinema cameras and 4-hour editing sessions to share a brilliant code solution.</a:t>
            </a:r>
          </a:p>
          <a:p>
            <a:r>
              <a:t>And in Pillar 5, be authentic. Some of the highest-performing posts on technical LinkedIn are post-mortems: 'Here is how our microservice crashed and what we did to fix it.'</a:t>
            </a:r>
          </a:p>
          <a:p>
            <a:r>
              <a:t>Vulnerability builds trust. Trust creates opportunities."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"Pillars 6 and 7 teach you leverage.</a:t>
            </a:r>
          </a:p>
          <a:p>
            <a:r>
              <a:t>Smart creators don't come up with 10 different ideas a week. They take ONE core insight and multiply its reach across six formats.</a:t>
            </a:r>
          </a:p>
          <a:p>
            <a:r>
              <a:t>You study Docker containers today. That single study session becomes a LinkedIn lesson, a Twitter thread, an Instagram carousel, a YouTube Short, and a GitHub markdown guide.</a:t>
            </a:r>
          </a:p>
          <a:p>
            <a:r>
              <a:t>That is how you look like you have a full marketing agency working for you while you are studying solo."</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"Pillars 8 and 9 ensure your quality never slips.</a:t>
            </a:r>
          </a:p>
          <a:p>
            <a:r>
              <a:t>Before hitting publish on a post, run it through our Content Evaluation prompt. It rates your draft out of 10 and tells you exactly which lines are boring or confusing.</a:t>
            </a:r>
          </a:p>
          <a:p>
            <a:r>
              <a:t>And in Pillar 9: Never hallucinate facts or pretend to have managed a system you've never touched. The tech community has a zero-tolerance policy for fake credentials.</a:t>
            </a:r>
          </a:p>
          <a:p>
            <a:r>
              <a:t>Honesty and precision are your greatest competitive advantages."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"Look at the 5 stages of the Master Credibility Pipeline:</a:t>
            </a:r>
          </a:p>
          <a:p>
            <a:r>
              <a:t>Learning leads to Content. Content maintained over time leads to Consistency. Consistency leads to Credibility. And Credibility generates inbound Opportunities.</a:t>
            </a:r>
          </a:p>
          <a:p>
            <a:r>
              <a:t>When you reach Stage 5, you no longer have to send out 500 cold resumes on job boards. Recruiters and clients find your articles, review your GitHub, and message YOU directly.</a:t>
            </a:r>
          </a:p>
          <a:p>
            <a:r>
              <a:t>This is the ultimate return on investment of an online presence."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"To make this effortless for you, Module 02 contains the complete tooling:</a:t>
            </a:r>
          </a:p>
          <a:p>
            <a:r>
              <a:t>CONTENT-CREATING-PROMPT.md is a universal prompt you can paste into ChatGPT or Gemini. Give it your rough learning notes, and it formats them into LinkedIn posts, tweets, and video outlines.</a:t>
            </a:r>
          </a:p>
          <a:p>
            <a:r>
              <a:t>And content-creating.skill is a complete skill jar archive you can load into Claude Projects.</a:t>
            </a:r>
          </a:p>
          <a:p>
            <a:r>
              <a:t>Both files are available right now inside our free GitHub repository."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 OUTRO:</a:t>
            </a:r>
          </a:p>
          <a:p>
            <a:r>
              <a:t>"Thank you so much for watching Lesson 2.1 of AI Mentor, presented by R.K. SKILLFORGE.</a:t>
            </a:r>
          </a:p>
          <a:p>
            <a:r>
              <a:t>Now you know how to turn your daily studies into authentic, high-value content.</a:t>
            </a:r>
          </a:p>
          <a:p>
            <a:r>
              <a:t>In our next video, Module 03: Make Money with Your Skills, we're getting into the business side: Freelancing, specialized consulting, digital products, and landing top-tier contracts.</a:t>
            </a:r>
          </a:p>
          <a:p>
            <a:r>
              <a:t>Hit Subscribe, star the repo, and drop your social handles in the comments below so our community can follow your journey.</a:t>
            </a:r>
          </a:p>
          <a:p>
            <a:r>
              <a:t>I will see you in Module 03!"</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097280"/>
            <a:ext cx="109728" cy="4389120"/>
          </a:xfrm>
          <a:prstGeom prst="rect">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1097280"/>
            <a:ext cx="6217920" cy="411480"/>
          </a:xfrm>
          <a:prstGeom prst="rect">
            <a:avLst/>
          </a:prstGeom>
          <a:noFill/>
        </p:spPr>
        <p:txBody>
          <a:bodyPr wrap="none">
            <a:spAutoFit/>
          </a:bodyPr>
          <a:lstStyle/>
          <a:p>
            <a:pPr>
              <a:defRPr sz="1400" b="1">
                <a:solidFill>
                  <a:srgbClr val="2DD4BF"/>
                </a:solidFill>
              </a:defRPr>
            </a:pPr>
            <a:r>
              <a:t>🚀 R.K. SKILLFORGE MASTERCLASS</a:t>
            </a:r>
          </a:p>
        </p:txBody>
      </p:sp>
      <p:sp>
        <p:nvSpPr>
          <p:cNvPr id="5" name="TextBox 4"/>
          <p:cNvSpPr txBox="1"/>
          <p:nvPr/>
        </p:nvSpPr>
        <p:spPr>
          <a:xfrm>
            <a:off x="1051560" y="1600200"/>
            <a:ext cx="6217920" cy="1554480"/>
          </a:xfrm>
          <a:prstGeom prst="rect">
            <a:avLst/>
          </a:prstGeom>
          <a:noFill/>
        </p:spPr>
        <p:txBody>
          <a:bodyPr wrap="square">
            <a:spAutoFit/>
          </a:bodyPr>
          <a:lstStyle/>
          <a:p>
            <a:pPr>
              <a:defRPr sz="4600" b="1">
                <a:solidFill>
                  <a:srgbClr val="F8FAFC"/>
                </a:solidFill>
              </a:defRPr>
            </a:pPr>
            <a:r>
              <a:t>AI MENTOR</a:t>
            </a:r>
          </a:p>
          <a:p>
            <a:pPr>
              <a:defRPr sz="2100" b="1">
                <a:solidFill>
                  <a:srgbClr val="38BDF8"/>
                </a:solidFill>
              </a:defRPr>
            </a:pPr>
            <a:r>
              <a:t>Module 02: Make an Online Presence</a:t>
            </a:r>
          </a:p>
        </p:txBody>
      </p:sp>
      <p:sp>
        <p:nvSpPr>
          <p:cNvPr id="6" name="TextBox 5"/>
          <p:cNvSpPr txBox="1"/>
          <p:nvPr/>
        </p:nvSpPr>
        <p:spPr>
          <a:xfrm>
            <a:off x="1051560" y="3291840"/>
            <a:ext cx="6217920" cy="1097280"/>
          </a:xfrm>
          <a:prstGeom prst="rect">
            <a:avLst/>
          </a:prstGeom>
          <a:noFill/>
        </p:spPr>
        <p:txBody>
          <a:bodyPr wrap="square">
            <a:spAutoFit/>
          </a:bodyPr>
          <a:lstStyle/>
          <a:p>
            <a:pPr>
              <a:defRPr sz="1700">
                <a:solidFill>
                  <a:srgbClr val="F8FAFC"/>
                </a:solidFill>
              </a:defRPr>
            </a:pPr>
            <a:r>
              <a:t>Lesson 2.1 — Turning Daily Learning into High-Value Content</a:t>
            </a:r>
          </a:p>
          <a:p>
            <a:pPr>
              <a:spcBef>
                <a:spcPts val="600"/>
              </a:spcBef>
              <a:defRPr sz="1600" b="1">
                <a:solidFill>
                  <a:srgbClr val="FBBF24"/>
                </a:solidFill>
              </a:defRPr>
            </a:pPr>
            <a:r>
              <a:t>Build Authority  •  Repurpose Insights  •  Win Opportunities</a:t>
            </a:r>
          </a:p>
        </p:txBody>
      </p:sp>
      <p:sp>
        <p:nvSpPr>
          <p:cNvPr id="7" name="Rounded Rectangle 6"/>
          <p:cNvSpPr/>
          <p:nvPr/>
        </p:nvSpPr>
        <p:spPr>
          <a:xfrm>
            <a:off x="7333488" y="1298448"/>
            <a:ext cx="4169664" cy="2414016"/>
          </a:xfrm>
          <a:prstGeom prst="roundRect">
            <a:avLst/>
          </a:prstGeom>
          <a:solidFill>
            <a:srgbClr val="141C2B"/>
          </a:solidFill>
          <a:ln w="19050">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AI Mentor Thumbnail.png"/>
          <p:cNvPicPr>
            <a:picLocks noChangeAspect="1"/>
          </p:cNvPicPr>
          <p:nvPr/>
        </p:nvPicPr>
        <p:blipFill>
          <a:blip r:embed="rId2"/>
          <a:stretch>
            <a:fillRect/>
          </a:stretch>
        </p:blipFill>
        <p:spPr>
          <a:xfrm>
            <a:off x="7406640" y="1371600"/>
            <a:ext cx="4023360" cy="2267712"/>
          </a:xfrm>
          <a:prstGeom prst="rect">
            <a:avLst/>
          </a:prstGeom>
        </p:spPr>
      </p:pic>
      <p:sp>
        <p:nvSpPr>
          <p:cNvPr id="9" name="Rounded Rectangle 8"/>
          <p:cNvSpPr/>
          <p:nvPr/>
        </p:nvSpPr>
        <p:spPr>
          <a:xfrm>
            <a:off x="7406640" y="3840480"/>
            <a:ext cx="4023360" cy="1645920"/>
          </a:xfrm>
          <a:prstGeom prst="roundRect">
            <a:avLst/>
          </a:prstGeom>
          <a:solidFill>
            <a:srgbClr val="141C2B"/>
          </a:solidFill>
          <a:ln w="12700">
            <a:solidFill>
              <a:srgbClr val="27334A"/>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a:lstStyle/>
          <a:p>
            <a:pPr algn="ctr">
              <a:defRPr sz="1300" b="1">
                <a:solidFill>
                  <a:srgbClr val="FBBF24"/>
                </a:solidFill>
              </a:defRPr>
            </a:pPr>
            <a:r>
              <a:t>🌐 The Creator Credibility Engine</a:t>
            </a:r>
          </a:p>
          <a:p>
            <a:pPr>
              <a:spcBef>
                <a:spcPts val="400"/>
              </a:spcBef>
              <a:defRPr sz="1200">
                <a:solidFill>
                  <a:srgbClr val="94A3B8"/>
                </a:solidFill>
              </a:defRPr>
            </a:pPr>
            <a:r>
              <a:t>Instructor: R.K. SKILLFORGE</a:t>
            </a:r>
            <a:br/>
            <a:r>
              <a:t>Focus: LinkedIn, X, Video &amp; Portfolios</a:t>
            </a:r>
            <a:br/>
            <a:r>
              <a:t>Goal: Inbound Inquiries &amp; Job Offers</a:t>
            </a:r>
          </a:p>
        </p:txBody>
      </p:sp>
      <p:sp>
        <p:nvSpPr>
          <p:cNvPr id="10" name="Rounded Rectangle 9"/>
          <p:cNvSpPr/>
          <p:nvPr/>
        </p:nvSpPr>
        <p:spPr>
          <a:xfrm>
            <a:off x="1051560" y="4754880"/>
            <a:ext cx="6035040" cy="731520"/>
          </a:xfrm>
          <a:prstGeom prst="roundRect">
            <a:avLst/>
          </a:prstGeom>
          <a:solidFill>
            <a:srgbClr val="141C2B"/>
          </a:solidFill>
          <a:ln w="12700">
            <a:solidFill>
              <a:srgbClr val="27334A"/>
            </a:solidFill>
          </a:ln>
        </p:spPr>
        <p:style>
          <a:lnRef idx="1">
            <a:schemeClr val="accent1"/>
          </a:lnRef>
          <a:fillRef idx="3">
            <a:schemeClr val="accent1"/>
          </a:fillRef>
          <a:effectRef idx="2">
            <a:schemeClr val="accent1"/>
          </a:effectRef>
          <a:fontRef idx="minor">
            <a:schemeClr val="lt1"/>
          </a:fontRef>
        </p:style>
        <p:txBody>
          <a:bodyPr rtlCol="0" anchor="ctr" lIns="228600" tIns="137160"/>
          <a:lstStyle/>
          <a:p>
            <a:pPr algn="ctr">
              <a:defRPr sz="1200" b="1">
                <a:solidFill>
                  <a:srgbClr val="F8FAFC"/>
                </a:solidFill>
              </a:defRPr>
            </a:pPr>
            <a:r>
              <a:t>Produced &amp; Engineered by R.K. SKILLFORGE</a:t>
            </a:r>
          </a:p>
          <a:p>
            <a:pPr>
              <a:defRPr sz="1100">
                <a:solidFill>
                  <a:srgbClr val="94A3B8"/>
                </a:solidFill>
              </a:defRPr>
            </a:pPr>
            <a:r>
              <a:t>How to build an authentic personal brand without pretending to be a fake guru.</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rIns="0" tIns="0" bIns="0">
            <a:spAutoFit/>
          </a:bodyPr>
          <a:lstStyle/>
          <a:p>
            <a:pPr>
              <a:defRPr sz="1100" b="1">
                <a:solidFill>
                  <a:srgbClr val="38BDF8"/>
                </a:solidFill>
              </a:defRPr>
            </a:pPr>
            <a:r>
              <a:t>R.K. SKILLFORGE   |   LESSON 2.1 • MAKE AN ONLINE PRESENCE</a:t>
            </a:r>
          </a:p>
        </p:txBody>
      </p:sp>
      <p:sp>
        <p:nvSpPr>
          <p:cNvPr id="4" name="TextBox 3"/>
          <p:cNvSpPr txBox="1"/>
          <p:nvPr/>
        </p:nvSpPr>
        <p:spPr>
          <a:xfrm>
            <a:off x="731520" y="658368"/>
            <a:ext cx="10698480" cy="685800"/>
          </a:xfrm>
          <a:prstGeom prst="rect">
            <a:avLst/>
          </a:prstGeom>
          <a:noFill/>
        </p:spPr>
        <p:txBody>
          <a:bodyPr wrap="square" lIns="0" rIns="0" tIns="0" bIns="0">
            <a:spAutoFit/>
          </a:bodyPr>
          <a:lstStyle/>
          <a:p>
            <a:pPr>
              <a:defRPr sz="2800" b="1">
                <a:solidFill>
                  <a:srgbClr val="F8FAFC"/>
                </a:solidFill>
              </a:defRPr>
            </a:pPr>
            <a:r>
              <a:t>The Reality of Online Presence: Why Most People Fail</a:t>
            </a:r>
          </a:p>
        </p:txBody>
      </p:sp>
      <p:sp>
        <p:nvSpPr>
          <p:cNvPr id="5" name="Rectangle 4"/>
          <p:cNvSpPr/>
          <p:nvPr/>
        </p:nvSpPr>
        <p:spPr>
          <a:xfrm>
            <a:off x="731520" y="6263640"/>
            <a:ext cx="10728655" cy="18288"/>
          </a:xfrm>
          <a:prstGeom prst="rect">
            <a:avLst/>
          </a:prstGeom>
          <a:solidFill>
            <a:srgbClr val="273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27648"/>
            <a:ext cx="7315200" cy="320040"/>
          </a:xfrm>
          <a:prstGeom prst="rect">
            <a:avLst/>
          </a:prstGeom>
          <a:noFill/>
        </p:spPr>
        <p:txBody>
          <a:bodyPr wrap="none" lIns="0" rIns="0" tIns="0" bIns="0">
            <a:spAutoFit/>
          </a:bodyPr>
          <a:lstStyle/>
          <a:p>
            <a:pPr>
              <a:defRPr sz="1000">
                <a:solidFill>
                  <a:srgbClr val="94A3B8"/>
                </a:solidFill>
              </a:defRPr>
            </a:pPr>
            <a:r>
              <a:t>© R.K. SKILLFORGE  •  AI Mentor Masterclass Series</a:t>
            </a:r>
          </a:p>
        </p:txBody>
      </p:sp>
      <p:sp>
        <p:nvSpPr>
          <p:cNvPr id="7" name="TextBox 6"/>
          <p:cNvSpPr txBox="1"/>
          <p:nvPr/>
        </p:nvSpPr>
        <p:spPr>
          <a:xfrm>
            <a:off x="9601200" y="6327648"/>
            <a:ext cx="1828800" cy="320040"/>
          </a:xfrm>
          <a:prstGeom prst="rect">
            <a:avLst/>
          </a:prstGeom>
          <a:noFill/>
        </p:spPr>
        <p:txBody>
          <a:bodyPr wrap="none" lIns="0" rIns="0" tIns="0" bIns="0">
            <a:spAutoFit/>
          </a:bodyPr>
          <a:lstStyle/>
          <a:p>
            <a:pPr algn="r">
              <a:defRPr sz="1000">
                <a:solidFill>
                  <a:srgbClr val="94A3B8"/>
                </a:solidFill>
              </a:defRPr>
            </a:pPr>
            <a:r>
              <a:t>Slide 2</a:t>
            </a:r>
          </a:p>
        </p:txBody>
      </p:sp>
      <p:sp>
        <p:nvSpPr>
          <p:cNvPr id="8" name="TextBox 7"/>
          <p:cNvSpPr txBox="1"/>
          <p:nvPr/>
        </p:nvSpPr>
        <p:spPr>
          <a:xfrm>
            <a:off x="731520" y="1463040"/>
            <a:ext cx="10698480" cy="502920"/>
          </a:xfrm>
          <a:prstGeom prst="rect">
            <a:avLst/>
          </a:prstGeom>
          <a:noFill/>
        </p:spPr>
        <p:txBody>
          <a:bodyPr wrap="none">
            <a:spAutoFit/>
          </a:bodyPr>
          <a:lstStyle/>
          <a:p>
            <a:pPr>
              <a:defRPr sz="1700" i="1">
                <a:solidFill>
                  <a:srgbClr val="FBBF24"/>
                </a:solidFill>
              </a:defRPr>
            </a:pPr>
            <a:r>
              <a:t>Building an online presence is not about becoming an influencer. It is about building public proof of work.</a:t>
            </a:r>
          </a:p>
        </p:txBody>
      </p:sp>
      <p:sp>
        <p:nvSpPr>
          <p:cNvPr id="9" name="Rounded Rectangle 8"/>
          <p:cNvSpPr/>
          <p:nvPr/>
        </p:nvSpPr>
        <p:spPr>
          <a:xfrm>
            <a:off x="731520" y="2148840"/>
            <a:ext cx="3328416" cy="3474720"/>
          </a:xfrm>
          <a:prstGeom prst="roundRect">
            <a:avLst/>
          </a:prstGeom>
          <a:solidFill>
            <a:srgbClr val="141C2B"/>
          </a:solidFill>
          <a:ln w="12700">
            <a:solidFill>
              <a:srgbClr val="27334A"/>
            </a:solidFill>
          </a:ln>
        </p:spPr>
        <p:style>
          <a:lnRef idx="1">
            <a:schemeClr val="accent1"/>
          </a:lnRef>
          <a:fillRef idx="3">
            <a:schemeClr val="accent1"/>
          </a:fillRef>
          <a:effectRef idx="2">
            <a:schemeClr val="accent1"/>
          </a:effectRef>
          <a:fontRef idx="minor">
            <a:schemeClr val="lt1"/>
          </a:fontRef>
        </p:style>
        <p:txBody>
          <a:bodyPr rtlCol="0" anchor="ctr" wrap="square" lIns="256032" rIns="256032" tIns="320040"/>
          <a:lstStyle/>
          <a:p>
            <a:pPr algn="ctr">
              <a:defRPr sz="1700" b="1">
                <a:solidFill>
                  <a:srgbClr val="F8FAFC"/>
                </a:solidFill>
              </a:defRPr>
            </a:pPr>
            <a:r>
              <a:t>❌ The Imposter Trap</a:t>
            </a:r>
          </a:p>
          <a:p>
            <a:pPr>
              <a:spcBef>
                <a:spcPts val="300"/>
              </a:spcBef>
              <a:defRPr sz="1200" b="1">
                <a:solidFill>
                  <a:srgbClr val="F87171"/>
                </a:solidFill>
              </a:defRPr>
            </a:pPr>
            <a:r>
              <a:t>Trying to Sound Like a Guru</a:t>
            </a:r>
          </a:p>
          <a:p>
            <a:pPr>
              <a:spcBef>
                <a:spcPts val="1400"/>
              </a:spcBef>
              <a:defRPr sz="1350">
                <a:solidFill>
                  <a:srgbClr val="E2E8F0"/>
                </a:solidFill>
              </a:defRPr>
            </a:pPr>
            <a:r>
              <a:t>Learners wait until they feel like 'world-class experts' before posting anything. Result: They stay silent for years. Solution: Document your learning journey authentically.</a:t>
            </a:r>
          </a:p>
        </p:txBody>
      </p:sp>
      <p:sp>
        <p:nvSpPr>
          <p:cNvPr id="10" name="Rounded Rectangle 9"/>
          <p:cNvSpPr/>
          <p:nvPr/>
        </p:nvSpPr>
        <p:spPr>
          <a:xfrm>
            <a:off x="4425696" y="2148840"/>
            <a:ext cx="3328416" cy="3474720"/>
          </a:xfrm>
          <a:prstGeom prst="roundRect">
            <a:avLst/>
          </a:prstGeom>
          <a:solidFill>
            <a:srgbClr val="141C2B"/>
          </a:solidFill>
          <a:ln w="12700">
            <a:solidFill>
              <a:srgbClr val="27334A"/>
            </a:solidFill>
          </a:ln>
        </p:spPr>
        <p:style>
          <a:lnRef idx="1">
            <a:schemeClr val="accent1"/>
          </a:lnRef>
          <a:fillRef idx="3">
            <a:schemeClr val="accent1"/>
          </a:fillRef>
          <a:effectRef idx="2">
            <a:schemeClr val="accent1"/>
          </a:effectRef>
          <a:fontRef idx="minor">
            <a:schemeClr val="lt1"/>
          </a:fontRef>
        </p:style>
        <p:txBody>
          <a:bodyPr rtlCol="0" anchor="ctr" wrap="square" lIns="256032" rIns="256032" tIns="320040"/>
          <a:lstStyle/>
          <a:p>
            <a:pPr algn="ctr">
              <a:defRPr sz="1700" b="1">
                <a:solidFill>
                  <a:srgbClr val="F8FAFC"/>
                </a:solidFill>
              </a:defRPr>
            </a:pPr>
            <a:r>
              <a:t>❌ The Vanity Metric Trap</a:t>
            </a:r>
          </a:p>
          <a:p>
            <a:pPr>
              <a:spcBef>
                <a:spcPts val="300"/>
              </a:spcBef>
              <a:defRPr sz="1200" b="1">
                <a:solidFill>
                  <a:srgbClr val="F87171"/>
                </a:solidFill>
              </a:defRPr>
            </a:pPr>
            <a:r>
              <a:t>Chasing Empty Viral Views</a:t>
            </a:r>
          </a:p>
          <a:p>
            <a:pPr>
              <a:spcBef>
                <a:spcPts val="1400"/>
              </a:spcBef>
              <a:defRPr sz="1350">
                <a:solidFill>
                  <a:srgbClr val="E2E8F0"/>
                </a:solidFill>
              </a:defRPr>
            </a:pPr>
            <a:r>
              <a:t>Optimizing for memes and generic engagement bait. You get 10,000 views from people who will never hire you, zero professional respect, and immediate burnout.</a:t>
            </a:r>
          </a:p>
        </p:txBody>
      </p:sp>
      <p:sp>
        <p:nvSpPr>
          <p:cNvPr id="11" name="Rounded Rectangle 10"/>
          <p:cNvSpPr/>
          <p:nvPr/>
        </p:nvSpPr>
        <p:spPr>
          <a:xfrm>
            <a:off x="8119872" y="2148840"/>
            <a:ext cx="3328416" cy="3474720"/>
          </a:xfrm>
          <a:prstGeom prst="roundRect">
            <a:avLst/>
          </a:prstGeom>
          <a:solidFill>
            <a:srgbClr val="141C2B"/>
          </a:solidFill>
          <a:ln w="12700">
            <a:solidFill>
              <a:srgbClr val="27334A"/>
            </a:solidFill>
          </a:ln>
        </p:spPr>
        <p:style>
          <a:lnRef idx="1">
            <a:schemeClr val="accent1"/>
          </a:lnRef>
          <a:fillRef idx="3">
            <a:schemeClr val="accent1"/>
          </a:fillRef>
          <a:effectRef idx="2">
            <a:schemeClr val="accent1"/>
          </a:effectRef>
          <a:fontRef idx="minor">
            <a:schemeClr val="lt1"/>
          </a:fontRef>
        </p:style>
        <p:txBody>
          <a:bodyPr rtlCol="0" anchor="ctr" wrap="square" lIns="256032" rIns="256032" tIns="320040"/>
          <a:lstStyle/>
          <a:p>
            <a:pPr algn="ctr">
              <a:defRPr sz="1700" b="1">
                <a:solidFill>
                  <a:srgbClr val="F8FAFC"/>
                </a:solidFill>
              </a:defRPr>
            </a:pPr>
            <a:r>
              <a:t>❌ The Consistency Collapse</a:t>
            </a:r>
          </a:p>
          <a:p>
            <a:pPr>
              <a:spcBef>
                <a:spcPts val="300"/>
              </a:spcBef>
              <a:defRPr sz="1200" b="1">
                <a:solidFill>
                  <a:srgbClr val="F87171"/>
                </a:solidFill>
              </a:defRPr>
            </a:pPr>
            <a:r>
              <a:t>Random Spikes &amp; Ghosting</a:t>
            </a:r>
          </a:p>
          <a:p>
            <a:pPr>
              <a:spcBef>
                <a:spcPts val="1400"/>
              </a:spcBef>
              <a:defRPr sz="1350">
                <a:solidFill>
                  <a:srgbClr val="E2E8F0"/>
                </a:solidFill>
              </a:defRPr>
            </a:pPr>
            <a:r>
              <a:t>Posting 5 times in two days with high friction, then burning out and disappearing for six months. Inconsistency destroys algorithmic momentum and credibility.</a:t>
            </a:r>
          </a:p>
        </p:txBody>
      </p:sp>
      <p:sp>
        <p:nvSpPr>
          <p:cNvPr id="12" name="TextBox 11"/>
          <p:cNvSpPr txBox="1"/>
          <p:nvPr/>
        </p:nvSpPr>
        <p:spPr>
          <a:xfrm>
            <a:off x="731520" y="5742432"/>
            <a:ext cx="10698480" cy="457200"/>
          </a:xfrm>
          <a:prstGeom prst="rect">
            <a:avLst/>
          </a:prstGeom>
          <a:noFill/>
        </p:spPr>
        <p:txBody>
          <a:bodyPr wrap="none">
            <a:spAutoFit/>
          </a:bodyPr>
          <a:lstStyle/>
          <a:p>
            <a:pPr>
              <a:defRPr sz="1500" b="1">
                <a:solidFill>
                  <a:srgbClr val="2DD4BF"/>
                </a:solidFill>
              </a:defRPr>
            </a:pPr>
            <a:r>
              <a:t>💡 The Golden Rule: Learn  ➔  Create  ➔  Share  ➔  Build an Online Presence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rIns="0" tIns="0" bIns="0">
            <a:spAutoFit/>
          </a:bodyPr>
          <a:lstStyle/>
          <a:p>
            <a:pPr>
              <a:defRPr sz="1100" b="1">
                <a:solidFill>
                  <a:srgbClr val="38BDF8"/>
                </a:solidFill>
              </a:defRPr>
            </a:pPr>
            <a:r>
              <a:t>R.K. SKILLFORGE   |   LESSON 2.1 • MAKE AN ONLINE PRESENCE</a:t>
            </a:r>
          </a:p>
        </p:txBody>
      </p:sp>
      <p:sp>
        <p:nvSpPr>
          <p:cNvPr id="4" name="TextBox 3"/>
          <p:cNvSpPr txBox="1"/>
          <p:nvPr/>
        </p:nvSpPr>
        <p:spPr>
          <a:xfrm>
            <a:off x="731520" y="658368"/>
            <a:ext cx="10698480" cy="685800"/>
          </a:xfrm>
          <a:prstGeom prst="rect">
            <a:avLst/>
          </a:prstGeom>
          <a:noFill/>
        </p:spPr>
        <p:txBody>
          <a:bodyPr wrap="square" lIns="0" rIns="0" tIns="0" bIns="0">
            <a:spAutoFit/>
          </a:bodyPr>
          <a:lstStyle/>
          <a:p>
            <a:pPr>
              <a:defRPr sz="2800" b="1">
                <a:solidFill>
                  <a:srgbClr val="F8FAFC"/>
                </a:solidFill>
              </a:defRPr>
            </a:pPr>
            <a:r>
              <a:t>The 10 Pillars of Content Creation &amp; Personal Branding</a:t>
            </a:r>
          </a:p>
        </p:txBody>
      </p:sp>
      <p:sp>
        <p:nvSpPr>
          <p:cNvPr id="5" name="Rectangle 4"/>
          <p:cNvSpPr/>
          <p:nvPr/>
        </p:nvSpPr>
        <p:spPr>
          <a:xfrm>
            <a:off x="731520" y="6263640"/>
            <a:ext cx="10728655" cy="18288"/>
          </a:xfrm>
          <a:prstGeom prst="rect">
            <a:avLst/>
          </a:prstGeom>
          <a:solidFill>
            <a:srgbClr val="273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27648"/>
            <a:ext cx="7315200" cy="320040"/>
          </a:xfrm>
          <a:prstGeom prst="rect">
            <a:avLst/>
          </a:prstGeom>
          <a:noFill/>
        </p:spPr>
        <p:txBody>
          <a:bodyPr wrap="none" lIns="0" rIns="0" tIns="0" bIns="0">
            <a:spAutoFit/>
          </a:bodyPr>
          <a:lstStyle/>
          <a:p>
            <a:pPr>
              <a:defRPr sz="1000">
                <a:solidFill>
                  <a:srgbClr val="94A3B8"/>
                </a:solidFill>
              </a:defRPr>
            </a:pPr>
            <a:r>
              <a:t>© R.K. SKILLFORGE  •  AI Mentor Masterclass Series</a:t>
            </a:r>
          </a:p>
        </p:txBody>
      </p:sp>
      <p:sp>
        <p:nvSpPr>
          <p:cNvPr id="7" name="TextBox 6"/>
          <p:cNvSpPr txBox="1"/>
          <p:nvPr/>
        </p:nvSpPr>
        <p:spPr>
          <a:xfrm>
            <a:off x="9601200" y="6327648"/>
            <a:ext cx="1828800" cy="320040"/>
          </a:xfrm>
          <a:prstGeom prst="rect">
            <a:avLst/>
          </a:prstGeom>
          <a:noFill/>
        </p:spPr>
        <p:txBody>
          <a:bodyPr wrap="none" lIns="0" rIns="0" tIns="0" bIns="0">
            <a:spAutoFit/>
          </a:bodyPr>
          <a:lstStyle/>
          <a:p>
            <a:pPr algn="r">
              <a:defRPr sz="1000">
                <a:solidFill>
                  <a:srgbClr val="94A3B8"/>
                </a:solidFill>
              </a:defRPr>
            </a:pPr>
            <a:r>
              <a:t>Slide 3</a:t>
            </a:r>
          </a:p>
        </p:txBody>
      </p:sp>
      <p:sp>
        <p:nvSpPr>
          <p:cNvPr id="8" name="Rounded Rectangle 7"/>
          <p:cNvSpPr/>
          <p:nvPr/>
        </p:nvSpPr>
        <p:spPr>
          <a:xfrm>
            <a:off x="731520" y="1645920"/>
            <a:ext cx="2011680" cy="1965960"/>
          </a:xfrm>
          <a:prstGeom prst="roundRect">
            <a:avLst/>
          </a:prstGeom>
          <a:solidFill>
            <a:srgbClr val="141C2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82880"/>
          <a:lstStyle/>
          <a:p>
            <a:pPr algn="ctr">
              <a:defRPr sz="1400" b="1">
                <a:solidFill>
                  <a:srgbClr val="F8FAFC"/>
                </a:solidFill>
              </a:defRPr>
            </a:pPr>
            <a:r>
              <a:t>01. Turn Learning to Content</a:t>
            </a:r>
          </a:p>
          <a:p>
            <a:pPr>
              <a:spcBef>
                <a:spcPts val="800"/>
              </a:spcBef>
              <a:defRPr sz="1200">
                <a:solidFill>
                  <a:srgbClr val="94A3B8"/>
                </a:solidFill>
              </a:defRPr>
            </a:pPr>
            <a:r>
              <a:t>Extract the 1 most valuable insight daily.</a:t>
            </a:r>
          </a:p>
        </p:txBody>
      </p:sp>
      <p:sp>
        <p:nvSpPr>
          <p:cNvPr id="9" name="Rounded Rectangle 8"/>
          <p:cNvSpPr/>
          <p:nvPr/>
        </p:nvSpPr>
        <p:spPr>
          <a:xfrm>
            <a:off x="2907792" y="1645920"/>
            <a:ext cx="2011680" cy="1965960"/>
          </a:xfrm>
          <a:prstGeom prst="roundRect">
            <a:avLst/>
          </a:prstGeom>
          <a:solidFill>
            <a:srgbClr val="141C2B"/>
          </a:solidFill>
          <a:ln w="19050">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82880"/>
          <a:lstStyle/>
          <a:p>
            <a:pPr algn="ctr">
              <a:defRPr sz="1400" b="1">
                <a:solidFill>
                  <a:srgbClr val="F8FAFC"/>
                </a:solidFill>
              </a:defRPr>
            </a:pPr>
            <a:r>
              <a:t>02. Platform-Fit Strategy</a:t>
            </a:r>
          </a:p>
          <a:p>
            <a:pPr>
              <a:spcBef>
                <a:spcPts val="800"/>
              </a:spcBef>
              <a:defRPr sz="1200">
                <a:solidFill>
                  <a:srgbClr val="94A3B8"/>
                </a:solidFill>
              </a:defRPr>
            </a:pPr>
            <a:r>
              <a:t>LinkedIn vs. X vs. Instagram format adaptation.</a:t>
            </a:r>
          </a:p>
        </p:txBody>
      </p:sp>
      <p:sp>
        <p:nvSpPr>
          <p:cNvPr id="10" name="Rounded Rectangle 9"/>
          <p:cNvSpPr/>
          <p:nvPr/>
        </p:nvSpPr>
        <p:spPr>
          <a:xfrm>
            <a:off x="5084064" y="1645920"/>
            <a:ext cx="2011680" cy="1965960"/>
          </a:xfrm>
          <a:prstGeom prst="roundRect">
            <a:avLst/>
          </a:prstGeom>
          <a:solidFill>
            <a:srgbClr val="141C2B"/>
          </a:solidFill>
          <a:ln w="1905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82880"/>
          <a:lstStyle/>
          <a:p>
            <a:pPr algn="ctr">
              <a:defRPr sz="1400" b="1">
                <a:solidFill>
                  <a:srgbClr val="F8FAFC"/>
                </a:solidFill>
              </a:defRPr>
            </a:pPr>
            <a:r>
              <a:t>03. High-Impact Video</a:t>
            </a:r>
          </a:p>
          <a:p>
            <a:pPr>
              <a:spcBef>
                <a:spcPts val="800"/>
              </a:spcBef>
              <a:defRPr sz="1200">
                <a:solidFill>
                  <a:srgbClr val="94A3B8"/>
                </a:solidFill>
              </a:defRPr>
            </a:pPr>
            <a:r>
              <a:t>Structure 3-second hooks, tight scripts &amp; visuals.</a:t>
            </a:r>
          </a:p>
        </p:txBody>
      </p:sp>
      <p:sp>
        <p:nvSpPr>
          <p:cNvPr id="11" name="Rounded Rectangle 10"/>
          <p:cNvSpPr/>
          <p:nvPr/>
        </p:nvSpPr>
        <p:spPr>
          <a:xfrm>
            <a:off x="7260336" y="1645920"/>
            <a:ext cx="2011680" cy="1965960"/>
          </a:xfrm>
          <a:prstGeom prst="roundRect">
            <a:avLst/>
          </a:prstGeom>
          <a:solidFill>
            <a:srgbClr val="141C2B"/>
          </a:solidFill>
          <a:ln w="19050">
            <a:solidFill>
              <a:srgbClr val="A78BFA"/>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82880"/>
          <a:lstStyle/>
          <a:p>
            <a:pPr algn="ctr">
              <a:defRPr sz="1400" b="1">
                <a:solidFill>
                  <a:srgbClr val="F8FAFC"/>
                </a:solidFill>
              </a:defRPr>
            </a:pPr>
            <a:r>
              <a:t>04. Consistent Habit</a:t>
            </a:r>
          </a:p>
          <a:p>
            <a:pPr>
              <a:spcBef>
                <a:spcPts val="800"/>
              </a:spcBef>
              <a:defRPr sz="1200">
                <a:solidFill>
                  <a:srgbClr val="94A3B8"/>
                </a:solidFill>
              </a:defRPr>
            </a:pPr>
            <a:r>
              <a:t>Low-friction routines to avoid creator burnout.</a:t>
            </a:r>
          </a:p>
        </p:txBody>
      </p:sp>
      <p:sp>
        <p:nvSpPr>
          <p:cNvPr id="12" name="Rounded Rectangle 11"/>
          <p:cNvSpPr/>
          <p:nvPr/>
        </p:nvSpPr>
        <p:spPr>
          <a:xfrm>
            <a:off x="9436608" y="1645920"/>
            <a:ext cx="2011680" cy="1965960"/>
          </a:xfrm>
          <a:prstGeom prst="roundRect">
            <a:avLst/>
          </a:prstGeom>
          <a:solidFill>
            <a:srgbClr val="141C2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82880"/>
          <a:lstStyle/>
          <a:p>
            <a:pPr algn="ctr">
              <a:defRPr sz="1400" b="1">
                <a:solidFill>
                  <a:srgbClr val="F8FAFC"/>
                </a:solidFill>
              </a:defRPr>
            </a:pPr>
            <a:r>
              <a:t>05. Authentic Presence</a:t>
            </a:r>
          </a:p>
          <a:p>
            <a:pPr>
              <a:spcBef>
                <a:spcPts val="800"/>
              </a:spcBef>
              <a:defRPr sz="1200">
                <a:solidFill>
                  <a:srgbClr val="94A3B8"/>
                </a:solidFill>
              </a:defRPr>
            </a:pPr>
            <a:r>
              <a:t>Document mistakes, setbacks &amp; raw breakthroughs.</a:t>
            </a:r>
          </a:p>
        </p:txBody>
      </p:sp>
      <p:sp>
        <p:nvSpPr>
          <p:cNvPr id="13" name="Rounded Rectangle 12"/>
          <p:cNvSpPr/>
          <p:nvPr/>
        </p:nvSpPr>
        <p:spPr>
          <a:xfrm>
            <a:off x="731520" y="3931920"/>
            <a:ext cx="2011680" cy="1965960"/>
          </a:xfrm>
          <a:prstGeom prst="roundRect">
            <a:avLst/>
          </a:prstGeom>
          <a:solidFill>
            <a:srgbClr val="141C2B"/>
          </a:solidFill>
          <a:ln w="19050">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82880"/>
          <a:lstStyle/>
          <a:p>
            <a:pPr algn="ctr">
              <a:defRPr sz="1400" b="1">
                <a:solidFill>
                  <a:srgbClr val="F8FAFC"/>
                </a:solidFill>
              </a:defRPr>
            </a:pPr>
            <a:r>
              <a:t>06. Creation Best Practices</a:t>
            </a:r>
          </a:p>
          <a:p>
            <a:pPr>
              <a:spcBef>
                <a:spcPts val="800"/>
              </a:spcBef>
              <a:defRPr sz="1200">
                <a:solidFill>
                  <a:srgbClr val="94A3B8"/>
                </a:solidFill>
              </a:defRPr>
            </a:pPr>
            <a:r>
              <a:t>Magnetic hooks, crisp storytelling &amp; clear CTAs.</a:t>
            </a:r>
          </a:p>
        </p:txBody>
      </p:sp>
      <p:sp>
        <p:nvSpPr>
          <p:cNvPr id="14" name="Rounded Rectangle 13"/>
          <p:cNvSpPr/>
          <p:nvPr/>
        </p:nvSpPr>
        <p:spPr>
          <a:xfrm>
            <a:off x="2907792" y="3931920"/>
            <a:ext cx="2011680" cy="1965960"/>
          </a:xfrm>
          <a:prstGeom prst="roundRect">
            <a:avLst/>
          </a:prstGeom>
          <a:solidFill>
            <a:srgbClr val="141C2B"/>
          </a:solidFill>
          <a:ln w="1905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82880"/>
          <a:lstStyle/>
          <a:p>
            <a:pPr algn="ctr">
              <a:defRPr sz="1400" b="1">
                <a:solidFill>
                  <a:srgbClr val="F8FAFC"/>
                </a:solidFill>
              </a:defRPr>
            </a:pPr>
            <a:r>
              <a:t>07. Repurpose One Idea</a:t>
            </a:r>
          </a:p>
          <a:p>
            <a:pPr>
              <a:spcBef>
                <a:spcPts val="800"/>
              </a:spcBef>
              <a:defRPr sz="1200">
                <a:solidFill>
                  <a:srgbClr val="94A3B8"/>
                </a:solidFill>
              </a:defRPr>
            </a:pPr>
            <a:r>
              <a:t>Turn 1 core concept into 6 different assets.</a:t>
            </a:r>
          </a:p>
        </p:txBody>
      </p:sp>
      <p:sp>
        <p:nvSpPr>
          <p:cNvPr id="15" name="Rounded Rectangle 14"/>
          <p:cNvSpPr/>
          <p:nvPr/>
        </p:nvSpPr>
        <p:spPr>
          <a:xfrm>
            <a:off x="5084064" y="3931920"/>
            <a:ext cx="2011680" cy="1965960"/>
          </a:xfrm>
          <a:prstGeom prst="roundRect">
            <a:avLst/>
          </a:prstGeom>
          <a:solidFill>
            <a:srgbClr val="141C2B"/>
          </a:solidFill>
          <a:ln w="19050">
            <a:solidFill>
              <a:srgbClr val="A78BFA"/>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82880"/>
          <a:lstStyle/>
          <a:p>
            <a:pPr algn="ctr">
              <a:defRPr sz="1400" b="1">
                <a:solidFill>
                  <a:srgbClr val="F8FAFC"/>
                </a:solidFill>
              </a:defRPr>
            </a:pPr>
            <a:r>
              <a:t>08. Content Scoring (/10)</a:t>
            </a:r>
          </a:p>
          <a:p>
            <a:pPr>
              <a:spcBef>
                <a:spcPts val="800"/>
              </a:spcBef>
              <a:defRPr sz="1200">
                <a:solidFill>
                  <a:srgbClr val="94A3B8"/>
                </a:solidFill>
              </a:defRPr>
            </a:pPr>
            <a:r>
              <a:t>Get blunt feedback on what's weak before posting.</a:t>
            </a:r>
          </a:p>
        </p:txBody>
      </p:sp>
      <p:sp>
        <p:nvSpPr>
          <p:cNvPr id="16" name="Rounded Rectangle 15"/>
          <p:cNvSpPr/>
          <p:nvPr/>
        </p:nvSpPr>
        <p:spPr>
          <a:xfrm>
            <a:off x="7260336" y="3931920"/>
            <a:ext cx="2011680" cy="1965960"/>
          </a:xfrm>
          <a:prstGeom prst="roundRect">
            <a:avLst/>
          </a:prstGeom>
          <a:solidFill>
            <a:srgbClr val="141C2B"/>
          </a:solidFill>
          <a:ln w="1905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82880"/>
          <a:lstStyle/>
          <a:p>
            <a:pPr algn="ctr">
              <a:defRPr sz="1400" b="1">
                <a:solidFill>
                  <a:srgbClr val="F8FAFC"/>
                </a:solidFill>
              </a:defRPr>
            </a:pPr>
            <a:r>
              <a:t>09. Zero Hallucinations</a:t>
            </a:r>
          </a:p>
          <a:p>
            <a:pPr>
              <a:spcBef>
                <a:spcPts val="800"/>
              </a:spcBef>
              <a:defRPr sz="1200">
                <a:solidFill>
                  <a:srgbClr val="94A3B8"/>
                </a:solidFill>
              </a:defRPr>
            </a:pPr>
            <a:r>
              <a:t>No fake metrics, no exaggerated credentials.</a:t>
            </a:r>
          </a:p>
        </p:txBody>
      </p:sp>
      <p:sp>
        <p:nvSpPr>
          <p:cNvPr id="17" name="Rounded Rectangle 16"/>
          <p:cNvSpPr/>
          <p:nvPr/>
        </p:nvSpPr>
        <p:spPr>
          <a:xfrm>
            <a:off x="9436608" y="3931920"/>
            <a:ext cx="2011680" cy="1965960"/>
          </a:xfrm>
          <a:prstGeom prst="roundRect">
            <a:avLst/>
          </a:prstGeom>
          <a:solidFill>
            <a:srgbClr val="141C2B"/>
          </a:solidFill>
          <a:ln w="19050">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82880"/>
          <a:lstStyle/>
          <a:p>
            <a:pPr algn="ctr">
              <a:defRPr sz="1400" b="1">
                <a:solidFill>
                  <a:srgbClr val="F8FAFC"/>
                </a:solidFill>
              </a:defRPr>
            </a:pPr>
            <a:r>
              <a:t>10. Credibility Pipeline</a:t>
            </a:r>
          </a:p>
          <a:p>
            <a:pPr>
              <a:spcBef>
                <a:spcPts val="800"/>
              </a:spcBef>
              <a:defRPr sz="1200">
                <a:solidFill>
                  <a:srgbClr val="94A3B8"/>
                </a:solidFill>
              </a:defRPr>
            </a:pPr>
            <a:r>
              <a:t>Learn ➔ Create ➔ Consistency ➔ Inbound Leads.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rIns="0" tIns="0" bIns="0">
            <a:spAutoFit/>
          </a:bodyPr>
          <a:lstStyle/>
          <a:p>
            <a:pPr>
              <a:defRPr sz="1100" b="1">
                <a:solidFill>
                  <a:srgbClr val="38BDF8"/>
                </a:solidFill>
              </a:defRPr>
            </a:pPr>
            <a:r>
              <a:t>R.K. SKILLFORGE   |   LESSON 2.1 • MAKE AN ONLINE PRESENCE</a:t>
            </a:r>
          </a:p>
        </p:txBody>
      </p:sp>
      <p:sp>
        <p:nvSpPr>
          <p:cNvPr id="4" name="TextBox 3"/>
          <p:cNvSpPr txBox="1"/>
          <p:nvPr/>
        </p:nvSpPr>
        <p:spPr>
          <a:xfrm>
            <a:off x="731520" y="658368"/>
            <a:ext cx="10698480" cy="685800"/>
          </a:xfrm>
          <a:prstGeom prst="rect">
            <a:avLst/>
          </a:prstGeom>
          <a:noFill/>
        </p:spPr>
        <p:txBody>
          <a:bodyPr wrap="square" lIns="0" rIns="0" tIns="0" bIns="0">
            <a:spAutoFit/>
          </a:bodyPr>
          <a:lstStyle/>
          <a:p>
            <a:pPr>
              <a:defRPr sz="2800" b="1">
                <a:solidFill>
                  <a:srgbClr val="F8FAFC"/>
                </a:solidFill>
              </a:defRPr>
            </a:pPr>
            <a:r>
              <a:t>Pillars 1 &amp; 2: Extracting Value &amp; Platform-Specific Tone</a:t>
            </a:r>
          </a:p>
        </p:txBody>
      </p:sp>
      <p:sp>
        <p:nvSpPr>
          <p:cNvPr id="5" name="Rectangle 4"/>
          <p:cNvSpPr/>
          <p:nvPr/>
        </p:nvSpPr>
        <p:spPr>
          <a:xfrm>
            <a:off x="731520" y="6263640"/>
            <a:ext cx="10728655" cy="18288"/>
          </a:xfrm>
          <a:prstGeom prst="rect">
            <a:avLst/>
          </a:prstGeom>
          <a:solidFill>
            <a:srgbClr val="273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27648"/>
            <a:ext cx="7315200" cy="320040"/>
          </a:xfrm>
          <a:prstGeom prst="rect">
            <a:avLst/>
          </a:prstGeom>
          <a:noFill/>
        </p:spPr>
        <p:txBody>
          <a:bodyPr wrap="none" lIns="0" rIns="0" tIns="0" bIns="0">
            <a:spAutoFit/>
          </a:bodyPr>
          <a:lstStyle/>
          <a:p>
            <a:pPr>
              <a:defRPr sz="1000">
                <a:solidFill>
                  <a:srgbClr val="94A3B8"/>
                </a:solidFill>
              </a:defRPr>
            </a:pPr>
            <a:r>
              <a:t>© R.K. SKILLFORGE  •  AI Mentor Masterclass Series</a:t>
            </a:r>
          </a:p>
        </p:txBody>
      </p:sp>
      <p:sp>
        <p:nvSpPr>
          <p:cNvPr id="7" name="TextBox 6"/>
          <p:cNvSpPr txBox="1"/>
          <p:nvPr/>
        </p:nvSpPr>
        <p:spPr>
          <a:xfrm>
            <a:off x="9601200" y="6327648"/>
            <a:ext cx="1828800" cy="320040"/>
          </a:xfrm>
          <a:prstGeom prst="rect">
            <a:avLst/>
          </a:prstGeom>
          <a:noFill/>
        </p:spPr>
        <p:txBody>
          <a:bodyPr wrap="none" lIns="0" rIns="0" tIns="0" bIns="0">
            <a:spAutoFit/>
          </a:bodyPr>
          <a:lstStyle/>
          <a:p>
            <a:pPr algn="r">
              <a:defRPr sz="1000">
                <a:solidFill>
                  <a:srgbClr val="94A3B8"/>
                </a:solidFill>
              </a:defRPr>
            </a:pPr>
            <a:r>
              <a:t>Slide 4</a:t>
            </a:r>
          </a:p>
        </p:txBody>
      </p:sp>
      <p:sp>
        <p:nvSpPr>
          <p:cNvPr id="8" name="Rounded Rectangle 7"/>
          <p:cNvSpPr/>
          <p:nvPr/>
        </p:nvSpPr>
        <p:spPr>
          <a:xfrm>
            <a:off x="731520" y="1645920"/>
            <a:ext cx="5120640" cy="4297680"/>
          </a:xfrm>
          <a:prstGeom prst="roundRect">
            <a:avLst/>
          </a:prstGeom>
          <a:solidFill>
            <a:srgbClr val="141C2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292608" tIns="274320"/>
          <a:lstStyle/>
          <a:p>
            <a:pPr algn="ctr">
              <a:defRPr sz="1200" b="1">
                <a:solidFill>
                  <a:srgbClr val="38BDF8"/>
                </a:solidFill>
              </a:defRPr>
            </a:pPr>
            <a:r>
              <a:t>✍️ PILLAR 01: TURN LEARNING INTO CONTENT</a:t>
            </a:r>
          </a:p>
          <a:p>
            <a:pPr>
              <a:spcBef>
                <a:spcPts val="400"/>
              </a:spcBef>
              <a:defRPr sz="2000" b="1">
                <a:solidFill>
                  <a:srgbClr val="F8FAFC"/>
                </a:solidFill>
              </a:defRPr>
            </a:pPr>
            <a:r>
              <a:t>The Daily Extraction Process</a:t>
            </a:r>
          </a:p>
          <a:p>
            <a:pPr>
              <a:spcBef>
                <a:spcPts val="1000"/>
              </a:spcBef>
              <a:defRPr sz="1400" b="1">
                <a:solidFill>
                  <a:srgbClr val="2DD4BF"/>
                </a:solidFill>
              </a:defRPr>
            </a:pPr>
            <a:r>
              <a:t>• Identify 1 Core Insight:</a:t>
            </a:r>
          </a:p>
          <a:p>
            <a:pPr>
              <a:spcBef>
                <a:spcPts val="200"/>
              </a:spcBef>
              <a:defRPr sz="1250">
                <a:solidFill>
                  <a:srgbClr val="E2E8F0"/>
                </a:solidFill>
              </a:defRPr>
            </a:pPr>
            <a:r>
              <a:t>Don't summarize an entire 300-page book. Find the single most surprising or useful concept.</a:t>
            </a:r>
          </a:p>
          <a:p>
            <a:pPr>
              <a:spcBef>
                <a:spcPts val="1000"/>
              </a:spcBef>
              <a:defRPr sz="1400" b="1">
                <a:solidFill>
                  <a:srgbClr val="2DD4BF"/>
                </a:solidFill>
              </a:defRPr>
            </a:pPr>
            <a:r>
              <a:t>• Simple, Plain Language:</a:t>
            </a:r>
          </a:p>
          <a:p>
            <a:pPr>
              <a:spcBef>
                <a:spcPts val="200"/>
              </a:spcBef>
              <a:defRPr sz="1250">
                <a:solidFill>
                  <a:srgbClr val="E2E8F0"/>
                </a:solidFill>
              </a:defRPr>
            </a:pPr>
            <a:r>
              <a:t>Translate complex technical jargon into analogies that anyone can understand.</a:t>
            </a:r>
          </a:p>
          <a:p>
            <a:pPr>
              <a:spcBef>
                <a:spcPts val="1000"/>
              </a:spcBef>
              <a:defRPr sz="1400" b="1">
                <a:solidFill>
                  <a:srgbClr val="2DD4BF"/>
                </a:solidFill>
              </a:defRPr>
            </a:pPr>
            <a:r>
              <a:t>• Immediate Practical Value:</a:t>
            </a:r>
          </a:p>
          <a:p>
            <a:pPr>
              <a:spcBef>
                <a:spcPts val="200"/>
              </a:spcBef>
              <a:defRPr sz="1250">
                <a:solidFill>
                  <a:srgbClr val="E2E8F0"/>
                </a:solidFill>
              </a:defRPr>
            </a:pPr>
            <a:r>
              <a:t>Ensure the reader can implement what you shared in less than 10 minutes.</a:t>
            </a:r>
          </a:p>
          <a:p>
            <a:pPr>
              <a:spcBef>
                <a:spcPts val="1000"/>
              </a:spcBef>
              <a:defRPr sz="1400" b="1">
                <a:solidFill>
                  <a:srgbClr val="2DD4BF"/>
                </a:solidFill>
              </a:defRPr>
            </a:pPr>
            <a:r>
              <a:t>• Select the Best Medium:</a:t>
            </a:r>
          </a:p>
          <a:p>
            <a:pPr>
              <a:spcBef>
                <a:spcPts val="200"/>
              </a:spcBef>
              <a:defRPr sz="1250">
                <a:solidFill>
                  <a:srgbClr val="E2E8F0"/>
                </a:solidFill>
              </a:defRPr>
            </a:pPr>
            <a:r>
              <a:t>Code debugging -&gt; Text thread. System architecture -&gt; Visual diagram. Live demo -&gt; Short video.</a:t>
            </a:r>
          </a:p>
        </p:txBody>
      </p:sp>
      <p:sp>
        <p:nvSpPr>
          <p:cNvPr id="9" name="Rounded Rectangle 8"/>
          <p:cNvSpPr/>
          <p:nvPr/>
        </p:nvSpPr>
        <p:spPr>
          <a:xfrm>
            <a:off x="6309360" y="1645920"/>
            <a:ext cx="5120640" cy="4297680"/>
          </a:xfrm>
          <a:prstGeom prst="roundRect">
            <a:avLst/>
          </a:prstGeom>
          <a:solidFill>
            <a:srgbClr val="141C2B"/>
          </a:solidFill>
          <a:ln w="19050">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wrap="square" lIns="292608" tIns="274320"/>
          <a:lstStyle/>
          <a:p>
            <a:pPr algn="ctr">
              <a:defRPr sz="1200" b="1">
                <a:solidFill>
                  <a:srgbClr val="2DD4BF"/>
                </a:solidFill>
              </a:defRPr>
            </a:pPr>
            <a:r>
              <a:t>🎯 PILLAR 02: PLATFORM-SPECIFIC TONE</a:t>
            </a:r>
          </a:p>
          <a:p>
            <a:pPr>
              <a:spcBef>
                <a:spcPts val="400"/>
              </a:spcBef>
              <a:defRPr sz="2000" b="1">
                <a:solidFill>
                  <a:srgbClr val="F8FAFC"/>
                </a:solidFill>
              </a:defRPr>
            </a:pPr>
            <a:r>
              <a:t>Never Broadcast Identical Text</a:t>
            </a:r>
          </a:p>
          <a:p>
            <a:pPr>
              <a:spcBef>
                <a:spcPts val="1000"/>
              </a:spcBef>
              <a:defRPr sz="1400" b="1">
                <a:solidFill>
                  <a:srgbClr val="FBBF24"/>
                </a:solidFill>
              </a:defRPr>
            </a:pPr>
            <a:r>
              <a:t>• LinkedIn (Professional &amp; Insightful)</a:t>
            </a:r>
          </a:p>
          <a:p>
            <a:pPr>
              <a:spcBef>
                <a:spcPts val="200"/>
              </a:spcBef>
              <a:defRPr sz="1250">
                <a:solidFill>
                  <a:srgbClr val="E2E8F0"/>
                </a:solidFill>
              </a:defRPr>
            </a:pPr>
            <a:r>
              <a:t>Tone: Career-focused, reflective, strategic.</a:t>
            </a:r>
            <a:br/>
            <a:r>
              <a:t>Format: Case studies, lessons learned, document carousels, engineering takeaways.</a:t>
            </a:r>
          </a:p>
          <a:p>
            <a:pPr>
              <a:spcBef>
                <a:spcPts val="1000"/>
              </a:spcBef>
              <a:defRPr sz="1400" b="1">
                <a:solidFill>
                  <a:srgbClr val="FBBF24"/>
                </a:solidFill>
              </a:defRPr>
            </a:pPr>
            <a:r>
              <a:t>• X / Twitter (Sharp &amp; Punchy)</a:t>
            </a:r>
          </a:p>
          <a:p>
            <a:pPr>
              <a:spcBef>
                <a:spcPts val="200"/>
              </a:spcBef>
              <a:defRPr sz="1250">
                <a:solidFill>
                  <a:srgbClr val="E2E8F0"/>
                </a:solidFill>
              </a:defRPr>
            </a:pPr>
            <a:r>
              <a:t>Tone: Direct, unfiltered, fast-paced.</a:t>
            </a:r>
            <a:br/>
            <a:r>
              <a:t>Format: High-impact one-liner hooks, tactical step-by-step code threads, opinion polls.</a:t>
            </a:r>
          </a:p>
          <a:p>
            <a:pPr>
              <a:spcBef>
                <a:spcPts val="1000"/>
              </a:spcBef>
              <a:defRPr sz="1400" b="1">
                <a:solidFill>
                  <a:srgbClr val="FBBF24"/>
                </a:solidFill>
              </a:defRPr>
            </a:pPr>
            <a:r>
              <a:t>• Instagram (Visual &amp; Digestible)</a:t>
            </a:r>
          </a:p>
          <a:p>
            <a:pPr>
              <a:spcBef>
                <a:spcPts val="200"/>
              </a:spcBef>
              <a:defRPr sz="1250">
                <a:solidFill>
                  <a:srgbClr val="E2E8F0"/>
                </a:solidFill>
              </a:defRPr>
            </a:pPr>
            <a:r>
              <a:t>Tone: Aesthetic, educational, relatable.</a:t>
            </a:r>
            <a:br/>
            <a:r>
              <a:t>Format: Multi-slide carousel graphics, visual workflows, behind-the-scenes reels.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rIns="0" tIns="0" bIns="0">
            <a:spAutoFit/>
          </a:bodyPr>
          <a:lstStyle/>
          <a:p>
            <a:pPr>
              <a:defRPr sz="1100" b="1">
                <a:solidFill>
                  <a:srgbClr val="38BDF8"/>
                </a:solidFill>
              </a:defRPr>
            </a:pPr>
            <a:r>
              <a:t>R.K. SKILLFORGE   |   LESSON 2.1 • MAKE AN ONLINE PRESENCE</a:t>
            </a:r>
          </a:p>
        </p:txBody>
      </p:sp>
      <p:sp>
        <p:nvSpPr>
          <p:cNvPr id="4" name="TextBox 3"/>
          <p:cNvSpPr txBox="1"/>
          <p:nvPr/>
        </p:nvSpPr>
        <p:spPr>
          <a:xfrm>
            <a:off x="731520" y="658368"/>
            <a:ext cx="10698480" cy="685800"/>
          </a:xfrm>
          <a:prstGeom prst="rect">
            <a:avLst/>
          </a:prstGeom>
          <a:noFill/>
        </p:spPr>
        <p:txBody>
          <a:bodyPr wrap="square" lIns="0" rIns="0" tIns="0" bIns="0">
            <a:spAutoFit/>
          </a:bodyPr>
          <a:lstStyle/>
          <a:p>
            <a:pPr>
              <a:defRPr sz="2800" b="1">
                <a:solidFill>
                  <a:srgbClr val="F8FAFC"/>
                </a:solidFill>
              </a:defRPr>
            </a:pPr>
            <a:r>
              <a:t>Pillar 3: Creating High-Impact Video &amp; Short Content</a:t>
            </a:r>
          </a:p>
        </p:txBody>
      </p:sp>
      <p:sp>
        <p:nvSpPr>
          <p:cNvPr id="5" name="Rectangle 4"/>
          <p:cNvSpPr/>
          <p:nvPr/>
        </p:nvSpPr>
        <p:spPr>
          <a:xfrm>
            <a:off x="731520" y="6263640"/>
            <a:ext cx="10728655" cy="18288"/>
          </a:xfrm>
          <a:prstGeom prst="rect">
            <a:avLst/>
          </a:prstGeom>
          <a:solidFill>
            <a:srgbClr val="273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27648"/>
            <a:ext cx="7315200" cy="320040"/>
          </a:xfrm>
          <a:prstGeom prst="rect">
            <a:avLst/>
          </a:prstGeom>
          <a:noFill/>
        </p:spPr>
        <p:txBody>
          <a:bodyPr wrap="none" lIns="0" rIns="0" tIns="0" bIns="0">
            <a:spAutoFit/>
          </a:bodyPr>
          <a:lstStyle/>
          <a:p>
            <a:pPr>
              <a:defRPr sz="1000">
                <a:solidFill>
                  <a:srgbClr val="94A3B8"/>
                </a:solidFill>
              </a:defRPr>
            </a:pPr>
            <a:r>
              <a:t>© R.K. SKILLFORGE  •  AI Mentor Masterclass Series</a:t>
            </a:r>
          </a:p>
        </p:txBody>
      </p:sp>
      <p:sp>
        <p:nvSpPr>
          <p:cNvPr id="7" name="TextBox 6"/>
          <p:cNvSpPr txBox="1"/>
          <p:nvPr/>
        </p:nvSpPr>
        <p:spPr>
          <a:xfrm>
            <a:off x="9601200" y="6327648"/>
            <a:ext cx="1828800" cy="320040"/>
          </a:xfrm>
          <a:prstGeom prst="rect">
            <a:avLst/>
          </a:prstGeom>
          <a:noFill/>
        </p:spPr>
        <p:txBody>
          <a:bodyPr wrap="none" lIns="0" rIns="0" tIns="0" bIns="0">
            <a:spAutoFit/>
          </a:bodyPr>
          <a:lstStyle/>
          <a:p>
            <a:pPr algn="r">
              <a:defRPr sz="1000">
                <a:solidFill>
                  <a:srgbClr val="94A3B8"/>
                </a:solidFill>
              </a:defRPr>
            </a:pPr>
            <a:r>
              <a:t>Slide 5</a:t>
            </a:r>
          </a:p>
        </p:txBody>
      </p:sp>
      <p:sp>
        <p:nvSpPr>
          <p:cNvPr id="8" name="Rounded Rectangle 7"/>
          <p:cNvSpPr/>
          <p:nvPr/>
        </p:nvSpPr>
        <p:spPr>
          <a:xfrm>
            <a:off x="731520" y="1645920"/>
            <a:ext cx="10698480" cy="1097280"/>
          </a:xfrm>
          <a:prstGeom prst="roundRect">
            <a:avLst/>
          </a:prstGeom>
          <a:solidFill>
            <a:srgbClr val="141C2B"/>
          </a:solidFill>
          <a:ln w="1905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lIns="320040" tIns="164592"/>
          <a:lstStyle/>
          <a:p>
            <a:pPr algn="ctr">
              <a:defRPr sz="1200" b="1">
                <a:solidFill>
                  <a:srgbClr val="FBBF24"/>
                </a:solidFill>
              </a:defRPr>
            </a:pPr>
            <a:r>
              <a:t>🎥 VIDEO ANATOMY: ATTENTION ➔ SUBSTANCE ➔ ACTION</a:t>
            </a:r>
          </a:p>
          <a:p>
            <a:pPr>
              <a:spcBef>
                <a:spcPts val="400"/>
              </a:spcBef>
              <a:defRPr sz="1400">
                <a:solidFill>
                  <a:srgbClr val="F8FAFC"/>
                </a:solidFill>
              </a:defRPr>
            </a:pPr>
            <a:r>
              <a:t>Short video (Reels, Shorts, TikTok) is the fastest discovery funnel in the world. Here is how to structure technical video without being cringe.</a:t>
            </a:r>
          </a:p>
        </p:txBody>
      </p:sp>
      <p:sp>
        <p:nvSpPr>
          <p:cNvPr id="9" name="Rounded Rectangle 8"/>
          <p:cNvSpPr/>
          <p:nvPr/>
        </p:nvSpPr>
        <p:spPr>
          <a:xfrm>
            <a:off x="731520" y="3017520"/>
            <a:ext cx="2468880" cy="2926080"/>
          </a:xfrm>
          <a:prstGeom prst="roundRect">
            <a:avLst/>
          </a:prstGeom>
          <a:solidFill>
            <a:srgbClr val="141C2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228600"/>
          <a:lstStyle/>
          <a:p>
            <a:pPr algn="ctr">
              <a:defRPr sz="1700" b="1">
                <a:solidFill>
                  <a:srgbClr val="38BDF8"/>
                </a:solidFill>
              </a:defRPr>
            </a:pPr>
            <a:r>
              <a:t>01. The 3-Sec Hook</a:t>
            </a:r>
          </a:p>
          <a:p>
            <a:pPr>
              <a:spcBef>
                <a:spcPts val="1200"/>
              </a:spcBef>
              <a:defRPr sz="1300">
                <a:solidFill>
                  <a:srgbClr val="E2E8F0"/>
                </a:solidFill>
              </a:defRPr>
            </a:pPr>
            <a:r>
              <a:t>Call out the exact pain point.</a:t>
            </a:r>
            <a:br/>
            <a:r>
              <a:t>'Stop using try-except like this in Python.'</a:t>
            </a:r>
            <a:br/>
            <a:r>
              <a:t>Grab attention immediately.</a:t>
            </a:r>
          </a:p>
        </p:txBody>
      </p:sp>
      <p:sp>
        <p:nvSpPr>
          <p:cNvPr id="10" name="Rounded Rectangle 9"/>
          <p:cNvSpPr/>
          <p:nvPr/>
        </p:nvSpPr>
        <p:spPr>
          <a:xfrm>
            <a:off x="3483864" y="3017520"/>
            <a:ext cx="2468880" cy="2926080"/>
          </a:xfrm>
          <a:prstGeom prst="roundRect">
            <a:avLst/>
          </a:prstGeom>
          <a:solidFill>
            <a:srgbClr val="141C2B"/>
          </a:solidFill>
          <a:ln w="19050">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228600"/>
          <a:lstStyle/>
          <a:p>
            <a:pPr algn="ctr">
              <a:defRPr sz="1700" b="1">
                <a:solidFill>
                  <a:srgbClr val="2DD4BF"/>
                </a:solidFill>
              </a:defRPr>
            </a:pPr>
            <a:r>
              <a:t>02. Scene &amp; Script</a:t>
            </a:r>
          </a:p>
          <a:p>
            <a:pPr>
              <a:spcBef>
                <a:spcPts val="1200"/>
              </a:spcBef>
              <a:defRPr sz="1300">
                <a:solidFill>
                  <a:srgbClr val="E2E8F0"/>
                </a:solidFill>
              </a:defRPr>
            </a:pPr>
            <a:r>
              <a:t>Zero fluff, no greetings.</a:t>
            </a:r>
            <a:br/>
            <a:r>
              <a:t>Jump straight into the demonstration or architecture diagram.</a:t>
            </a:r>
          </a:p>
        </p:txBody>
      </p:sp>
      <p:sp>
        <p:nvSpPr>
          <p:cNvPr id="11" name="Rounded Rectangle 10"/>
          <p:cNvSpPr/>
          <p:nvPr/>
        </p:nvSpPr>
        <p:spPr>
          <a:xfrm>
            <a:off x="6236208" y="3017520"/>
            <a:ext cx="2468880" cy="2926080"/>
          </a:xfrm>
          <a:prstGeom prst="roundRect">
            <a:avLst/>
          </a:prstGeom>
          <a:solidFill>
            <a:srgbClr val="141C2B"/>
          </a:solidFill>
          <a:ln w="19050">
            <a:solidFill>
              <a:srgbClr val="A78BFA"/>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228600"/>
          <a:lstStyle/>
          <a:p>
            <a:pPr algn="ctr">
              <a:defRPr sz="1700" b="1">
                <a:solidFill>
                  <a:srgbClr val="A78BFA"/>
                </a:solidFill>
              </a:defRPr>
            </a:pPr>
            <a:r>
              <a:t>03. On-Screen Visuals</a:t>
            </a:r>
          </a:p>
          <a:p>
            <a:pPr>
              <a:spcBef>
                <a:spcPts val="1200"/>
              </a:spcBef>
              <a:defRPr sz="1300">
                <a:solidFill>
                  <a:srgbClr val="E2E8F0"/>
                </a:solidFill>
              </a:defRPr>
            </a:pPr>
            <a:r>
              <a:t>Code recordings, animated arrows, screen-shares, and bold captions for viewers on mute.</a:t>
            </a:r>
          </a:p>
        </p:txBody>
      </p:sp>
      <p:sp>
        <p:nvSpPr>
          <p:cNvPr id="12" name="Rounded Rectangle 11"/>
          <p:cNvSpPr/>
          <p:nvPr/>
        </p:nvSpPr>
        <p:spPr>
          <a:xfrm>
            <a:off x="8988552" y="3017520"/>
            <a:ext cx="2468880" cy="2926080"/>
          </a:xfrm>
          <a:prstGeom prst="roundRect">
            <a:avLst/>
          </a:prstGeom>
          <a:solidFill>
            <a:srgbClr val="141C2B"/>
          </a:solidFill>
          <a:ln w="1905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228600"/>
          <a:lstStyle/>
          <a:p>
            <a:pPr algn="ctr">
              <a:defRPr sz="1700" b="1">
                <a:solidFill>
                  <a:srgbClr val="FBBF24"/>
                </a:solidFill>
              </a:defRPr>
            </a:pPr>
            <a:r>
              <a:t>04. Clear Action / CTA</a:t>
            </a:r>
          </a:p>
          <a:p>
            <a:pPr>
              <a:spcBef>
                <a:spcPts val="1200"/>
              </a:spcBef>
              <a:defRPr sz="1300">
                <a:solidFill>
                  <a:srgbClr val="E2E8F0"/>
                </a:solidFill>
              </a:defRPr>
            </a:pPr>
            <a:r>
              <a:t>Don't just say 'subscribe'.</a:t>
            </a:r>
            <a:br/>
            <a:r>
              <a:t>Tell them: 'Grab the free source code in our GitHub repo below.'</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rIns="0" tIns="0" bIns="0">
            <a:spAutoFit/>
          </a:bodyPr>
          <a:lstStyle/>
          <a:p>
            <a:pPr>
              <a:defRPr sz="1100" b="1">
                <a:solidFill>
                  <a:srgbClr val="38BDF8"/>
                </a:solidFill>
              </a:defRPr>
            </a:pPr>
            <a:r>
              <a:t>R.K. SKILLFORGE   |   LESSON 2.1 • MAKE AN ONLINE PRESENCE</a:t>
            </a:r>
          </a:p>
        </p:txBody>
      </p:sp>
      <p:sp>
        <p:nvSpPr>
          <p:cNvPr id="4" name="TextBox 3"/>
          <p:cNvSpPr txBox="1"/>
          <p:nvPr/>
        </p:nvSpPr>
        <p:spPr>
          <a:xfrm>
            <a:off x="731520" y="658368"/>
            <a:ext cx="10698480" cy="685800"/>
          </a:xfrm>
          <a:prstGeom prst="rect">
            <a:avLst/>
          </a:prstGeom>
          <a:noFill/>
        </p:spPr>
        <p:txBody>
          <a:bodyPr wrap="square" lIns="0" rIns="0" tIns="0" bIns="0">
            <a:spAutoFit/>
          </a:bodyPr>
          <a:lstStyle/>
          <a:p>
            <a:pPr>
              <a:defRPr sz="2800" b="1">
                <a:solidFill>
                  <a:srgbClr val="F8FAFC"/>
                </a:solidFill>
              </a:defRPr>
            </a:pPr>
            <a:r>
              <a:t>Pillars 4 &amp; 5: Sustainable Habits &amp; Authentic Presence</a:t>
            </a:r>
          </a:p>
        </p:txBody>
      </p:sp>
      <p:sp>
        <p:nvSpPr>
          <p:cNvPr id="5" name="Rectangle 4"/>
          <p:cNvSpPr/>
          <p:nvPr/>
        </p:nvSpPr>
        <p:spPr>
          <a:xfrm>
            <a:off x="731520" y="6263640"/>
            <a:ext cx="10728655" cy="18288"/>
          </a:xfrm>
          <a:prstGeom prst="rect">
            <a:avLst/>
          </a:prstGeom>
          <a:solidFill>
            <a:srgbClr val="273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27648"/>
            <a:ext cx="7315200" cy="320040"/>
          </a:xfrm>
          <a:prstGeom prst="rect">
            <a:avLst/>
          </a:prstGeom>
          <a:noFill/>
        </p:spPr>
        <p:txBody>
          <a:bodyPr wrap="none" lIns="0" rIns="0" tIns="0" bIns="0">
            <a:spAutoFit/>
          </a:bodyPr>
          <a:lstStyle/>
          <a:p>
            <a:pPr>
              <a:defRPr sz="1000">
                <a:solidFill>
                  <a:srgbClr val="94A3B8"/>
                </a:solidFill>
              </a:defRPr>
            </a:pPr>
            <a:r>
              <a:t>© R.K. SKILLFORGE  •  AI Mentor Masterclass Series</a:t>
            </a:r>
          </a:p>
        </p:txBody>
      </p:sp>
      <p:sp>
        <p:nvSpPr>
          <p:cNvPr id="7" name="TextBox 6"/>
          <p:cNvSpPr txBox="1"/>
          <p:nvPr/>
        </p:nvSpPr>
        <p:spPr>
          <a:xfrm>
            <a:off x="9601200" y="6327648"/>
            <a:ext cx="1828800" cy="320040"/>
          </a:xfrm>
          <a:prstGeom prst="rect">
            <a:avLst/>
          </a:prstGeom>
          <a:noFill/>
        </p:spPr>
        <p:txBody>
          <a:bodyPr wrap="none" lIns="0" rIns="0" tIns="0" bIns="0">
            <a:spAutoFit/>
          </a:bodyPr>
          <a:lstStyle/>
          <a:p>
            <a:pPr algn="r">
              <a:defRPr sz="1000">
                <a:solidFill>
                  <a:srgbClr val="94A3B8"/>
                </a:solidFill>
              </a:defRPr>
            </a:pPr>
            <a:r>
              <a:t>Slide 6</a:t>
            </a:r>
          </a:p>
        </p:txBody>
      </p:sp>
      <p:sp>
        <p:nvSpPr>
          <p:cNvPr id="8" name="Rounded Rectangle 7"/>
          <p:cNvSpPr/>
          <p:nvPr/>
        </p:nvSpPr>
        <p:spPr>
          <a:xfrm>
            <a:off x="731520" y="1645920"/>
            <a:ext cx="5120640" cy="4297680"/>
          </a:xfrm>
          <a:prstGeom prst="roundRect">
            <a:avLst/>
          </a:prstGeom>
          <a:solidFill>
            <a:srgbClr val="141C2B"/>
          </a:solidFill>
          <a:ln w="19050">
            <a:solidFill>
              <a:srgbClr val="A78BFA"/>
            </a:solidFill>
          </a:ln>
        </p:spPr>
        <p:style>
          <a:lnRef idx="1">
            <a:schemeClr val="accent1"/>
          </a:lnRef>
          <a:fillRef idx="3">
            <a:schemeClr val="accent1"/>
          </a:fillRef>
          <a:effectRef idx="2">
            <a:schemeClr val="accent1"/>
          </a:effectRef>
          <a:fontRef idx="minor">
            <a:schemeClr val="lt1"/>
          </a:fontRef>
        </p:style>
        <p:txBody>
          <a:bodyPr rtlCol="0" anchor="ctr" wrap="square" lIns="292608" tIns="274320"/>
          <a:lstStyle/>
          <a:p>
            <a:pPr algn="ctr">
              <a:defRPr sz="1200" b="1">
                <a:solidFill>
                  <a:srgbClr val="A78BFA"/>
                </a:solidFill>
              </a:defRPr>
            </a:pPr>
            <a:r>
              <a:t>🔁 PILLAR 04: THE CONSISTENT HABIT</a:t>
            </a:r>
          </a:p>
          <a:p>
            <a:pPr>
              <a:spcBef>
                <a:spcPts val="400"/>
              </a:spcBef>
              <a:defRPr sz="2000" b="1">
                <a:solidFill>
                  <a:srgbClr val="F8FAFC"/>
                </a:solidFill>
              </a:defRPr>
            </a:pPr>
            <a:r>
              <a:t>Consistency Beats Intensity</a:t>
            </a:r>
          </a:p>
          <a:p>
            <a:pPr>
              <a:spcBef>
                <a:spcPts val="1200"/>
              </a:spcBef>
              <a:defRPr sz="1400" b="1">
                <a:solidFill>
                  <a:srgbClr val="2DD4BF"/>
                </a:solidFill>
              </a:defRPr>
            </a:pPr>
            <a:r>
              <a:t>• Keep Production Friction Low</a:t>
            </a:r>
          </a:p>
          <a:p>
            <a:pPr>
              <a:spcBef>
                <a:spcPts val="200"/>
              </a:spcBef>
              <a:defRPr sz="1300">
                <a:solidFill>
                  <a:srgbClr val="E2E8F0"/>
                </a:solidFill>
              </a:defRPr>
            </a:pPr>
            <a:r>
              <a:t>If creating a post takes 3 hours, you will quit in 2 weeks. Aim for 20-30 minutes per post.</a:t>
            </a:r>
          </a:p>
          <a:p>
            <a:pPr>
              <a:spcBef>
                <a:spcPts val="1200"/>
              </a:spcBef>
              <a:defRPr sz="1400" b="1">
                <a:solidFill>
                  <a:srgbClr val="2DD4BF"/>
                </a:solidFill>
              </a:defRPr>
            </a:pPr>
            <a:r>
              <a:t>• Maintain an Idea Backlog</a:t>
            </a:r>
          </a:p>
          <a:p>
            <a:pPr>
              <a:spcBef>
                <a:spcPts val="200"/>
              </a:spcBef>
              <a:defRPr sz="1300">
                <a:solidFill>
                  <a:srgbClr val="E2E8F0"/>
                </a:solidFill>
              </a:defRPr>
            </a:pPr>
            <a:r>
              <a:t>Never sit down with a blank screen. Whenever you solve a bug or read a doc, capture a 1-line note in Notion or Apple Notes.</a:t>
            </a:r>
          </a:p>
          <a:p>
            <a:pPr>
              <a:spcBef>
                <a:spcPts val="1200"/>
              </a:spcBef>
              <a:defRPr sz="1400" b="1">
                <a:solidFill>
                  <a:srgbClr val="2DD4BF"/>
                </a:solidFill>
              </a:defRPr>
            </a:pPr>
            <a:r>
              <a:t>• Target: 3 Posts Per Week</a:t>
            </a:r>
          </a:p>
          <a:p>
            <a:pPr>
              <a:spcBef>
                <a:spcPts val="200"/>
              </a:spcBef>
              <a:defRPr sz="1300">
                <a:solidFill>
                  <a:srgbClr val="E2E8F0"/>
                </a:solidFill>
              </a:defRPr>
            </a:pPr>
            <a:r>
              <a:t>Three well-crafted, honest posts per week is infinitely better than posting 14 low-effort posts that clutter feeds.</a:t>
            </a:r>
          </a:p>
        </p:txBody>
      </p:sp>
      <p:sp>
        <p:nvSpPr>
          <p:cNvPr id="9" name="Rounded Rectangle 8"/>
          <p:cNvSpPr/>
          <p:nvPr/>
        </p:nvSpPr>
        <p:spPr>
          <a:xfrm>
            <a:off x="6309360" y="1645920"/>
            <a:ext cx="5120640" cy="4297680"/>
          </a:xfrm>
          <a:prstGeom prst="roundRect">
            <a:avLst/>
          </a:prstGeom>
          <a:solidFill>
            <a:srgbClr val="141C2B"/>
          </a:solidFill>
          <a:ln w="1905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wrap="square" lIns="292608" tIns="274320"/>
          <a:lstStyle/>
          <a:p>
            <a:pPr algn="ctr">
              <a:defRPr sz="1200" b="1">
                <a:solidFill>
                  <a:srgbClr val="FBBF24"/>
                </a:solidFill>
              </a:defRPr>
            </a:pPr>
            <a:r>
              <a:t>🌟 PILLAR 05: AUTHENTIC PRESENCE</a:t>
            </a:r>
          </a:p>
          <a:p>
            <a:pPr>
              <a:spcBef>
                <a:spcPts val="400"/>
              </a:spcBef>
              <a:defRPr sz="2000" b="1">
                <a:solidFill>
                  <a:srgbClr val="F8FAFC"/>
                </a:solidFill>
              </a:defRPr>
            </a:pPr>
            <a:r>
              <a:t>Share the Raw Learning Journey</a:t>
            </a:r>
          </a:p>
          <a:p>
            <a:pPr>
              <a:spcBef>
                <a:spcPts val="1200"/>
              </a:spcBef>
              <a:defRPr sz="1400" b="1">
                <a:solidFill>
                  <a:srgbClr val="FBBF24"/>
                </a:solidFill>
              </a:defRPr>
            </a:pPr>
            <a:r>
              <a:t>• Show Your Mistakes</a:t>
            </a:r>
          </a:p>
          <a:p>
            <a:pPr>
              <a:spcBef>
                <a:spcPts val="200"/>
              </a:spcBef>
              <a:defRPr sz="1300">
                <a:solidFill>
                  <a:srgbClr val="E2E8F0"/>
                </a:solidFill>
              </a:defRPr>
            </a:pPr>
            <a:r>
              <a:t>People connect with struggle, not perfection. Share the edge cases that broke your build and how you resolved them.</a:t>
            </a:r>
          </a:p>
          <a:p>
            <a:pPr>
              <a:spcBef>
                <a:spcPts val="1200"/>
              </a:spcBef>
              <a:defRPr sz="1400" b="1">
                <a:solidFill>
                  <a:srgbClr val="FBBF24"/>
                </a:solidFill>
              </a:defRPr>
            </a:pPr>
            <a:r>
              <a:t>• Utility Over Vanity</a:t>
            </a:r>
          </a:p>
          <a:p>
            <a:pPr>
              <a:spcBef>
                <a:spcPts val="200"/>
              </a:spcBef>
              <a:defRPr sz="1300">
                <a:solidFill>
                  <a:srgbClr val="E2E8F0"/>
                </a:solidFill>
              </a:defRPr>
            </a:pPr>
            <a:r>
              <a:t>Measure success by how many people bookmarked your post or learned from it, NOT by vanity likes.</a:t>
            </a:r>
          </a:p>
          <a:p>
            <a:pPr>
              <a:spcBef>
                <a:spcPts val="1200"/>
              </a:spcBef>
              <a:defRPr sz="1400" b="1">
                <a:solidFill>
                  <a:srgbClr val="FBBF24"/>
                </a:solidFill>
              </a:defRPr>
            </a:pPr>
            <a:r>
              <a:t>• Long-Term Reputation</a:t>
            </a:r>
          </a:p>
          <a:p>
            <a:pPr>
              <a:spcBef>
                <a:spcPts val="200"/>
              </a:spcBef>
              <a:defRPr sz="1300">
                <a:solidFill>
                  <a:srgbClr val="E2E8F0"/>
                </a:solidFill>
              </a:defRPr>
            </a:pPr>
            <a:r>
              <a:t>At R.K. SKILLFORGE, we build for 5-year credibility. A single hiring manager noticing your depth is worth 10,000 bots.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rIns="0" tIns="0" bIns="0">
            <a:spAutoFit/>
          </a:bodyPr>
          <a:lstStyle/>
          <a:p>
            <a:pPr>
              <a:defRPr sz="1100" b="1">
                <a:solidFill>
                  <a:srgbClr val="38BDF8"/>
                </a:solidFill>
              </a:defRPr>
            </a:pPr>
            <a:r>
              <a:t>R.K. SKILLFORGE   |   LESSON 2.1 • MAKE AN ONLINE PRESENCE</a:t>
            </a:r>
          </a:p>
        </p:txBody>
      </p:sp>
      <p:sp>
        <p:nvSpPr>
          <p:cNvPr id="4" name="TextBox 3"/>
          <p:cNvSpPr txBox="1"/>
          <p:nvPr/>
        </p:nvSpPr>
        <p:spPr>
          <a:xfrm>
            <a:off x="731520" y="658368"/>
            <a:ext cx="10698480" cy="685800"/>
          </a:xfrm>
          <a:prstGeom prst="rect">
            <a:avLst/>
          </a:prstGeom>
          <a:noFill/>
        </p:spPr>
        <p:txBody>
          <a:bodyPr wrap="square" lIns="0" rIns="0" tIns="0" bIns="0">
            <a:spAutoFit/>
          </a:bodyPr>
          <a:lstStyle/>
          <a:p>
            <a:pPr>
              <a:defRPr sz="2800" b="1">
                <a:solidFill>
                  <a:srgbClr val="F8FAFC"/>
                </a:solidFill>
              </a:defRPr>
            </a:pPr>
            <a:r>
              <a:t>Pillars 6 &amp; 7: Best Practices &amp; The 1-to-6 Repurposing Matrix</a:t>
            </a:r>
          </a:p>
        </p:txBody>
      </p:sp>
      <p:sp>
        <p:nvSpPr>
          <p:cNvPr id="5" name="Rectangle 4"/>
          <p:cNvSpPr/>
          <p:nvPr/>
        </p:nvSpPr>
        <p:spPr>
          <a:xfrm>
            <a:off x="731520" y="6263640"/>
            <a:ext cx="10728655" cy="18288"/>
          </a:xfrm>
          <a:prstGeom prst="rect">
            <a:avLst/>
          </a:prstGeom>
          <a:solidFill>
            <a:srgbClr val="273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27648"/>
            <a:ext cx="7315200" cy="320040"/>
          </a:xfrm>
          <a:prstGeom prst="rect">
            <a:avLst/>
          </a:prstGeom>
          <a:noFill/>
        </p:spPr>
        <p:txBody>
          <a:bodyPr wrap="none" lIns="0" rIns="0" tIns="0" bIns="0">
            <a:spAutoFit/>
          </a:bodyPr>
          <a:lstStyle/>
          <a:p>
            <a:pPr>
              <a:defRPr sz="1000">
                <a:solidFill>
                  <a:srgbClr val="94A3B8"/>
                </a:solidFill>
              </a:defRPr>
            </a:pPr>
            <a:r>
              <a:t>© R.K. SKILLFORGE  •  AI Mentor Masterclass Series</a:t>
            </a:r>
          </a:p>
        </p:txBody>
      </p:sp>
      <p:sp>
        <p:nvSpPr>
          <p:cNvPr id="7" name="TextBox 6"/>
          <p:cNvSpPr txBox="1"/>
          <p:nvPr/>
        </p:nvSpPr>
        <p:spPr>
          <a:xfrm>
            <a:off x="9601200" y="6327648"/>
            <a:ext cx="1828800" cy="320040"/>
          </a:xfrm>
          <a:prstGeom prst="rect">
            <a:avLst/>
          </a:prstGeom>
          <a:noFill/>
        </p:spPr>
        <p:txBody>
          <a:bodyPr wrap="none" lIns="0" rIns="0" tIns="0" bIns="0">
            <a:spAutoFit/>
          </a:bodyPr>
          <a:lstStyle/>
          <a:p>
            <a:pPr algn="r">
              <a:defRPr sz="1000">
                <a:solidFill>
                  <a:srgbClr val="94A3B8"/>
                </a:solidFill>
              </a:defRPr>
            </a:pPr>
            <a:r>
              <a:t>Slide 7</a:t>
            </a:r>
          </a:p>
        </p:txBody>
      </p:sp>
      <p:sp>
        <p:nvSpPr>
          <p:cNvPr id="8" name="Rounded Rectangle 7"/>
          <p:cNvSpPr/>
          <p:nvPr/>
        </p:nvSpPr>
        <p:spPr>
          <a:xfrm>
            <a:off x="731520" y="1645920"/>
            <a:ext cx="5120640" cy="4297680"/>
          </a:xfrm>
          <a:prstGeom prst="roundRect">
            <a:avLst/>
          </a:prstGeom>
          <a:solidFill>
            <a:srgbClr val="141C2B"/>
          </a:solidFill>
          <a:ln w="19050">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wrap="square" lIns="292608" tIns="274320"/>
          <a:lstStyle/>
          <a:p>
            <a:pPr algn="ctr">
              <a:defRPr sz="1200" b="1">
                <a:solidFill>
                  <a:srgbClr val="2DD4BF"/>
                </a:solidFill>
              </a:defRPr>
            </a:pPr>
            <a:r>
              <a:t>📐 PILLAR 06: CREATION BEST PRACTICES</a:t>
            </a:r>
          </a:p>
          <a:p>
            <a:pPr>
              <a:spcBef>
                <a:spcPts val="400"/>
              </a:spcBef>
              <a:defRPr sz="2000" b="1">
                <a:solidFill>
                  <a:srgbClr val="F8FAFC"/>
                </a:solidFill>
              </a:defRPr>
            </a:pPr>
            <a:r>
              <a:t>The 6-Step Content Engine</a:t>
            </a:r>
          </a:p>
          <a:p>
            <a:pPr>
              <a:spcBef>
                <a:spcPts val="1000"/>
              </a:spcBef>
              <a:defRPr sz="1300">
                <a:solidFill>
                  <a:srgbClr val="E2E8F0"/>
                </a:solidFill>
              </a:defRPr>
            </a:pPr>
            <a:r>
              <a:t>1. Magnetic Hook ➔ Promise a tangible outcome</a:t>
            </a:r>
          </a:p>
          <a:p>
            <a:pPr>
              <a:spcBef>
                <a:spcPts val="1000"/>
              </a:spcBef>
              <a:defRPr sz="1300">
                <a:solidFill>
                  <a:srgbClr val="E2E8F0"/>
                </a:solidFill>
              </a:defRPr>
            </a:pPr>
            <a:r>
              <a:t>2. Clear Writing ➔ Short paragraphs &amp; zero jargon</a:t>
            </a:r>
          </a:p>
          <a:p>
            <a:pPr>
              <a:spcBef>
                <a:spcPts val="1000"/>
              </a:spcBef>
              <a:defRPr sz="1300">
                <a:solidFill>
                  <a:srgbClr val="E2E8F0"/>
                </a:solidFill>
              </a:defRPr>
            </a:pPr>
            <a:r>
              <a:t>3. Relatable Story ➔ The context behind the problem</a:t>
            </a:r>
          </a:p>
          <a:p>
            <a:pPr>
              <a:spcBef>
                <a:spcPts val="1000"/>
              </a:spcBef>
              <a:defRPr sz="1300">
                <a:solidFill>
                  <a:srgbClr val="E2E8F0"/>
                </a:solidFill>
              </a:defRPr>
            </a:pPr>
            <a:r>
              <a:t>4. Simple Explanations ➔ Real-world analogies</a:t>
            </a:r>
          </a:p>
          <a:p>
            <a:pPr>
              <a:spcBef>
                <a:spcPts val="1000"/>
              </a:spcBef>
              <a:defRPr sz="1300">
                <a:solidFill>
                  <a:srgbClr val="E2E8F0"/>
                </a:solidFill>
              </a:defRPr>
            </a:pPr>
            <a:r>
              <a:t>5. Strong Title ➔ High discoverability keywords</a:t>
            </a:r>
          </a:p>
          <a:p>
            <a:pPr>
              <a:spcBef>
                <a:spcPts val="1000"/>
              </a:spcBef>
              <a:defRPr sz="1300">
                <a:solidFill>
                  <a:srgbClr val="E2E8F0"/>
                </a:solidFill>
              </a:defRPr>
            </a:pPr>
            <a:r>
              <a:t>6. Relentless Consistency ➔ Show up every week</a:t>
            </a:r>
          </a:p>
        </p:txBody>
      </p:sp>
      <p:sp>
        <p:nvSpPr>
          <p:cNvPr id="9" name="Rounded Rectangle 8"/>
          <p:cNvSpPr/>
          <p:nvPr/>
        </p:nvSpPr>
        <p:spPr>
          <a:xfrm>
            <a:off x="6309360" y="1645920"/>
            <a:ext cx="5120640" cy="4297680"/>
          </a:xfrm>
          <a:prstGeom prst="roundRect">
            <a:avLst/>
          </a:prstGeom>
          <a:solidFill>
            <a:srgbClr val="141C2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292608" tIns="274320"/>
          <a:lstStyle/>
          <a:p>
            <a:pPr algn="ctr">
              <a:defRPr sz="1200" b="1">
                <a:solidFill>
                  <a:srgbClr val="38BDF8"/>
                </a:solidFill>
              </a:defRPr>
            </a:pPr>
            <a:r>
              <a:t>🔄 PILLAR 07: REPURPOSE ONE IDEA</a:t>
            </a:r>
          </a:p>
          <a:p>
            <a:pPr>
              <a:spcBef>
                <a:spcPts val="400"/>
              </a:spcBef>
              <a:defRPr sz="2000" b="1">
                <a:solidFill>
                  <a:srgbClr val="F8FAFC"/>
                </a:solidFill>
              </a:defRPr>
            </a:pPr>
            <a:r>
              <a:t>1 Core Lesson ➔ 6 High-Value Formats</a:t>
            </a:r>
          </a:p>
          <a:p>
            <a:pPr>
              <a:spcBef>
                <a:spcPts val="700"/>
              </a:spcBef>
              <a:defRPr sz="1250">
                <a:solidFill>
                  <a:srgbClr val="E2E8F0"/>
                </a:solidFill>
              </a:defRPr>
            </a:pPr>
            <a:r>
              <a:t>💼 LinkedIn Post: Career takeaway &amp; production case study.</a:t>
            </a:r>
          </a:p>
          <a:p>
            <a:pPr>
              <a:spcBef>
                <a:spcPts val="700"/>
              </a:spcBef>
              <a:defRPr sz="1250">
                <a:solidFill>
                  <a:srgbClr val="E2E8F0"/>
                </a:solidFill>
              </a:defRPr>
            </a:pPr>
            <a:r>
              <a:t>🐦 X / Twitter Thread: Step-by-step code snippet &amp; architectural breakdown.</a:t>
            </a:r>
          </a:p>
          <a:p>
            <a:pPr>
              <a:spcBef>
                <a:spcPts val="700"/>
              </a:spcBef>
              <a:defRPr sz="1250">
                <a:solidFill>
                  <a:srgbClr val="E2E8F0"/>
                </a:solidFill>
              </a:defRPr>
            </a:pPr>
            <a:r>
              <a:t>📸 Instagram Carousel: Visual slide breakdown with diagrams.</a:t>
            </a:r>
          </a:p>
          <a:p>
            <a:pPr>
              <a:spcBef>
                <a:spcPts val="700"/>
              </a:spcBef>
              <a:defRPr sz="1250">
                <a:solidFill>
                  <a:srgbClr val="E2E8F0"/>
                </a:solidFill>
              </a:defRPr>
            </a:pPr>
            <a:r>
              <a:t>🎥 Short Video / Reel: 60-second live terminal demo or problem walk-through.</a:t>
            </a:r>
          </a:p>
          <a:p>
            <a:pPr>
              <a:spcBef>
                <a:spcPts val="700"/>
              </a:spcBef>
              <a:defRPr sz="1250">
                <a:solidFill>
                  <a:srgbClr val="E2E8F0"/>
                </a:solidFill>
              </a:defRPr>
            </a:pPr>
            <a:r>
              <a:t>📝 Learning Summary: A markdown README for your GitHub repository.</a:t>
            </a:r>
          </a:p>
          <a:p>
            <a:pPr>
              <a:spcBef>
                <a:spcPts val="700"/>
              </a:spcBef>
              <a:defRPr sz="1250">
                <a:solidFill>
                  <a:srgbClr val="E2E8F0"/>
                </a:solidFill>
              </a:defRPr>
            </a:pPr>
            <a:r>
              <a:t>🤝 Newsletter / Community: Deep-dive discussion prompt for fellow learners.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rIns="0" tIns="0" bIns="0">
            <a:spAutoFit/>
          </a:bodyPr>
          <a:lstStyle/>
          <a:p>
            <a:pPr>
              <a:defRPr sz="1100" b="1">
                <a:solidFill>
                  <a:srgbClr val="38BDF8"/>
                </a:solidFill>
              </a:defRPr>
            </a:pPr>
            <a:r>
              <a:t>R.K. SKILLFORGE   |   LESSON 2.1 • MAKE AN ONLINE PRESENCE</a:t>
            </a:r>
          </a:p>
        </p:txBody>
      </p:sp>
      <p:sp>
        <p:nvSpPr>
          <p:cNvPr id="4" name="TextBox 3"/>
          <p:cNvSpPr txBox="1"/>
          <p:nvPr/>
        </p:nvSpPr>
        <p:spPr>
          <a:xfrm>
            <a:off x="731520" y="658368"/>
            <a:ext cx="10698480" cy="685800"/>
          </a:xfrm>
          <a:prstGeom prst="rect">
            <a:avLst/>
          </a:prstGeom>
          <a:noFill/>
        </p:spPr>
        <p:txBody>
          <a:bodyPr wrap="square" lIns="0" rIns="0" tIns="0" bIns="0">
            <a:spAutoFit/>
          </a:bodyPr>
          <a:lstStyle/>
          <a:p>
            <a:pPr>
              <a:defRPr sz="2800" b="1">
                <a:solidFill>
                  <a:srgbClr val="F8FAFC"/>
                </a:solidFill>
              </a:defRPr>
            </a:pPr>
            <a:r>
              <a:t>Pillars 8 &amp; 9: Content Evaluation &amp; Hallucination Defense</a:t>
            </a:r>
          </a:p>
        </p:txBody>
      </p:sp>
      <p:sp>
        <p:nvSpPr>
          <p:cNvPr id="5" name="Rectangle 4"/>
          <p:cNvSpPr/>
          <p:nvPr/>
        </p:nvSpPr>
        <p:spPr>
          <a:xfrm>
            <a:off x="731520" y="6263640"/>
            <a:ext cx="10728655" cy="18288"/>
          </a:xfrm>
          <a:prstGeom prst="rect">
            <a:avLst/>
          </a:prstGeom>
          <a:solidFill>
            <a:srgbClr val="273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27648"/>
            <a:ext cx="7315200" cy="320040"/>
          </a:xfrm>
          <a:prstGeom prst="rect">
            <a:avLst/>
          </a:prstGeom>
          <a:noFill/>
        </p:spPr>
        <p:txBody>
          <a:bodyPr wrap="none" lIns="0" rIns="0" tIns="0" bIns="0">
            <a:spAutoFit/>
          </a:bodyPr>
          <a:lstStyle/>
          <a:p>
            <a:pPr>
              <a:defRPr sz="1000">
                <a:solidFill>
                  <a:srgbClr val="94A3B8"/>
                </a:solidFill>
              </a:defRPr>
            </a:pPr>
            <a:r>
              <a:t>© R.K. SKILLFORGE  •  AI Mentor Masterclass Series</a:t>
            </a:r>
          </a:p>
        </p:txBody>
      </p:sp>
      <p:sp>
        <p:nvSpPr>
          <p:cNvPr id="7" name="TextBox 6"/>
          <p:cNvSpPr txBox="1"/>
          <p:nvPr/>
        </p:nvSpPr>
        <p:spPr>
          <a:xfrm>
            <a:off x="9601200" y="6327648"/>
            <a:ext cx="1828800" cy="320040"/>
          </a:xfrm>
          <a:prstGeom prst="rect">
            <a:avLst/>
          </a:prstGeom>
          <a:noFill/>
        </p:spPr>
        <p:txBody>
          <a:bodyPr wrap="none" lIns="0" rIns="0" tIns="0" bIns="0">
            <a:spAutoFit/>
          </a:bodyPr>
          <a:lstStyle/>
          <a:p>
            <a:pPr algn="r">
              <a:defRPr sz="1000">
                <a:solidFill>
                  <a:srgbClr val="94A3B8"/>
                </a:solidFill>
              </a:defRPr>
            </a:pPr>
            <a:r>
              <a:t>Slide 8</a:t>
            </a:r>
          </a:p>
        </p:txBody>
      </p:sp>
      <p:sp>
        <p:nvSpPr>
          <p:cNvPr id="8" name="Rounded Rectangle 7"/>
          <p:cNvSpPr/>
          <p:nvPr/>
        </p:nvSpPr>
        <p:spPr>
          <a:xfrm>
            <a:off x="731520" y="1645920"/>
            <a:ext cx="5120640" cy="4297680"/>
          </a:xfrm>
          <a:prstGeom prst="roundRect">
            <a:avLst/>
          </a:prstGeom>
          <a:solidFill>
            <a:srgbClr val="141C2B"/>
          </a:solidFill>
          <a:ln w="1905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wrap="square" lIns="292608" tIns="274320"/>
          <a:lstStyle/>
          <a:p>
            <a:pPr algn="ctr">
              <a:defRPr sz="1200" b="1">
                <a:solidFill>
                  <a:srgbClr val="FBBF24"/>
                </a:solidFill>
              </a:defRPr>
            </a:pPr>
            <a:r>
              <a:t>⚖️ PILLAR 08: HONEST CONTENT REVIEW</a:t>
            </a:r>
          </a:p>
          <a:p>
            <a:pPr>
              <a:spcBef>
                <a:spcPts val="400"/>
              </a:spcBef>
              <a:defRPr sz="2000" b="1">
                <a:solidFill>
                  <a:srgbClr val="F8FAFC"/>
                </a:solidFill>
              </a:defRPr>
            </a:pPr>
            <a:r>
              <a:t>Content Score: X / 10</a:t>
            </a:r>
          </a:p>
          <a:p>
            <a:pPr>
              <a:spcBef>
                <a:spcPts val="1200"/>
              </a:spcBef>
              <a:defRPr sz="1400" b="1">
                <a:solidFill>
                  <a:srgbClr val="FBBF24"/>
                </a:solidFill>
              </a:defRPr>
            </a:pPr>
            <a:r>
              <a:t>✅ What Works:</a:t>
            </a:r>
          </a:p>
          <a:p>
            <a:pPr>
              <a:spcBef>
                <a:spcPts val="200"/>
              </a:spcBef>
              <a:defRPr sz="1300">
                <a:solidFill>
                  <a:srgbClr val="E2E8F0"/>
                </a:solidFill>
              </a:defRPr>
            </a:pPr>
            <a:r>
              <a:t>The hook captures interest; the code snippet is relevant.</a:t>
            </a:r>
          </a:p>
          <a:p>
            <a:pPr>
              <a:spcBef>
                <a:spcPts val="1200"/>
              </a:spcBef>
              <a:defRPr sz="1400" b="1">
                <a:solidFill>
                  <a:srgbClr val="FBBF24"/>
                </a:solidFill>
              </a:defRPr>
            </a:pPr>
            <a:r>
              <a:t>⚠️ What is Weak:</a:t>
            </a:r>
          </a:p>
          <a:p>
            <a:pPr>
              <a:spcBef>
                <a:spcPts val="200"/>
              </a:spcBef>
              <a:defRPr sz="1300">
                <a:solidFill>
                  <a:srgbClr val="E2E8F0"/>
                </a:solidFill>
              </a:defRPr>
            </a:pPr>
            <a:r>
              <a:t>Paragraph 2 uses jargon without explaining it. Pace drags in middle.</a:t>
            </a:r>
          </a:p>
          <a:p>
            <a:pPr>
              <a:spcBef>
                <a:spcPts val="1200"/>
              </a:spcBef>
              <a:defRPr sz="1400" b="1">
                <a:solidFill>
                  <a:srgbClr val="FBBF24"/>
                </a:solidFill>
              </a:defRPr>
            </a:pPr>
            <a:r>
              <a:t>🛠️ How to Improve:</a:t>
            </a:r>
          </a:p>
          <a:p>
            <a:pPr>
              <a:spcBef>
                <a:spcPts val="200"/>
              </a:spcBef>
              <a:defRPr sz="1300">
                <a:solidFill>
                  <a:srgbClr val="E2E8F0"/>
                </a:solidFill>
              </a:defRPr>
            </a:pPr>
            <a:r>
              <a:t>Cut 30% of unnecessary adjectives; replace with an analogy.</a:t>
            </a:r>
          </a:p>
          <a:p>
            <a:pPr>
              <a:spcBef>
                <a:spcPts val="1200"/>
              </a:spcBef>
              <a:defRPr sz="1400" b="1">
                <a:solidFill>
                  <a:srgbClr val="FBBF24"/>
                </a:solidFill>
              </a:defRPr>
            </a:pPr>
            <a:r>
              <a:t>🚀 Recommended Draft:</a:t>
            </a:r>
          </a:p>
          <a:p>
            <a:pPr>
              <a:spcBef>
                <a:spcPts val="200"/>
              </a:spcBef>
              <a:defRPr sz="1300">
                <a:solidFill>
                  <a:srgbClr val="E2E8F0"/>
                </a:solidFill>
              </a:defRPr>
            </a:pPr>
            <a:r>
              <a:t>AI delivers a polished, ready-to-publish rewrite.</a:t>
            </a:r>
          </a:p>
        </p:txBody>
      </p:sp>
      <p:sp>
        <p:nvSpPr>
          <p:cNvPr id="9" name="Rounded Rectangle 8"/>
          <p:cNvSpPr/>
          <p:nvPr/>
        </p:nvSpPr>
        <p:spPr>
          <a:xfrm>
            <a:off x="6309360" y="1645920"/>
            <a:ext cx="5120640" cy="4297680"/>
          </a:xfrm>
          <a:prstGeom prst="roundRect">
            <a:avLst/>
          </a:prstGeom>
          <a:solidFill>
            <a:srgbClr val="141C2B"/>
          </a:solidFill>
          <a:ln w="1905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wrap="square" lIns="292608" tIns="274320"/>
          <a:lstStyle/>
          <a:p>
            <a:pPr algn="ctr">
              <a:defRPr sz="1200" b="1">
                <a:solidFill>
                  <a:srgbClr val="F87171"/>
                </a:solidFill>
              </a:defRPr>
            </a:pPr>
            <a:r>
              <a:t>🛡️ PILLAR 09: ZERO HALLUCINATIONS</a:t>
            </a:r>
          </a:p>
          <a:p>
            <a:pPr>
              <a:spcBef>
                <a:spcPts val="400"/>
              </a:spcBef>
              <a:defRPr sz="2000" b="1">
                <a:solidFill>
                  <a:srgbClr val="F8FAFC"/>
                </a:solidFill>
              </a:defRPr>
            </a:pPr>
            <a:r>
              <a:t>Never Sacrifice Truth for Hype</a:t>
            </a:r>
          </a:p>
          <a:p>
            <a:pPr>
              <a:spcBef>
                <a:spcPts val="1200"/>
              </a:spcBef>
              <a:defRPr sz="1400" b="1">
                <a:solidFill>
                  <a:srgbClr val="2DD4BF"/>
                </a:solidFill>
              </a:defRPr>
            </a:pPr>
            <a:r>
              <a:t>• Never Invent Metrics:</a:t>
            </a:r>
          </a:p>
          <a:p>
            <a:pPr>
              <a:spcBef>
                <a:spcPts val="200"/>
              </a:spcBef>
              <a:defRPr sz="1300">
                <a:solidFill>
                  <a:srgbClr val="E2E8F0"/>
                </a:solidFill>
              </a:defRPr>
            </a:pPr>
            <a:r>
              <a:t>Do not invent fake follower counts, earnings, or artificial testimonials.</a:t>
            </a:r>
          </a:p>
          <a:p>
            <a:pPr>
              <a:spcBef>
                <a:spcPts val="1200"/>
              </a:spcBef>
              <a:defRPr sz="1400" b="1">
                <a:solidFill>
                  <a:srgbClr val="2DD4BF"/>
                </a:solidFill>
              </a:defRPr>
            </a:pPr>
            <a:r>
              <a:t>• Acknowledge Inexperience:</a:t>
            </a:r>
          </a:p>
          <a:p>
            <a:pPr>
              <a:spcBef>
                <a:spcPts val="200"/>
              </a:spcBef>
              <a:defRPr sz="1300">
                <a:solidFill>
                  <a:srgbClr val="E2E8F0"/>
                </a:solidFill>
              </a:defRPr>
            </a:pPr>
            <a:r>
              <a:t>If you are testing a library for the first time, say so! Transparency builds respect.</a:t>
            </a:r>
          </a:p>
          <a:p>
            <a:pPr>
              <a:spcBef>
                <a:spcPts val="1200"/>
              </a:spcBef>
              <a:defRPr sz="1400" b="1">
                <a:solidFill>
                  <a:srgbClr val="2DD4BF"/>
                </a:solidFill>
              </a:defRPr>
            </a:pPr>
            <a:r>
              <a:t>• Cite Primary Sources:</a:t>
            </a:r>
          </a:p>
          <a:p>
            <a:pPr>
              <a:spcBef>
                <a:spcPts val="200"/>
              </a:spcBef>
              <a:defRPr sz="1300">
                <a:solidFill>
                  <a:srgbClr val="E2E8F0"/>
                </a:solidFill>
              </a:defRPr>
            </a:pPr>
            <a:r>
              <a:t>Always link official documentation, RFC standards, or core maintainer repos.</a:t>
            </a:r>
          </a:p>
          <a:p>
            <a:pPr>
              <a:spcBef>
                <a:spcPts val="1200"/>
              </a:spcBef>
              <a:defRPr sz="1400" b="1">
                <a:solidFill>
                  <a:srgbClr val="2DD4BF"/>
                </a:solidFill>
              </a:defRPr>
            </a:pPr>
            <a:r>
              <a:t>• Protect Your Reputation:</a:t>
            </a:r>
          </a:p>
          <a:p>
            <a:pPr>
              <a:spcBef>
                <a:spcPts val="200"/>
              </a:spcBef>
              <a:defRPr sz="1300">
                <a:solidFill>
                  <a:srgbClr val="E2E8F0"/>
                </a:solidFill>
              </a:defRPr>
            </a:pPr>
            <a:r>
              <a:t>A single fabricated claim can destroy years of professional credibility.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rIns="0" tIns="0" bIns="0">
            <a:spAutoFit/>
          </a:bodyPr>
          <a:lstStyle/>
          <a:p>
            <a:pPr>
              <a:defRPr sz="1100" b="1">
                <a:solidFill>
                  <a:srgbClr val="38BDF8"/>
                </a:solidFill>
              </a:defRPr>
            </a:pPr>
            <a:r>
              <a:t>R.K. SKILLFORGE   |   LESSON 2.1 • MAKE AN ONLINE PRESENCE</a:t>
            </a:r>
          </a:p>
        </p:txBody>
      </p:sp>
      <p:sp>
        <p:nvSpPr>
          <p:cNvPr id="4" name="TextBox 3"/>
          <p:cNvSpPr txBox="1"/>
          <p:nvPr/>
        </p:nvSpPr>
        <p:spPr>
          <a:xfrm>
            <a:off x="731520" y="658368"/>
            <a:ext cx="10698480" cy="685800"/>
          </a:xfrm>
          <a:prstGeom prst="rect">
            <a:avLst/>
          </a:prstGeom>
          <a:noFill/>
        </p:spPr>
        <p:txBody>
          <a:bodyPr wrap="square" lIns="0" rIns="0" tIns="0" bIns="0">
            <a:spAutoFit/>
          </a:bodyPr>
          <a:lstStyle/>
          <a:p>
            <a:pPr>
              <a:defRPr sz="2800" b="1">
                <a:solidFill>
                  <a:srgbClr val="F8FAFC"/>
                </a:solidFill>
              </a:defRPr>
            </a:pPr>
            <a:r>
              <a:t>Pillar 10: The Master Credibility Pipeline</a:t>
            </a:r>
          </a:p>
        </p:txBody>
      </p:sp>
      <p:sp>
        <p:nvSpPr>
          <p:cNvPr id="5" name="Rectangle 4"/>
          <p:cNvSpPr/>
          <p:nvPr/>
        </p:nvSpPr>
        <p:spPr>
          <a:xfrm>
            <a:off x="731520" y="6263640"/>
            <a:ext cx="10728655" cy="18288"/>
          </a:xfrm>
          <a:prstGeom prst="rect">
            <a:avLst/>
          </a:prstGeom>
          <a:solidFill>
            <a:srgbClr val="273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27648"/>
            <a:ext cx="7315200" cy="320040"/>
          </a:xfrm>
          <a:prstGeom prst="rect">
            <a:avLst/>
          </a:prstGeom>
          <a:noFill/>
        </p:spPr>
        <p:txBody>
          <a:bodyPr wrap="none" lIns="0" rIns="0" tIns="0" bIns="0">
            <a:spAutoFit/>
          </a:bodyPr>
          <a:lstStyle/>
          <a:p>
            <a:pPr>
              <a:defRPr sz="1000">
                <a:solidFill>
                  <a:srgbClr val="94A3B8"/>
                </a:solidFill>
              </a:defRPr>
            </a:pPr>
            <a:r>
              <a:t>© R.K. SKILLFORGE  •  AI Mentor Masterclass Series</a:t>
            </a:r>
          </a:p>
        </p:txBody>
      </p:sp>
      <p:sp>
        <p:nvSpPr>
          <p:cNvPr id="7" name="TextBox 6"/>
          <p:cNvSpPr txBox="1"/>
          <p:nvPr/>
        </p:nvSpPr>
        <p:spPr>
          <a:xfrm>
            <a:off x="9601200" y="6327648"/>
            <a:ext cx="1828800" cy="320040"/>
          </a:xfrm>
          <a:prstGeom prst="rect">
            <a:avLst/>
          </a:prstGeom>
          <a:noFill/>
        </p:spPr>
        <p:txBody>
          <a:bodyPr wrap="none" lIns="0" rIns="0" tIns="0" bIns="0">
            <a:spAutoFit/>
          </a:bodyPr>
          <a:lstStyle/>
          <a:p>
            <a:pPr algn="r">
              <a:defRPr sz="1000">
                <a:solidFill>
                  <a:srgbClr val="94A3B8"/>
                </a:solidFill>
              </a:defRPr>
            </a:pPr>
            <a:r>
              <a:t>Slide 9</a:t>
            </a:r>
          </a:p>
        </p:txBody>
      </p:sp>
      <p:sp>
        <p:nvSpPr>
          <p:cNvPr id="8" name="Rounded Rectangle 7"/>
          <p:cNvSpPr/>
          <p:nvPr/>
        </p:nvSpPr>
        <p:spPr>
          <a:xfrm>
            <a:off x="731520" y="1600200"/>
            <a:ext cx="10698480" cy="777240"/>
          </a:xfrm>
          <a:prstGeom prst="roundRect">
            <a:avLst/>
          </a:prstGeom>
          <a:solidFill>
            <a:srgbClr val="141C2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274320" tIns="137160"/>
          <a:lstStyle/>
          <a:p>
            <a:pPr algn="ctr">
              <a:defRPr sz="1700" b="1">
                <a:solidFill>
                  <a:srgbClr val="38BDF8"/>
                </a:solidFill>
              </a:defRPr>
            </a:pPr>
            <a:r>
              <a:t>1. LEARNING</a:t>
            </a:r>
          </a:p>
          <a:p>
            <a:pPr>
              <a:spcBef>
                <a:spcPts val="200"/>
              </a:spcBef>
              <a:defRPr sz="1300">
                <a:solidFill>
                  <a:srgbClr val="F8FAFC"/>
                </a:solidFill>
              </a:defRPr>
            </a:pPr>
            <a:r>
              <a:t>Daily exploration &amp; hands-on problem solving.</a:t>
            </a:r>
          </a:p>
        </p:txBody>
      </p:sp>
      <p:sp>
        <p:nvSpPr>
          <p:cNvPr id="9" name="Rounded Rectangle 8"/>
          <p:cNvSpPr/>
          <p:nvPr/>
        </p:nvSpPr>
        <p:spPr>
          <a:xfrm>
            <a:off x="731520" y="2542032"/>
            <a:ext cx="10698480" cy="777240"/>
          </a:xfrm>
          <a:prstGeom prst="roundRect">
            <a:avLst/>
          </a:prstGeom>
          <a:solidFill>
            <a:srgbClr val="141C2B"/>
          </a:solidFill>
          <a:ln w="19050">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wrap="square" lIns="274320" tIns="137160"/>
          <a:lstStyle/>
          <a:p>
            <a:pPr algn="ctr">
              <a:defRPr sz="1700" b="1">
                <a:solidFill>
                  <a:srgbClr val="2DD4BF"/>
                </a:solidFill>
              </a:defRPr>
            </a:pPr>
            <a:r>
              <a:t>2. CONTENT</a:t>
            </a:r>
          </a:p>
          <a:p>
            <a:pPr>
              <a:spcBef>
                <a:spcPts val="200"/>
              </a:spcBef>
              <a:defRPr sz="1300">
                <a:solidFill>
                  <a:srgbClr val="F8FAFC"/>
                </a:solidFill>
              </a:defRPr>
            </a:pPr>
            <a:r>
              <a:t>Extracting 1 valuable takeaway in simple language.</a:t>
            </a:r>
          </a:p>
        </p:txBody>
      </p:sp>
      <p:sp>
        <p:nvSpPr>
          <p:cNvPr id="10" name="Rounded Rectangle 9"/>
          <p:cNvSpPr/>
          <p:nvPr/>
        </p:nvSpPr>
        <p:spPr>
          <a:xfrm>
            <a:off x="731520" y="3483864"/>
            <a:ext cx="10698480" cy="777240"/>
          </a:xfrm>
          <a:prstGeom prst="roundRect">
            <a:avLst/>
          </a:prstGeom>
          <a:solidFill>
            <a:srgbClr val="141C2B"/>
          </a:solidFill>
          <a:ln w="19050">
            <a:solidFill>
              <a:srgbClr val="A78BFA"/>
            </a:solidFill>
          </a:ln>
        </p:spPr>
        <p:style>
          <a:lnRef idx="1">
            <a:schemeClr val="accent1"/>
          </a:lnRef>
          <a:fillRef idx="3">
            <a:schemeClr val="accent1"/>
          </a:fillRef>
          <a:effectRef idx="2">
            <a:schemeClr val="accent1"/>
          </a:effectRef>
          <a:fontRef idx="minor">
            <a:schemeClr val="lt1"/>
          </a:fontRef>
        </p:style>
        <p:txBody>
          <a:bodyPr rtlCol="0" anchor="ctr" wrap="square" lIns="274320" tIns="137160"/>
          <a:lstStyle/>
          <a:p>
            <a:pPr algn="ctr">
              <a:defRPr sz="1700" b="1">
                <a:solidFill>
                  <a:srgbClr val="A78BFA"/>
                </a:solidFill>
              </a:defRPr>
            </a:pPr>
            <a:r>
              <a:t>3. CONSISTENCY</a:t>
            </a:r>
          </a:p>
          <a:p>
            <a:pPr>
              <a:spcBef>
                <a:spcPts val="200"/>
              </a:spcBef>
              <a:defRPr sz="1300">
                <a:solidFill>
                  <a:srgbClr val="F8FAFC"/>
                </a:solidFill>
              </a:defRPr>
            </a:pPr>
            <a:r>
              <a:t>Publishing 3 high-signal posts weekly without burnout.</a:t>
            </a:r>
          </a:p>
        </p:txBody>
      </p:sp>
      <p:sp>
        <p:nvSpPr>
          <p:cNvPr id="11" name="Rounded Rectangle 10"/>
          <p:cNvSpPr/>
          <p:nvPr/>
        </p:nvSpPr>
        <p:spPr>
          <a:xfrm>
            <a:off x="731520" y="4425696"/>
            <a:ext cx="10698480" cy="777240"/>
          </a:xfrm>
          <a:prstGeom prst="roundRect">
            <a:avLst/>
          </a:prstGeom>
          <a:solidFill>
            <a:srgbClr val="141C2B"/>
          </a:solidFill>
          <a:ln w="1905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wrap="square" lIns="274320" tIns="137160"/>
          <a:lstStyle/>
          <a:p>
            <a:pPr algn="ctr">
              <a:defRPr sz="1700" b="1">
                <a:solidFill>
                  <a:srgbClr val="FBBF24"/>
                </a:solidFill>
              </a:defRPr>
            </a:pPr>
            <a:r>
              <a:t>4. CREDIBILITY</a:t>
            </a:r>
          </a:p>
          <a:p>
            <a:pPr>
              <a:spcBef>
                <a:spcPts val="200"/>
              </a:spcBef>
              <a:defRPr sz="1300">
                <a:solidFill>
                  <a:srgbClr val="F8FAFC"/>
                </a:solidFill>
              </a:defRPr>
            </a:pPr>
            <a:r>
              <a:t>Building verifiable public proof-of-work portfolio.</a:t>
            </a:r>
          </a:p>
        </p:txBody>
      </p:sp>
      <p:sp>
        <p:nvSpPr>
          <p:cNvPr id="12" name="Rounded Rectangle 11"/>
          <p:cNvSpPr/>
          <p:nvPr/>
        </p:nvSpPr>
        <p:spPr>
          <a:xfrm>
            <a:off x="731520" y="5367528"/>
            <a:ext cx="10698480" cy="777240"/>
          </a:xfrm>
          <a:prstGeom prst="roundRect">
            <a:avLst/>
          </a:prstGeom>
          <a:solidFill>
            <a:srgbClr val="141C2B"/>
          </a:solidFill>
          <a:ln w="19050">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wrap="square" lIns="274320" tIns="137160"/>
          <a:lstStyle/>
          <a:p>
            <a:pPr algn="ctr">
              <a:defRPr sz="1700" b="1">
                <a:solidFill>
                  <a:srgbClr val="2DD4BF"/>
                </a:solidFill>
              </a:defRPr>
            </a:pPr>
            <a:r>
              <a:t>5. OPPORTUNITIES</a:t>
            </a:r>
          </a:p>
          <a:p>
            <a:pPr>
              <a:spcBef>
                <a:spcPts val="200"/>
              </a:spcBef>
              <a:defRPr sz="1300">
                <a:solidFill>
                  <a:srgbClr val="F8FAFC"/>
                </a:solidFill>
              </a:defRPr>
            </a:pPr>
            <a:r>
              <a:t>Inbound job offers, client contracts, and speaking invites.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rIns="0" tIns="0" bIns="0">
            <a:spAutoFit/>
          </a:bodyPr>
          <a:lstStyle/>
          <a:p>
            <a:pPr>
              <a:defRPr sz="1100" b="1">
                <a:solidFill>
                  <a:srgbClr val="38BDF8"/>
                </a:solidFill>
              </a:defRPr>
            </a:pPr>
            <a:r>
              <a:t>R.K. SKILLFORGE   |   LESSON 2.1 • MAKE AN ONLINE PRESENCE</a:t>
            </a:r>
          </a:p>
        </p:txBody>
      </p:sp>
      <p:sp>
        <p:nvSpPr>
          <p:cNvPr id="4" name="TextBox 3"/>
          <p:cNvSpPr txBox="1"/>
          <p:nvPr/>
        </p:nvSpPr>
        <p:spPr>
          <a:xfrm>
            <a:off x="731520" y="658368"/>
            <a:ext cx="10698480" cy="685800"/>
          </a:xfrm>
          <a:prstGeom prst="rect">
            <a:avLst/>
          </a:prstGeom>
          <a:noFill/>
        </p:spPr>
        <p:txBody>
          <a:bodyPr wrap="square" lIns="0" rIns="0" tIns="0" bIns="0">
            <a:spAutoFit/>
          </a:bodyPr>
          <a:lstStyle/>
          <a:p>
            <a:pPr>
              <a:defRPr sz="2800" b="1">
                <a:solidFill>
                  <a:srgbClr val="F8FAFC"/>
                </a:solidFill>
              </a:defRPr>
            </a:pPr>
            <a:r>
              <a:t>Module Assets: Copy-Paste Prompts &amp; Skill Jars</a:t>
            </a:r>
          </a:p>
        </p:txBody>
      </p:sp>
      <p:sp>
        <p:nvSpPr>
          <p:cNvPr id="5" name="Rectangle 4"/>
          <p:cNvSpPr/>
          <p:nvPr/>
        </p:nvSpPr>
        <p:spPr>
          <a:xfrm>
            <a:off x="731520" y="6263640"/>
            <a:ext cx="10728655" cy="18288"/>
          </a:xfrm>
          <a:prstGeom prst="rect">
            <a:avLst/>
          </a:prstGeom>
          <a:solidFill>
            <a:srgbClr val="273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27648"/>
            <a:ext cx="7315200" cy="320040"/>
          </a:xfrm>
          <a:prstGeom prst="rect">
            <a:avLst/>
          </a:prstGeom>
          <a:noFill/>
        </p:spPr>
        <p:txBody>
          <a:bodyPr wrap="none" lIns="0" rIns="0" tIns="0" bIns="0">
            <a:spAutoFit/>
          </a:bodyPr>
          <a:lstStyle/>
          <a:p>
            <a:pPr>
              <a:defRPr sz="1000">
                <a:solidFill>
                  <a:srgbClr val="94A3B8"/>
                </a:solidFill>
              </a:defRPr>
            </a:pPr>
            <a:r>
              <a:t>© R.K. SKILLFORGE  •  AI Mentor Masterclass Series</a:t>
            </a:r>
          </a:p>
        </p:txBody>
      </p:sp>
      <p:sp>
        <p:nvSpPr>
          <p:cNvPr id="7" name="TextBox 6"/>
          <p:cNvSpPr txBox="1"/>
          <p:nvPr/>
        </p:nvSpPr>
        <p:spPr>
          <a:xfrm>
            <a:off x="9601200" y="6327648"/>
            <a:ext cx="1828800" cy="320040"/>
          </a:xfrm>
          <a:prstGeom prst="rect">
            <a:avLst/>
          </a:prstGeom>
          <a:noFill/>
        </p:spPr>
        <p:txBody>
          <a:bodyPr wrap="none" lIns="0" rIns="0" tIns="0" bIns="0">
            <a:spAutoFit/>
          </a:bodyPr>
          <a:lstStyle/>
          <a:p>
            <a:pPr algn="r">
              <a:defRPr sz="1000">
                <a:solidFill>
                  <a:srgbClr val="94A3B8"/>
                </a:solidFill>
              </a:defRPr>
            </a:pPr>
            <a:r>
              <a:t>Slide 10</a:t>
            </a:r>
          </a:p>
        </p:txBody>
      </p:sp>
      <p:sp>
        <p:nvSpPr>
          <p:cNvPr id="8" name="Rounded Rectangle 7"/>
          <p:cNvSpPr/>
          <p:nvPr/>
        </p:nvSpPr>
        <p:spPr>
          <a:xfrm>
            <a:off x="731520" y="1645920"/>
            <a:ext cx="5120640" cy="4297680"/>
          </a:xfrm>
          <a:prstGeom prst="roundRect">
            <a:avLst/>
          </a:prstGeom>
          <a:solidFill>
            <a:srgbClr val="141C2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320040" tIns="274320"/>
          <a:lstStyle/>
          <a:p>
            <a:pPr algn="ctr">
              <a:defRPr sz="1200" b="1">
                <a:solidFill>
                  <a:srgbClr val="38BDF8"/>
                </a:solidFill>
              </a:defRPr>
            </a:pPr>
            <a:r>
              <a:t>📄 UNIVERSAL PROMPT SYSTEM</a:t>
            </a:r>
          </a:p>
          <a:p>
            <a:pPr>
              <a:spcBef>
                <a:spcPts val="400"/>
              </a:spcBef>
              <a:defRPr sz="2100" b="1">
                <a:solidFill>
                  <a:srgbClr val="F8FAFC"/>
                </a:solidFill>
              </a:defRPr>
            </a:pPr>
            <a:r>
              <a:t>CONTENT-CREATING-PROMPT.md</a:t>
            </a:r>
          </a:p>
          <a:p>
            <a:pPr>
              <a:spcBef>
                <a:spcPts val="1400"/>
              </a:spcBef>
              <a:defRPr sz="1400" b="1">
                <a:solidFill>
                  <a:srgbClr val="2DD4BF"/>
                </a:solidFill>
              </a:defRPr>
            </a:pPr>
            <a:r>
              <a:t>• Multi-Platform Drafting:</a:t>
            </a:r>
          </a:p>
          <a:p>
            <a:pPr>
              <a:spcBef>
                <a:spcPts val="200"/>
              </a:spcBef>
              <a:defRPr sz="1300">
                <a:solidFill>
                  <a:srgbClr val="E2E8F0"/>
                </a:solidFill>
              </a:defRPr>
            </a:pPr>
            <a:r>
              <a:t>Generates LinkedIn, Twitter/X, and Instagram drafts from a single lesson input.</a:t>
            </a:r>
          </a:p>
          <a:p>
            <a:pPr>
              <a:spcBef>
                <a:spcPts val="1400"/>
              </a:spcBef>
              <a:defRPr sz="1400" b="1">
                <a:solidFill>
                  <a:srgbClr val="2DD4BF"/>
                </a:solidFill>
              </a:defRPr>
            </a:pPr>
            <a:r>
              <a:t>• Built-in Scoring Matrix:</a:t>
            </a:r>
          </a:p>
          <a:p>
            <a:pPr>
              <a:spcBef>
                <a:spcPts val="200"/>
              </a:spcBef>
              <a:defRPr sz="1300">
                <a:solidFill>
                  <a:srgbClr val="E2E8F0"/>
                </a:solidFill>
              </a:defRPr>
            </a:pPr>
            <a:r>
              <a:t>Rates your content /10 with blunt feedback before you hit publish.</a:t>
            </a:r>
          </a:p>
          <a:p>
            <a:pPr>
              <a:spcBef>
                <a:spcPts val="1400"/>
              </a:spcBef>
              <a:defRPr sz="1400" b="1">
                <a:solidFill>
                  <a:srgbClr val="2DD4BF"/>
                </a:solidFill>
              </a:defRPr>
            </a:pPr>
            <a:r>
              <a:t>• Universal AI Support:</a:t>
            </a:r>
          </a:p>
          <a:p>
            <a:pPr>
              <a:spcBef>
                <a:spcPts val="200"/>
              </a:spcBef>
              <a:defRPr sz="1300">
                <a:solidFill>
                  <a:srgbClr val="E2E8F0"/>
                </a:solidFill>
              </a:defRPr>
            </a:pPr>
            <a:r>
              <a:t>Works flawlessly in ChatGPT, Claude Projects, and Google Gemini.</a:t>
            </a:r>
          </a:p>
        </p:txBody>
      </p:sp>
      <p:sp>
        <p:nvSpPr>
          <p:cNvPr id="9" name="Rounded Rectangle 8"/>
          <p:cNvSpPr/>
          <p:nvPr/>
        </p:nvSpPr>
        <p:spPr>
          <a:xfrm>
            <a:off x="6309360" y="1645920"/>
            <a:ext cx="5120640" cy="4297680"/>
          </a:xfrm>
          <a:prstGeom prst="roundRect">
            <a:avLst/>
          </a:prstGeom>
          <a:solidFill>
            <a:srgbClr val="141C2B"/>
          </a:solidFill>
          <a:ln w="19050">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wrap="square" lIns="320040" tIns="274320"/>
          <a:lstStyle/>
          <a:p>
            <a:pPr algn="ctr">
              <a:defRPr sz="1200" b="1">
                <a:solidFill>
                  <a:srgbClr val="2DD4BF"/>
                </a:solidFill>
              </a:defRPr>
            </a:pPr>
            <a:r>
              <a:t>📦 PRE-PACKAGED SKILL JAR</a:t>
            </a:r>
          </a:p>
          <a:p>
            <a:pPr>
              <a:spcBef>
                <a:spcPts val="400"/>
              </a:spcBef>
              <a:defRPr sz="2100" b="1">
                <a:solidFill>
                  <a:srgbClr val="F8FAFC"/>
                </a:solidFill>
              </a:defRPr>
            </a:pPr>
            <a:r>
              <a:t>content-creating.skill</a:t>
            </a:r>
          </a:p>
          <a:p>
            <a:pPr>
              <a:spcBef>
                <a:spcPts val="1400"/>
              </a:spcBef>
              <a:defRPr sz="1400" b="1">
                <a:solidFill>
                  <a:srgbClr val="FBBF24"/>
                </a:solidFill>
              </a:defRPr>
            </a:pPr>
            <a:r>
              <a:t>• Reference Modules Included:</a:t>
            </a:r>
          </a:p>
          <a:p>
            <a:pPr>
              <a:spcBef>
                <a:spcPts val="200"/>
              </a:spcBef>
              <a:defRPr sz="1300">
                <a:solidFill>
                  <a:srgbClr val="E2E8F0"/>
                </a:solidFill>
              </a:defRPr>
            </a:pPr>
            <a:r>
              <a:t>Contains dedicated guides for Video Scripts, Platform Formats, and Habit Tracking.</a:t>
            </a:r>
          </a:p>
          <a:p>
            <a:pPr>
              <a:spcBef>
                <a:spcPts val="1400"/>
              </a:spcBef>
              <a:defRPr sz="1400" b="1">
                <a:solidFill>
                  <a:srgbClr val="FBBF24"/>
                </a:solidFill>
              </a:defRPr>
            </a:pPr>
            <a:r>
              <a:t>• One-Click Knowledge Base:</a:t>
            </a:r>
          </a:p>
          <a:p>
            <a:pPr>
              <a:spcBef>
                <a:spcPts val="200"/>
              </a:spcBef>
              <a:defRPr sz="1300">
                <a:solidFill>
                  <a:srgbClr val="E2E8F0"/>
                </a:solidFill>
              </a:defRPr>
            </a:pPr>
            <a:r>
              <a:t>Upload into Claude Projects or Antigravity agents for permanent creator intelligence.</a:t>
            </a:r>
          </a:p>
          <a:p>
            <a:pPr>
              <a:spcBef>
                <a:spcPts val="1400"/>
              </a:spcBef>
              <a:defRPr sz="1400" b="1">
                <a:solidFill>
                  <a:srgbClr val="FBBF24"/>
                </a:solidFill>
              </a:defRPr>
            </a:pPr>
            <a:r>
              <a:t>• 100% Free &amp; Open Source:</a:t>
            </a:r>
          </a:p>
          <a:p>
            <a:pPr>
              <a:spcBef>
                <a:spcPts val="200"/>
              </a:spcBef>
              <a:defRPr sz="1300">
                <a:solidFill>
                  <a:srgbClr val="E2E8F0"/>
                </a:solidFill>
              </a:defRPr>
            </a:pPr>
            <a:r>
              <a:t>Engineered by R.K. SKILLFORGE to empower self-taught builders worldwide.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097280"/>
            <a:ext cx="10698480" cy="73152"/>
          </a:xfrm>
          <a:prstGeom prst="rect">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25880"/>
            <a:ext cx="10698480" cy="1280160"/>
          </a:xfrm>
          <a:prstGeom prst="rect">
            <a:avLst/>
          </a:prstGeom>
          <a:noFill/>
        </p:spPr>
        <p:txBody>
          <a:bodyPr wrap="square">
            <a:spAutoFit/>
          </a:bodyPr>
          <a:lstStyle/>
          <a:p>
            <a:pPr>
              <a:defRPr sz="1400" b="1">
                <a:solidFill>
                  <a:srgbClr val="FBBF24"/>
                </a:solidFill>
              </a:defRPr>
            </a:pPr>
            <a:r>
              <a:t>YOUR WORK DESERVES TO BE SEEN</a:t>
            </a:r>
          </a:p>
          <a:p>
            <a:pPr>
              <a:spcBef>
                <a:spcPts val="400"/>
              </a:spcBef>
              <a:defRPr sz="3600" b="1">
                <a:solidFill>
                  <a:srgbClr val="F8FAFC"/>
                </a:solidFill>
              </a:defRPr>
            </a:pPr>
            <a:r>
              <a:t>Next: Module 03 — Make Money with Your Skills</a:t>
            </a:r>
          </a:p>
        </p:txBody>
      </p:sp>
      <p:sp>
        <p:nvSpPr>
          <p:cNvPr id="5" name="Rounded Rectangle 4"/>
          <p:cNvSpPr/>
          <p:nvPr/>
        </p:nvSpPr>
        <p:spPr>
          <a:xfrm>
            <a:off x="731520" y="2834640"/>
            <a:ext cx="10698480" cy="2743200"/>
          </a:xfrm>
          <a:prstGeom prst="roundRect">
            <a:avLst/>
          </a:prstGeom>
          <a:solidFill>
            <a:srgbClr val="141C2B"/>
          </a:solidFill>
          <a:ln w="12700">
            <a:solidFill>
              <a:srgbClr val="27334A"/>
            </a:solidFill>
          </a:ln>
        </p:spPr>
        <p:style>
          <a:lnRef idx="1">
            <a:schemeClr val="accent1"/>
          </a:lnRef>
          <a:fillRef idx="3">
            <a:schemeClr val="accent1"/>
          </a:fillRef>
          <a:effectRef idx="2">
            <a:schemeClr val="accent1"/>
          </a:effectRef>
          <a:fontRef idx="minor">
            <a:schemeClr val="lt1"/>
          </a:fontRef>
        </p:style>
        <p:txBody>
          <a:bodyPr rtlCol="0" anchor="ctr" wrap="square" lIns="365760" tIns="274320"/>
          <a:lstStyle/>
          <a:p>
            <a:pPr algn="ctr">
              <a:defRPr sz="2200" b="1">
                <a:solidFill>
                  <a:srgbClr val="2DD4BF"/>
                </a:solidFill>
              </a:defRPr>
            </a:pPr>
            <a:r>
              <a:t>Presented with ❤️ by R.K. SKILLFORGE</a:t>
            </a:r>
          </a:p>
          <a:p>
            <a:pPr>
              <a:spcBef>
                <a:spcPts val="1000"/>
              </a:spcBef>
              <a:defRPr sz="1500">
                <a:solidFill>
                  <a:srgbClr val="E2E8F0"/>
                </a:solidFill>
              </a:defRPr>
            </a:pPr>
            <a:r>
              <a:t>👍  Like this video &amp; Subscribe to our channel for Module 03</a:t>
            </a:r>
          </a:p>
          <a:p>
            <a:pPr>
              <a:spcBef>
                <a:spcPts val="1000"/>
              </a:spcBef>
              <a:defRPr sz="1500">
                <a:solidFill>
                  <a:srgbClr val="E2E8F0"/>
                </a:solidFill>
              </a:defRPr>
            </a:pPr>
            <a:r>
              <a:t>⭐  Star the GitHub Repository to download CONTENT-CREATING-PROMPT.md &amp; skills</a:t>
            </a:r>
          </a:p>
          <a:p>
            <a:pPr>
              <a:spcBef>
                <a:spcPts val="1000"/>
              </a:spcBef>
              <a:defRPr sz="1500">
                <a:solidFill>
                  <a:srgbClr val="E2E8F0"/>
                </a:solidFill>
              </a:defRPr>
            </a:pPr>
            <a:r>
              <a:t>💬  Drop your LinkedIn or Twitter/X handle in the comments—let's support each other!</a:t>
            </a:r>
          </a:p>
          <a:p>
            <a:pPr>
              <a:spcBef>
                <a:spcPts val="1000"/>
              </a:spcBef>
              <a:defRPr sz="1500">
                <a:solidFill>
                  <a:srgbClr val="E2E8F0"/>
                </a:solidFill>
              </a:defRPr>
            </a:pPr>
            <a:r>
              <a:t>➡️  Click the next video to watch Lesson 3.1: Make Money with Your Skills</a:t>
            </a:r>
          </a:p>
        </p:txBody>
      </p:sp>
      <p:sp>
        <p:nvSpPr>
          <p:cNvPr id="6" name="TextBox 5"/>
          <p:cNvSpPr txBox="1"/>
          <p:nvPr/>
        </p:nvSpPr>
        <p:spPr>
          <a:xfrm>
            <a:off x="731520" y="5806440"/>
            <a:ext cx="10698480" cy="457200"/>
          </a:xfrm>
          <a:prstGeom prst="rect">
            <a:avLst/>
          </a:prstGeom>
          <a:noFill/>
        </p:spPr>
        <p:txBody>
          <a:bodyPr wrap="none">
            <a:spAutoFit/>
          </a:bodyPr>
          <a:lstStyle/>
          <a:p>
            <a:pPr algn="ctr">
              <a:defRPr sz="1300">
                <a:solidFill>
                  <a:srgbClr val="94A3B8"/>
                </a:solidFill>
              </a:defRPr>
            </a:pPr>
            <a:r>
              <a:t>© R.K. SKILLFORGE   |   AI Mentor Masterclass   |   100% Free Lifetime Access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