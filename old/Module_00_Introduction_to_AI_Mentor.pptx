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VIDEO INTRO:</a:t>
            </a:r>
          </a:p>
          <a:p>
            <a:r>
              <a:t>"Hello everyone, and welcome to AI Mentor, brought to you by R.K. SKILLFORGE.</a:t>
            </a:r>
          </a:p>
          <a:p>
            <a:r>
              <a:t>If you've ever had a spark of curiosity about a new technology, field, or career path, but didn't know where to start—or felt completely overwhelmed by tutorials—this course is built specifically for you.</a:t>
            </a:r>
          </a:p>
          <a:p>
            <a:r>
              <a:t>Today in Lesson 0.1, we're breaking down the foundational philosophy: How to turn vague curiosity into informed action, moving from raw Interest, to deep Passion, to a sustainable Career.</a:t>
            </a:r>
          </a:p>
          <a:p>
            <a:r>
              <a:t>Let's dive right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around the tech space today. There has never been more free information available. Yet why do so few people successfully make the transition from someone who is 'interested' in tech to someone who is actually hired?</a:t>
            </a:r>
          </a:p>
          <a:p>
            <a:r>
              <a:t>It's not a lack of talent. It's three specific traps:</a:t>
            </a:r>
          </a:p>
          <a:p>
            <a:r>
              <a:t>First, Information Overload. You spend hours bookmarking tutorials you'll never finish.</a:t>
            </a:r>
          </a:p>
          <a:p>
            <a:r>
              <a:t>Second, Trend-Chasing. Every time a new library or tool drops, you abandon your current project to chase the hype.</a:t>
            </a:r>
          </a:p>
          <a:p>
            <a:r>
              <a:t>Third, Disconnected Roadmaps. Checking off items on a checklist is not the same as solving real client or company problems.</a:t>
            </a:r>
          </a:p>
          <a:p>
            <a:r>
              <a:t>AI Mentor exists to solve this exact bottleneck."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core framework that guides our entire course at R.K. SKILLFORGE:</a:t>
            </a:r>
          </a:p>
          <a:p>
            <a:r>
              <a:t>Stage 1 is Interest. Everyone starts here. You see an AI demo or web app and get curious. That's exploration.</a:t>
            </a:r>
          </a:p>
          <a:p>
            <a:r>
              <a:t>Stage 2 is Passion. Passion isn't something you just 'find' lying on the street—it's forged when you push through the initial frustration, understand how the engine works under the hood, and build something of your own.</a:t>
            </a:r>
          </a:p>
          <a:p>
            <a:r>
              <a:t>Stage 3 is Career. Career is where passion meets economic utility. You stop asking 'what is fun for me' and start asking 'what problem can I solve for a team, an employer, or a customer?'</a:t>
            </a:r>
          </a:p>
          <a:p>
            <a:r>
              <a:t>Our mission is to escort you across all three stages smoothly."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"Whenever you want to learn ANY technical topic—whether it's Python, Machine Learning, Cloud Architecture, or UI Design—AI Mentor gives you a 6-pillar framework.</a:t>
            </a:r>
          </a:p>
          <a:p>
            <a:r>
              <a:t>We don't just dump a list of links. We map out who hires for it, what a senior engineer does at 10 AM on a Tuesday, which fundamentals will never become obsolete, and how to verify AI answers against real industry mentors.</a:t>
            </a:r>
          </a:p>
          <a:p>
            <a:r>
              <a:t>This turns you from a passive consumer into an agile, strategic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examine the first three obstacles that derail 90% of self-taught students:</a:t>
            </a:r>
          </a:p>
          <a:p>
            <a:r>
              <a:t>Obstacle 1: You don't know what you don't know. You might learn Python syntax, but not know what a backend engineer actually builds.</a:t>
            </a:r>
          </a:p>
          <a:p>
            <a:r>
              <a:t>Obstacle 2: Resource overload. When you have 50 tabs open, you make zero progress. We filter the noise down to the essential 20% that drives 80% of results.</a:t>
            </a:r>
          </a:p>
          <a:p>
            <a:r>
              <a:t>Obstacle 3: FOMO. Don't stress every time a new library comes out. If your core fundamentals are rock solid, picking up a new tool takes days, not months."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tackle the two biggest modern obstacles:</a:t>
            </a:r>
          </a:p>
          <a:p>
            <a:r>
              <a:t>Obstacle 4 is Roadmaps Without Context. How many times have you seen a GitHub roadmap with 200 boxes? You check off 'Docker', but you don't know how to debug a failing container in production. We solve this by rooting every topic in real projects.</a:t>
            </a:r>
          </a:p>
          <a:p>
            <a:r>
              <a:t>Obstacle 5 is the trap of our time: Blindly trusting AI. AI will give you an answer with complete confidence even when it's wrong. AI does not have 10 years of production scars. That is why human mentorship remains irreplaceable."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eight-line manifesto at R.K. SKILLFORGE.</a:t>
            </a:r>
          </a:p>
          <a:p>
            <a:r>
              <a:t>Take a screenshot of this slide right now.</a:t>
            </a:r>
          </a:p>
          <a:p>
            <a:r>
              <a:t>'Don't learn everything. Understand what matters. Build strong fundamentals. Use AI wisely. Verify important information. Learn from real people. Take action. Keep improving.'</a:t>
            </a:r>
          </a:p>
          <a:p>
            <a:r>
              <a:t>Whenever you feel stuck, lost in tutorial hell, or overwhelmed, come back to these 8 lines. They will instantly re-center your energy on what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"If you take only one rule away from this lesson, make it this one:</a:t>
            </a:r>
          </a:p>
          <a:p>
            <a:r>
              <a:t>AI is an Accelerator, not an Oracle.</a:t>
            </a:r>
          </a:p>
          <a:p>
            <a:r>
              <a:t>Treat AI like a brilliant junior intern who works at lightspeed. They can gather data, write drafts, and explain code in seconds.</a:t>
            </a:r>
          </a:p>
          <a:p>
            <a:r>
              <a:t>But YOU are the senior architect. You must review the work, verify the facts, test the edge cases, and exercise judgment.</a:t>
            </a:r>
          </a:p>
          <a:p>
            <a:r>
              <a:t>Those who treat AI as an oracle become dependent and fragile. Those who use it as an accelerator become 10x more productive."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that you know the foundation, where are we heading next?</a:t>
            </a:r>
          </a:p>
          <a:p>
            <a:r>
              <a:t>In Module 01, 'Find Your Way', we'll roll up our sleeves and show you the exact step-by-step process to analyze any domain, create a personalized career roadmap, and build your very own AI Skill Jar.</a:t>
            </a:r>
          </a:p>
          <a:p>
            <a:r>
              <a:t>Then in Module 02, we'll map real hiring profiles; in Module 03, we'll tackle hands-on technical frameworks; and in Module 04, we'll build your human mentorship network.</a:t>
            </a:r>
          </a:p>
          <a:p>
            <a:r>
              <a:t>The full journey is mapped and ready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OUTRO:</a:t>
            </a:r>
          </a:p>
          <a:p>
            <a:r>
              <a:t>"Thank you so much for watching Lesson 0.1 of AI Mentor, brought to you by R.K. SKILLFORGE.</a:t>
            </a:r>
          </a:p>
          <a:p>
            <a:r>
              <a:t>If this philosophy resonated with you, hit the Like button and make sure to Subscribe with notifications on so you don't miss any part of this masterclass.</a:t>
            </a:r>
          </a:p>
          <a:p>
            <a:r>
              <a:t>Check the description below for links to the GitHub repository where you can download these slides, templates, and guides for free.</a:t>
            </a:r>
          </a:p>
          <a:p>
            <a:r>
              <a:t>Leave a comment with what skill or technology you want to master next.</a:t>
            </a:r>
          </a:p>
          <a:p>
            <a:r>
              <a:t>I'll see you in Module 01: Find Your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097280"/>
            <a:ext cx="6217920" cy="411480"/>
          </a:xfrm>
          <a:prstGeom prst="rect">
            <a:avLst/>
          </a:prstGeom>
          <a:noFill/>
        </p:spPr>
        <p:txBody>
          <a:bodyPr wrap="none">
            <a:spAutoFit/>
          </a:bodyPr>
          <a:lstStyle/>
          <a:p>
            <a:pPr>
              <a:defRPr sz="1400" b="1">
                <a:solidFill>
                  <a:srgbClr val="38BDF8"/>
                </a:solidFill>
              </a:defRPr>
            </a:pPr>
            <a:r>
              <a:t>🚀 R.K. SKILLFORGE PRESENTS</a:t>
            </a:r>
          </a:p>
        </p:txBody>
      </p:sp>
      <p:sp>
        <p:nvSpPr>
          <p:cNvPr id="5" name="TextBox 4"/>
          <p:cNvSpPr txBox="1"/>
          <p:nvPr/>
        </p:nvSpPr>
        <p:spPr>
          <a:xfrm>
            <a:off x="1051560" y="1600200"/>
            <a:ext cx="6217920" cy="1554480"/>
          </a:xfrm>
          <a:prstGeom prst="rect">
            <a:avLst/>
          </a:prstGeom>
          <a:noFill/>
        </p:spPr>
        <p:txBody>
          <a:bodyPr wrap="square">
            <a:spAutoFit/>
          </a:bodyPr>
          <a:lstStyle/>
          <a:p>
            <a:pPr>
              <a:defRPr sz="4600" b="1">
                <a:solidFill>
                  <a:srgbClr val="F8FAFC"/>
                </a:solidFill>
              </a:defRPr>
            </a:pPr>
            <a:r>
              <a:t>AI MENTOR</a:t>
            </a:r>
          </a:p>
          <a:p>
            <a:pPr>
              <a:defRPr sz="2100" b="1">
                <a:solidFill>
                  <a:srgbClr val="2DD4BF"/>
                </a:solidFill>
              </a:defRPr>
            </a:pPr>
            <a:r>
              <a:t>Module 00: Introduction to AI Mentor</a:t>
            </a:r>
          </a:p>
        </p:txBody>
      </p:sp>
      <p:sp>
        <p:nvSpPr>
          <p:cNvPr id="6" name="TextBox 5"/>
          <p:cNvSpPr txBox="1"/>
          <p:nvPr/>
        </p:nvSpPr>
        <p:spPr>
          <a:xfrm>
            <a:off x="1051560" y="3291840"/>
            <a:ext cx="6217920" cy="1097280"/>
          </a:xfrm>
          <a:prstGeom prst="rect">
            <a:avLst/>
          </a:prstGeom>
          <a:noFill/>
        </p:spPr>
        <p:txBody>
          <a:bodyPr wrap="square">
            <a:spAutoFit/>
          </a:bodyPr>
          <a:lstStyle/>
          <a:p>
            <a:pPr>
              <a:defRPr sz="1700">
                <a:solidFill>
                  <a:srgbClr val="F8FAFC"/>
                </a:solidFill>
              </a:defRPr>
            </a:pPr>
            <a:r>
              <a:t>Lesson 0.1 — What is AI Mentor?</a:t>
            </a:r>
          </a:p>
          <a:p>
            <a:pPr>
              <a:spcBef>
                <a:spcPts val="600"/>
              </a:spcBef>
              <a:defRPr sz="1700" b="1">
                <a:solidFill>
                  <a:srgbClr val="FBBF24"/>
                </a:solidFill>
              </a:defRPr>
            </a:pPr>
            <a:r>
              <a:t>Transforming Vague Curiosity into Informed Action:</a:t>
            </a:r>
            <a:br/>
            <a:r>
              <a:t>Interest  ➔  Passion  ➔  Career</a:t>
            </a:r>
          </a:p>
        </p:txBody>
      </p:sp>
      <p:sp>
        <p:nvSpPr>
          <p:cNvPr id="7" name="Rounded Rectangle 6"/>
          <p:cNvSpPr/>
          <p:nvPr/>
        </p:nvSpPr>
        <p:spPr>
          <a:xfrm>
            <a:off x="7333488" y="1298448"/>
            <a:ext cx="4169664" cy="2414016"/>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 Mentor Thumbnail.png"/>
          <p:cNvPicPr>
            <a:picLocks noChangeAspect="1"/>
          </p:cNvPicPr>
          <p:nvPr/>
        </p:nvPicPr>
        <p:blipFill>
          <a:blip r:embed="rId2"/>
          <a:stretch>
            <a:fillRect/>
          </a:stretch>
        </p:blipFill>
        <p:spPr>
          <a:xfrm>
            <a:off x="7406640" y="1371600"/>
            <a:ext cx="4023360" cy="2267712"/>
          </a:xfrm>
          <a:prstGeom prst="rect">
            <a:avLst/>
          </a:prstGeom>
        </p:spPr>
      </p:pic>
      <p:sp>
        <p:nvSpPr>
          <p:cNvPr id="9" name="Rounded Rectangle 8"/>
          <p:cNvSpPr/>
          <p:nvPr/>
        </p:nvSpPr>
        <p:spPr>
          <a:xfrm>
            <a:off x="7406640" y="3840480"/>
            <a:ext cx="4023360" cy="16459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2DD4BF"/>
                </a:solidFill>
              </a:defRPr>
            </a:pPr>
            <a:r>
              <a:t>🎓 100% Free Lifetime Masterclass</a:t>
            </a:r>
          </a:p>
          <a:p>
            <a:pPr>
              <a:spcBef>
                <a:spcPts val="400"/>
              </a:spcBef>
              <a:defRPr sz="1200">
                <a:solidFill>
                  <a:srgbClr val="94A3B8"/>
                </a:solidFill>
              </a:defRPr>
            </a:pPr>
            <a:r>
              <a:t>Instructor: R.K. SKILLFORGE</a:t>
            </a:r>
            <a:br/>
            <a:r>
              <a:t>Full Curriculum: GitHub &amp; YouTube</a:t>
            </a:r>
            <a:br/>
            <a:r>
              <a:t>Skill Level: Beginner to Career-Ready</a:t>
            </a:r>
          </a:p>
        </p:txBody>
      </p:sp>
      <p:sp>
        <p:nvSpPr>
          <p:cNvPr id="10" name="Rounded Rectangle 9"/>
          <p:cNvSpPr/>
          <p:nvPr/>
        </p:nvSpPr>
        <p:spPr>
          <a:xfrm>
            <a:off x="1051560" y="4754880"/>
            <a:ext cx="6035040" cy="7315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200" b="1">
                <a:solidFill>
                  <a:srgbClr val="F8FAFC"/>
                </a:solidFill>
              </a:defRPr>
            </a:pPr>
            <a:r>
              <a:t>Produced &amp; Engineered by R.K. SKILLFORGE</a:t>
            </a:r>
          </a:p>
          <a:p>
            <a:pPr>
              <a:defRPr sz="1100">
                <a:solidFill>
                  <a:srgbClr val="94A3B8"/>
                </a:solidFill>
              </a:defRPr>
            </a:pPr>
            <a:r>
              <a:t>A complete blueprint to navigate the modern AI-driven career landscape.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Reality of Modern Self-Learning</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2</a:t>
            </a:r>
          </a:p>
        </p:txBody>
      </p:sp>
      <p:sp>
        <p:nvSpPr>
          <p:cNvPr id="8" name="TextBox 7"/>
          <p:cNvSpPr txBox="1"/>
          <p:nvPr/>
        </p:nvSpPr>
        <p:spPr>
          <a:xfrm>
            <a:off x="731520" y="1463040"/>
            <a:ext cx="10698480" cy="502920"/>
          </a:xfrm>
          <a:prstGeom prst="rect">
            <a:avLst/>
          </a:prstGeom>
          <a:noFill/>
        </p:spPr>
        <p:txBody>
          <a:bodyPr wrap="none">
            <a:spAutoFit/>
          </a:bodyPr>
          <a:lstStyle/>
          <a:p>
            <a:pPr>
              <a:defRPr sz="1800" i="1">
                <a:solidFill>
                  <a:srgbClr val="FBBF24"/>
                </a:solidFill>
              </a:defRPr>
            </a:pPr>
            <a:r>
              <a:t>Most people fail to turn an interest into a career NOT because they lack talent...</a:t>
            </a:r>
          </a:p>
        </p:txBody>
      </p:sp>
      <p:sp>
        <p:nvSpPr>
          <p:cNvPr id="9" name="Rounded Rectangle 8"/>
          <p:cNvSpPr/>
          <p:nvPr/>
        </p:nvSpPr>
        <p:spPr>
          <a:xfrm>
            <a:off x="731520"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800" b="1">
                <a:solidFill>
                  <a:srgbClr val="F8FAFC"/>
                </a:solidFill>
              </a:defRPr>
            </a:pPr>
            <a:r>
              <a:t>😵 Information Overload</a:t>
            </a:r>
          </a:p>
          <a:p>
            <a:pPr>
              <a:spcBef>
                <a:spcPts val="200"/>
              </a:spcBef>
              <a:defRPr sz="1200" b="1">
                <a:solidFill>
                  <a:srgbClr val="38BDF8"/>
                </a:solidFill>
              </a:defRPr>
            </a:pPr>
            <a:r>
              <a:t>Paralyzed by Content</a:t>
            </a:r>
          </a:p>
          <a:p>
            <a:pPr>
              <a:spcBef>
                <a:spcPts val="1400"/>
              </a:spcBef>
              <a:defRPr sz="1400">
                <a:solidFill>
                  <a:srgbClr val="E2E8F0"/>
                </a:solidFill>
              </a:defRPr>
            </a:pPr>
            <a:r>
              <a:t>Thousands of tutorials, bootcamps, and conflicting roadmaps lead to analysis paralysis. Learners spend months watching videos without building actual competence.</a:t>
            </a:r>
          </a:p>
        </p:txBody>
      </p:sp>
      <p:sp>
        <p:nvSpPr>
          <p:cNvPr id="10" name="Rounded Rectangle 9"/>
          <p:cNvSpPr/>
          <p:nvPr/>
        </p:nvSpPr>
        <p:spPr>
          <a:xfrm>
            <a:off x="4425696"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800" b="1">
                <a:solidFill>
                  <a:srgbClr val="F8FAFC"/>
                </a:solidFill>
              </a:defRPr>
            </a:pPr>
            <a:r>
              <a:t>✨ Chasing Shiny Trends</a:t>
            </a:r>
          </a:p>
          <a:p>
            <a:pPr>
              <a:spcBef>
                <a:spcPts val="200"/>
              </a:spcBef>
              <a:defRPr sz="1200" b="1">
                <a:solidFill>
                  <a:srgbClr val="38BDF8"/>
                </a:solidFill>
              </a:defRPr>
            </a:pPr>
            <a:r>
              <a:t>The FOMO Trap</a:t>
            </a:r>
          </a:p>
          <a:p>
            <a:pPr>
              <a:spcBef>
                <a:spcPts val="1400"/>
              </a:spcBef>
              <a:defRPr sz="1400">
                <a:solidFill>
                  <a:srgbClr val="E2E8F0"/>
                </a:solidFill>
              </a:defRPr>
            </a:pPr>
            <a:r>
              <a:t>Jumping to every newly launched framework or AI hype cycle. Without deeply rooted core fundamentals, learners burn out as trends shift overnight.</a:t>
            </a:r>
          </a:p>
        </p:txBody>
      </p:sp>
      <p:sp>
        <p:nvSpPr>
          <p:cNvPr id="11" name="Rounded Rectangle 10"/>
          <p:cNvSpPr/>
          <p:nvPr/>
        </p:nvSpPr>
        <p:spPr>
          <a:xfrm>
            <a:off x="8119872"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800" b="1">
                <a:solidFill>
                  <a:srgbClr val="F8FAFC"/>
                </a:solidFill>
              </a:defRPr>
            </a:pPr>
            <a:r>
              <a:t>🗺️ Disconnected Roadmaps</a:t>
            </a:r>
          </a:p>
          <a:p>
            <a:pPr>
              <a:spcBef>
                <a:spcPts val="200"/>
              </a:spcBef>
              <a:defRPr sz="1200" b="1">
                <a:solidFill>
                  <a:srgbClr val="38BDF8"/>
                </a:solidFill>
              </a:defRPr>
            </a:pPr>
            <a:r>
              <a:t>Checkbox Learning</a:t>
            </a:r>
          </a:p>
          <a:p>
            <a:pPr>
              <a:spcBef>
                <a:spcPts val="1400"/>
              </a:spcBef>
              <a:defRPr sz="1400">
                <a:solidFill>
                  <a:srgbClr val="E2E8F0"/>
                </a:solidFill>
              </a:defRPr>
            </a:pPr>
            <a:r>
              <a:t>Following generic checkbox lists that are divorced from industry hiring standards, real production problems, and collaborative workflows.</a:t>
            </a:r>
          </a:p>
        </p:txBody>
      </p:sp>
      <p:sp>
        <p:nvSpPr>
          <p:cNvPr id="12" name="TextBox 11"/>
          <p:cNvSpPr txBox="1"/>
          <p:nvPr/>
        </p:nvSpPr>
        <p:spPr>
          <a:xfrm>
            <a:off x="731520" y="5742432"/>
            <a:ext cx="10698480" cy="457200"/>
          </a:xfrm>
          <a:prstGeom prst="rect">
            <a:avLst/>
          </a:prstGeom>
          <a:noFill/>
        </p:spPr>
        <p:txBody>
          <a:bodyPr wrap="none">
            <a:spAutoFit/>
          </a:bodyPr>
          <a:lstStyle/>
          <a:p>
            <a:pPr>
              <a:defRPr sz="1500" b="1">
                <a:solidFill>
                  <a:srgbClr val="2DD4BF"/>
                </a:solidFill>
              </a:defRPr>
            </a:pPr>
            <a:r>
              <a:t>⚡ AI Mentor by R.K. SKILLFORGE bridges the gap between raw information and practical, career-defining mastery.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3-Stage Progression: Interest ➔ Passion ➔ Career</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3</a:t>
            </a:r>
          </a:p>
        </p:txBody>
      </p:sp>
      <p:sp>
        <p:nvSpPr>
          <p:cNvPr id="8" name="Rounded Rectangle 7"/>
          <p:cNvSpPr/>
          <p:nvPr/>
        </p:nvSpPr>
        <p:spPr>
          <a:xfrm>
            <a:off x="731520" y="1691640"/>
            <a:ext cx="3328416" cy="416052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200" b="1">
                <a:solidFill>
                  <a:srgbClr val="38BDF8"/>
                </a:solidFill>
              </a:defRPr>
            </a:pPr>
            <a:r>
              <a:t>STAGE 01</a:t>
            </a:r>
          </a:p>
          <a:p>
            <a:pPr>
              <a:spcBef>
                <a:spcPts val="400"/>
              </a:spcBef>
              <a:defRPr sz="2200" b="1">
                <a:solidFill>
                  <a:srgbClr val="F8FAFC"/>
                </a:solidFill>
              </a:defRPr>
            </a:pPr>
            <a:r>
              <a:t>💡 Interest</a:t>
            </a:r>
          </a:p>
          <a:p>
            <a:pPr>
              <a:spcBef>
                <a:spcPts val="200"/>
              </a:spcBef>
              <a:defRPr sz="1300" i="1">
                <a:solidFill>
                  <a:srgbClr val="94A3B8"/>
                </a:solidFill>
              </a:defRPr>
            </a:pPr>
            <a:r>
              <a:t>Curiosity &amp; Exploration</a:t>
            </a:r>
          </a:p>
          <a:p>
            <a:pPr>
              <a:spcBef>
                <a:spcPts val="800"/>
              </a:spcBef>
              <a:defRPr sz="800">
                <a:solidFill>
                  <a:srgbClr val="27334A"/>
                </a:solidFill>
              </a:defRPr>
            </a:pPr>
            <a:r>
              <a:t>─────────────────────</a:t>
            </a:r>
          </a:p>
          <a:p>
            <a:pPr>
              <a:spcBef>
                <a:spcPts val="1000"/>
              </a:spcBef>
              <a:defRPr sz="1350">
                <a:solidFill>
                  <a:srgbClr val="E2E8F0"/>
                </a:solidFill>
              </a:defRPr>
            </a:pPr>
            <a:r>
              <a:t>•  Discovering exciting domains &amp; tools</a:t>
            </a:r>
          </a:p>
          <a:p>
            <a:pPr>
              <a:spcBef>
                <a:spcPts val="1000"/>
              </a:spcBef>
              <a:defRPr sz="1350">
                <a:solidFill>
                  <a:srgbClr val="E2E8F0"/>
                </a:solidFill>
              </a:defRPr>
            </a:pPr>
            <a:r>
              <a:t>•  Broad initial exposure &amp; research</a:t>
            </a:r>
          </a:p>
          <a:p>
            <a:pPr>
              <a:spcBef>
                <a:spcPts val="1000"/>
              </a:spcBef>
              <a:defRPr sz="1350">
                <a:solidFill>
                  <a:srgbClr val="E2E8F0"/>
                </a:solidFill>
              </a:defRPr>
            </a:pPr>
            <a:r>
              <a:t>•  Asking: 'What is this field really about?'</a:t>
            </a:r>
          </a:p>
          <a:p>
            <a:pPr>
              <a:spcBef>
                <a:spcPts val="1000"/>
              </a:spcBef>
              <a:defRPr sz="1350">
                <a:solidFill>
                  <a:srgbClr val="E2E8F0"/>
                </a:solidFill>
              </a:defRPr>
            </a:pPr>
            <a:r>
              <a:t>•  Zero pressure, low-risk exploration</a:t>
            </a:r>
          </a:p>
        </p:txBody>
      </p:sp>
      <p:sp>
        <p:nvSpPr>
          <p:cNvPr id="9" name="Rounded Rectangle 8"/>
          <p:cNvSpPr/>
          <p:nvPr/>
        </p:nvSpPr>
        <p:spPr>
          <a:xfrm>
            <a:off x="4425696" y="1691640"/>
            <a:ext cx="3328416" cy="416052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200" b="1">
                <a:solidFill>
                  <a:srgbClr val="FBBF24"/>
                </a:solidFill>
              </a:defRPr>
            </a:pPr>
            <a:r>
              <a:t>STAGE 02</a:t>
            </a:r>
          </a:p>
          <a:p>
            <a:pPr>
              <a:spcBef>
                <a:spcPts val="400"/>
              </a:spcBef>
              <a:defRPr sz="2200" b="1">
                <a:solidFill>
                  <a:srgbClr val="F8FAFC"/>
                </a:solidFill>
              </a:defRPr>
            </a:pPr>
            <a:r>
              <a:t>🔥 Passion</a:t>
            </a:r>
          </a:p>
          <a:p>
            <a:pPr>
              <a:spcBef>
                <a:spcPts val="200"/>
              </a:spcBef>
              <a:defRPr sz="1300" i="1">
                <a:solidFill>
                  <a:srgbClr val="94A3B8"/>
                </a:solidFill>
              </a:defRPr>
            </a:pPr>
            <a:r>
              <a:t>Deep Understanding &amp; Practice</a:t>
            </a:r>
          </a:p>
          <a:p>
            <a:pPr>
              <a:spcBef>
                <a:spcPts val="800"/>
              </a:spcBef>
              <a:defRPr sz="800">
                <a:solidFill>
                  <a:srgbClr val="27334A"/>
                </a:solidFill>
              </a:defRPr>
            </a:pPr>
            <a:r>
              <a:t>─────────────────────</a:t>
            </a:r>
          </a:p>
          <a:p>
            <a:pPr>
              <a:spcBef>
                <a:spcPts val="1000"/>
              </a:spcBef>
              <a:defRPr sz="1350">
                <a:solidFill>
                  <a:srgbClr val="E2E8F0"/>
                </a:solidFill>
              </a:defRPr>
            </a:pPr>
            <a:r>
              <a:t>•  Moving past the novelty phase</a:t>
            </a:r>
          </a:p>
          <a:p>
            <a:pPr>
              <a:spcBef>
                <a:spcPts val="1000"/>
              </a:spcBef>
              <a:defRPr sz="1350">
                <a:solidFill>
                  <a:srgbClr val="E2E8F0"/>
                </a:solidFill>
              </a:defRPr>
            </a:pPr>
            <a:r>
              <a:t>•  Consistent hands-on building &amp; debugging</a:t>
            </a:r>
          </a:p>
          <a:p>
            <a:pPr>
              <a:spcBef>
                <a:spcPts val="1000"/>
              </a:spcBef>
              <a:defRPr sz="1350">
                <a:solidFill>
                  <a:srgbClr val="E2E8F0"/>
                </a:solidFill>
              </a:defRPr>
            </a:pPr>
            <a:r>
              <a:t>•  Mastering foundational core mechanics</a:t>
            </a:r>
          </a:p>
          <a:p>
            <a:pPr>
              <a:spcBef>
                <a:spcPts val="1000"/>
              </a:spcBef>
              <a:defRPr sz="1350">
                <a:solidFill>
                  <a:srgbClr val="E2E8F0"/>
                </a:solidFill>
              </a:defRPr>
            </a:pPr>
            <a:r>
              <a:t>•  Building personal, authentic projects</a:t>
            </a:r>
          </a:p>
        </p:txBody>
      </p:sp>
      <p:sp>
        <p:nvSpPr>
          <p:cNvPr id="10" name="Rounded Rectangle 9"/>
          <p:cNvSpPr/>
          <p:nvPr/>
        </p:nvSpPr>
        <p:spPr>
          <a:xfrm>
            <a:off x="8119872" y="1691640"/>
            <a:ext cx="3328416" cy="416052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200" b="1">
                <a:solidFill>
                  <a:srgbClr val="2DD4BF"/>
                </a:solidFill>
              </a:defRPr>
            </a:pPr>
            <a:r>
              <a:t>STAGE 03</a:t>
            </a:r>
          </a:p>
          <a:p>
            <a:pPr>
              <a:spcBef>
                <a:spcPts val="400"/>
              </a:spcBef>
              <a:defRPr sz="2200" b="1">
                <a:solidFill>
                  <a:srgbClr val="F8FAFC"/>
                </a:solidFill>
              </a:defRPr>
            </a:pPr>
            <a:r>
              <a:t>💼 Career</a:t>
            </a:r>
          </a:p>
          <a:p>
            <a:pPr>
              <a:spcBef>
                <a:spcPts val="200"/>
              </a:spcBef>
              <a:defRPr sz="1300" i="1">
                <a:solidFill>
                  <a:srgbClr val="94A3B8"/>
                </a:solidFill>
              </a:defRPr>
            </a:pPr>
            <a:r>
              <a:t>Value Creation &amp; Opportunities</a:t>
            </a:r>
          </a:p>
          <a:p>
            <a:pPr>
              <a:spcBef>
                <a:spcPts val="800"/>
              </a:spcBef>
              <a:defRPr sz="800">
                <a:solidFill>
                  <a:srgbClr val="27334A"/>
                </a:solidFill>
              </a:defRPr>
            </a:pPr>
            <a:r>
              <a:t>─────────────────────</a:t>
            </a:r>
          </a:p>
          <a:p>
            <a:pPr>
              <a:spcBef>
                <a:spcPts val="1000"/>
              </a:spcBef>
              <a:defRPr sz="1350">
                <a:solidFill>
                  <a:srgbClr val="E2E8F0"/>
                </a:solidFill>
              </a:defRPr>
            </a:pPr>
            <a:r>
              <a:t>•  Translating skills into commercial value</a:t>
            </a:r>
          </a:p>
          <a:p>
            <a:pPr>
              <a:spcBef>
                <a:spcPts val="1000"/>
              </a:spcBef>
              <a:defRPr sz="1350">
                <a:solidFill>
                  <a:srgbClr val="E2E8F0"/>
                </a:solidFill>
              </a:defRPr>
            </a:pPr>
            <a:r>
              <a:t>•  Solving real-world, messy constraints</a:t>
            </a:r>
          </a:p>
          <a:p>
            <a:pPr>
              <a:spcBef>
                <a:spcPts val="1000"/>
              </a:spcBef>
              <a:defRPr sz="1350">
                <a:solidFill>
                  <a:srgbClr val="E2E8F0"/>
                </a:solidFill>
              </a:defRPr>
            </a:pPr>
            <a:r>
              <a:t>•  Learning directly from human mentors</a:t>
            </a:r>
          </a:p>
          <a:p>
            <a:pPr>
              <a:spcBef>
                <a:spcPts val="1000"/>
              </a:spcBef>
              <a:defRPr sz="1350">
                <a:solidFill>
                  <a:srgbClr val="E2E8F0"/>
                </a:solidFill>
              </a:defRPr>
            </a:pPr>
            <a:r>
              <a:t>•  Demonstrated proof-of-work portfolio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What AI Mentor Does: 6 Core Pillars of Mastery</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4</a:t>
            </a:r>
          </a:p>
        </p:txBody>
      </p:sp>
      <p:sp>
        <p:nvSpPr>
          <p:cNvPr id="8" name="Rounded Rectangle 7"/>
          <p:cNvSpPr/>
          <p:nvPr/>
        </p:nvSpPr>
        <p:spPr>
          <a:xfrm>
            <a:off x="731520" y="1645920"/>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600" b="1">
                <a:solidFill>
                  <a:srgbClr val="38BDF8"/>
                </a:solidFill>
              </a:defRPr>
            </a:pPr>
            <a:r>
              <a:t>01. Deep Topic Exploration</a:t>
            </a:r>
          </a:p>
          <a:p>
            <a:pPr>
              <a:spcBef>
                <a:spcPts val="400"/>
              </a:spcBef>
              <a:defRPr sz="1300">
                <a:solidFill>
                  <a:srgbClr val="E2E8F0"/>
                </a:solidFill>
              </a:defRPr>
            </a:pPr>
            <a:r>
              <a:t>Discovers real-world commercial value, active applications, and industries hiring for this skill.</a:t>
            </a:r>
          </a:p>
        </p:txBody>
      </p:sp>
      <p:sp>
        <p:nvSpPr>
          <p:cNvPr id="9" name="Rounded Rectangle 8"/>
          <p:cNvSpPr/>
          <p:nvPr/>
        </p:nvSpPr>
        <p:spPr>
          <a:xfrm>
            <a:off x="6336792" y="1645920"/>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600" b="1">
                <a:solidFill>
                  <a:srgbClr val="2DD4BF"/>
                </a:solidFill>
              </a:defRPr>
            </a:pPr>
            <a:r>
              <a:t>02. Role &amp; Responsibility Mapping</a:t>
            </a:r>
          </a:p>
          <a:p>
            <a:pPr>
              <a:spcBef>
                <a:spcPts val="400"/>
              </a:spcBef>
              <a:defRPr sz="1300">
                <a:solidFill>
                  <a:srgbClr val="E2E8F0"/>
                </a:solidFill>
              </a:defRPr>
            </a:pPr>
            <a:r>
              <a:t>Deconstructs what practitioners actually do daily, separating job title hype from day-to-day work.</a:t>
            </a:r>
          </a:p>
        </p:txBody>
      </p:sp>
      <p:sp>
        <p:nvSpPr>
          <p:cNvPr id="10" name="Rounded Rectangle 9"/>
          <p:cNvSpPr/>
          <p:nvPr/>
        </p:nvSpPr>
        <p:spPr>
          <a:xfrm>
            <a:off x="731520" y="3127248"/>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600" b="1">
                <a:solidFill>
                  <a:srgbClr val="38BDF8"/>
                </a:solidFill>
              </a:defRPr>
            </a:pPr>
            <a:r>
              <a:t>03. Fundamentals vs. Fast Tools</a:t>
            </a:r>
          </a:p>
          <a:p>
            <a:pPr>
              <a:spcBef>
                <a:spcPts val="400"/>
              </a:spcBef>
              <a:defRPr sz="1300">
                <a:solidFill>
                  <a:srgbClr val="E2E8F0"/>
                </a:solidFill>
              </a:defRPr>
            </a:pPr>
            <a:r>
              <a:t>Isolates core architectural principles that last 20+ years from fleeting weekly tool fads.</a:t>
            </a:r>
          </a:p>
        </p:txBody>
      </p:sp>
      <p:sp>
        <p:nvSpPr>
          <p:cNvPr id="11" name="Rounded Rectangle 10"/>
          <p:cNvSpPr/>
          <p:nvPr/>
        </p:nvSpPr>
        <p:spPr>
          <a:xfrm>
            <a:off x="6336792" y="3127248"/>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600" b="1">
                <a:solidFill>
                  <a:srgbClr val="2DD4BF"/>
                </a:solidFill>
              </a:defRPr>
            </a:pPr>
            <a:r>
              <a:t>04. Practical Roadmaps</a:t>
            </a:r>
          </a:p>
          <a:p>
            <a:pPr>
              <a:spcBef>
                <a:spcPts val="400"/>
              </a:spcBef>
              <a:defRPr sz="1300">
                <a:solidFill>
                  <a:srgbClr val="E2E8F0"/>
                </a:solidFill>
              </a:defRPr>
            </a:pPr>
            <a:r>
              <a:t>Engineers clear step-by-step milestones from zero fundamentals to full production execution.</a:t>
            </a:r>
          </a:p>
        </p:txBody>
      </p:sp>
      <p:sp>
        <p:nvSpPr>
          <p:cNvPr id="12" name="Rounded Rectangle 11"/>
          <p:cNvSpPr/>
          <p:nvPr/>
        </p:nvSpPr>
        <p:spPr>
          <a:xfrm>
            <a:off x="731520" y="4608576"/>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600" b="1">
                <a:solidFill>
                  <a:srgbClr val="38BDF8"/>
                </a:solidFill>
              </a:defRPr>
            </a:pPr>
            <a:r>
              <a:t>05. Human Mentorship Bridge</a:t>
            </a:r>
          </a:p>
          <a:p>
            <a:pPr>
              <a:spcBef>
                <a:spcPts val="400"/>
              </a:spcBef>
              <a:defRPr sz="1300">
                <a:solidFill>
                  <a:srgbClr val="E2E8F0"/>
                </a:solidFill>
              </a:defRPr>
            </a:pPr>
            <a:r>
              <a:t>Provides battle-tested frameworks to connect with and learn from verified industry veterans.</a:t>
            </a:r>
          </a:p>
        </p:txBody>
      </p:sp>
      <p:sp>
        <p:nvSpPr>
          <p:cNvPr id="13" name="Rounded Rectangle 12"/>
          <p:cNvSpPr/>
          <p:nvPr/>
        </p:nvSpPr>
        <p:spPr>
          <a:xfrm>
            <a:off x="6336792" y="4608576"/>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600" b="1">
                <a:solidFill>
                  <a:srgbClr val="2DD4BF"/>
                </a:solidFill>
              </a:defRPr>
            </a:pPr>
            <a:r>
              <a:t>06. Critical AI Literacy</a:t>
            </a:r>
          </a:p>
          <a:p>
            <a:pPr>
              <a:spcBef>
                <a:spcPts val="400"/>
              </a:spcBef>
              <a:defRPr sz="1300">
                <a:solidFill>
                  <a:srgbClr val="E2E8F0"/>
                </a:solidFill>
              </a:defRPr>
            </a:pPr>
            <a:r>
              <a:t>Harnesses generative AI for rapid learning while preventing dependency, laziness, and hallucinations.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5 Obstacles Every Learner Faces (Part 1)</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5</a:t>
            </a:r>
          </a:p>
        </p:txBody>
      </p:sp>
      <p:sp>
        <p:nvSpPr>
          <p:cNvPr id="8" name="Rounded Rectangle 7"/>
          <p:cNvSpPr/>
          <p:nvPr/>
        </p:nvSpPr>
        <p:spPr>
          <a:xfrm>
            <a:off x="731520" y="1645920"/>
            <a:ext cx="3328416" cy="429768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100" b="1">
                <a:solidFill>
                  <a:srgbClr val="FBBF24"/>
                </a:solidFill>
              </a:defRPr>
            </a:pPr>
            <a:r>
              <a:t>OBSTACLE 01</a:t>
            </a:r>
          </a:p>
          <a:p>
            <a:pPr>
              <a:spcBef>
                <a:spcPts val="400"/>
              </a:spcBef>
              <a:defRPr sz="1900" b="1">
                <a:solidFill>
                  <a:srgbClr val="F8FAFC"/>
                </a:solidFill>
              </a:defRPr>
            </a:pPr>
            <a:r>
              <a:t>Lack of Knowledge</a:t>
            </a:r>
          </a:p>
          <a:p>
            <a:pPr>
              <a:spcBef>
                <a:spcPts val="1400"/>
              </a:spcBef>
              <a:defRPr sz="1200" b="1">
                <a:solidFill>
                  <a:srgbClr val="F87171"/>
                </a:solidFill>
              </a:defRPr>
            </a:pPr>
            <a:r>
              <a:t>⚠️ The Challenge:</a:t>
            </a:r>
          </a:p>
          <a:p>
            <a:pPr>
              <a:spcBef>
                <a:spcPts val="300"/>
              </a:spcBef>
              <a:defRPr sz="1300">
                <a:solidFill>
                  <a:srgbClr val="94A3B8"/>
                </a:solidFill>
              </a:defRPr>
            </a:pPr>
            <a:r>
              <a:t>Learners are curious about a skill without knowing who hires for it, real industry challenges, or daily workflows.</a:t>
            </a:r>
          </a:p>
          <a:p>
            <a:pPr>
              <a:spcBef>
                <a:spcPts val="1400"/>
              </a:spcBef>
              <a:defRPr sz="1200" b="1">
                <a:solidFill>
                  <a:srgbClr val="2DD4BF"/>
                </a:solidFill>
              </a:defRPr>
            </a:pPr>
            <a:r>
              <a:t>✅ How AI Mentor Solves It:</a:t>
            </a:r>
          </a:p>
          <a:p>
            <a:pPr>
              <a:spcBef>
                <a:spcPts val="300"/>
              </a:spcBef>
              <a:defRPr sz="1300">
                <a:solidFill>
                  <a:srgbClr val="E2E8F0"/>
                </a:solidFill>
              </a:defRPr>
            </a:pPr>
            <a:r>
              <a:t>Conducts deep research into industries, business applications, and daily role responsibilities.</a:t>
            </a:r>
          </a:p>
        </p:txBody>
      </p:sp>
      <p:sp>
        <p:nvSpPr>
          <p:cNvPr id="9" name="Rounded Rectangle 8"/>
          <p:cNvSpPr/>
          <p:nvPr/>
        </p:nvSpPr>
        <p:spPr>
          <a:xfrm>
            <a:off x="4425696" y="1645920"/>
            <a:ext cx="3328416" cy="429768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100" b="1">
                <a:solidFill>
                  <a:srgbClr val="FBBF24"/>
                </a:solidFill>
              </a:defRPr>
            </a:pPr>
            <a:r>
              <a:t>OBSTACLE 02</a:t>
            </a:r>
          </a:p>
          <a:p>
            <a:pPr>
              <a:spcBef>
                <a:spcPts val="400"/>
              </a:spcBef>
              <a:defRPr sz="1900" b="1">
                <a:solidFill>
                  <a:srgbClr val="F8FAFC"/>
                </a:solidFill>
              </a:defRPr>
            </a:pPr>
            <a:r>
              <a:t>Too Many Resources</a:t>
            </a:r>
          </a:p>
          <a:p>
            <a:pPr>
              <a:spcBef>
                <a:spcPts val="1400"/>
              </a:spcBef>
              <a:defRPr sz="1200" b="1">
                <a:solidFill>
                  <a:srgbClr val="F87171"/>
                </a:solidFill>
              </a:defRPr>
            </a:pPr>
            <a:r>
              <a:t>⚠️ The Challenge:</a:t>
            </a:r>
          </a:p>
          <a:p>
            <a:pPr>
              <a:spcBef>
                <a:spcPts val="300"/>
              </a:spcBef>
              <a:defRPr sz="1300">
                <a:solidFill>
                  <a:srgbClr val="94A3B8"/>
                </a:solidFill>
              </a:defRPr>
            </a:pPr>
            <a:r>
              <a:t>Thousands of courses and YouTube playlists create severe analysis paralysis and decision fatigue.</a:t>
            </a:r>
          </a:p>
          <a:p>
            <a:pPr>
              <a:spcBef>
                <a:spcPts val="1400"/>
              </a:spcBef>
              <a:defRPr sz="1200" b="1">
                <a:solidFill>
                  <a:srgbClr val="2DD4BF"/>
                </a:solidFill>
              </a:defRPr>
            </a:pPr>
            <a:r>
              <a:t>✅ How AI Mentor Solves It:</a:t>
            </a:r>
          </a:p>
          <a:p>
            <a:pPr>
              <a:spcBef>
                <a:spcPts val="300"/>
              </a:spcBef>
              <a:defRPr sz="1300">
                <a:solidFill>
                  <a:srgbClr val="E2E8F0"/>
                </a:solidFill>
              </a:defRPr>
            </a:pPr>
            <a:r>
              <a:t>Curates a razor-sharp roadmap isolating essential fundamentals from optional side distractions.</a:t>
            </a:r>
          </a:p>
        </p:txBody>
      </p:sp>
      <p:sp>
        <p:nvSpPr>
          <p:cNvPr id="10" name="Rounded Rectangle 9"/>
          <p:cNvSpPr/>
          <p:nvPr/>
        </p:nvSpPr>
        <p:spPr>
          <a:xfrm>
            <a:off x="8119872" y="1645920"/>
            <a:ext cx="3328416" cy="429768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100" b="1">
                <a:solidFill>
                  <a:srgbClr val="FBBF24"/>
                </a:solidFill>
              </a:defRPr>
            </a:pPr>
            <a:r>
              <a:t>OBSTACLE 03</a:t>
            </a:r>
          </a:p>
          <a:p>
            <a:pPr>
              <a:spcBef>
                <a:spcPts val="400"/>
              </a:spcBef>
              <a:defRPr sz="1900" b="1">
                <a:solidFill>
                  <a:srgbClr val="F8FAFC"/>
                </a:solidFill>
              </a:defRPr>
            </a:pPr>
            <a:r>
              <a:t>FOMO &amp; Constant Change</a:t>
            </a:r>
          </a:p>
          <a:p>
            <a:pPr>
              <a:spcBef>
                <a:spcPts val="1400"/>
              </a:spcBef>
              <a:defRPr sz="1200" b="1">
                <a:solidFill>
                  <a:srgbClr val="F87171"/>
                </a:solidFill>
              </a:defRPr>
            </a:pPr>
            <a:r>
              <a:t>⚠️ The Challenge:</a:t>
            </a:r>
          </a:p>
          <a:p>
            <a:pPr>
              <a:spcBef>
                <a:spcPts val="300"/>
              </a:spcBef>
              <a:defRPr sz="1300">
                <a:solidFill>
                  <a:srgbClr val="94A3B8"/>
                </a:solidFill>
              </a:defRPr>
            </a:pPr>
            <a:r>
              <a:t>Pressure to learn every newly hyped library or AI model creates chronic learner burnout.</a:t>
            </a:r>
          </a:p>
          <a:p>
            <a:pPr>
              <a:spcBef>
                <a:spcPts val="1400"/>
              </a:spcBef>
              <a:defRPr sz="1200" b="1">
                <a:solidFill>
                  <a:srgbClr val="2DD4BF"/>
                </a:solidFill>
              </a:defRPr>
            </a:pPr>
            <a:r>
              <a:t>✅ How AI Mentor Solves It:</a:t>
            </a:r>
          </a:p>
          <a:p>
            <a:pPr>
              <a:spcBef>
                <a:spcPts val="300"/>
              </a:spcBef>
              <a:defRPr sz="1300">
                <a:solidFill>
                  <a:srgbClr val="E2E8F0"/>
                </a:solidFill>
              </a:defRPr>
            </a:pPr>
            <a:r>
              <a:t>Anchors learning in timeless fundamentals that remain relevant regardless of tool trends.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5 Obstacles Every Learner Faces (Part 2)</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6</a:t>
            </a:r>
          </a:p>
        </p:txBody>
      </p:sp>
      <p:sp>
        <p:nvSpPr>
          <p:cNvPr id="8" name="Rounded Rectangle 7"/>
          <p:cNvSpPr/>
          <p:nvPr/>
        </p:nvSpPr>
        <p:spPr>
          <a:xfrm>
            <a:off x="731520" y="1645920"/>
            <a:ext cx="5120640" cy="429768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defRPr sz="1200" b="1">
                <a:solidFill>
                  <a:srgbClr val="A78BFA"/>
                </a:solidFill>
              </a:defRPr>
            </a:pPr>
            <a:r>
              <a:t>OBSTACLE 04</a:t>
            </a:r>
          </a:p>
          <a:p>
            <a:pPr>
              <a:spcBef>
                <a:spcPts val="400"/>
              </a:spcBef>
              <a:defRPr sz="2100" b="1">
                <a:solidFill>
                  <a:srgbClr val="F8FAFC"/>
                </a:solidFill>
              </a:defRPr>
            </a:pPr>
            <a:r>
              <a:t>Roadmaps Without Context</a:t>
            </a:r>
          </a:p>
          <a:p>
            <a:pPr>
              <a:spcBef>
                <a:spcPts val="1800"/>
              </a:spcBef>
              <a:defRPr sz="1400" b="1">
                <a:solidFill>
                  <a:srgbClr val="F87171"/>
                </a:solidFill>
              </a:defRPr>
            </a:pPr>
            <a:r>
              <a:t>⚠️ The Challenge:</a:t>
            </a:r>
          </a:p>
          <a:p>
            <a:pPr>
              <a:spcBef>
                <a:spcPts val="400"/>
              </a:spcBef>
              <a:defRPr sz="1450">
                <a:solidFill>
                  <a:srgbClr val="94A3B8"/>
                </a:solidFill>
              </a:defRPr>
            </a:pPr>
            <a:r>
              <a:t>Generic online roadmaps treat learning like a checklist of topics. They never explain real production workflows, edge cases, or client expectations.</a:t>
            </a:r>
          </a:p>
          <a:p>
            <a:pPr>
              <a:spcBef>
                <a:spcPts val="1800"/>
              </a:spcBef>
              <a:defRPr sz="1400" b="1">
                <a:solidFill>
                  <a:srgbClr val="2DD4BF"/>
                </a:solidFill>
              </a:defRPr>
            </a:pPr>
            <a:r>
              <a:t>✅ How AI Mentor Solves It:</a:t>
            </a:r>
          </a:p>
          <a:p>
            <a:pPr>
              <a:spcBef>
                <a:spcPts val="400"/>
              </a:spcBef>
              <a:defRPr sz="1450">
                <a:solidFill>
                  <a:srgbClr val="E2E8F0"/>
                </a:solidFill>
              </a:defRPr>
            </a:pPr>
            <a:r>
              <a:t>Directly connects learning to real-world projects, industry constraints, and verifiable competence proofs.</a:t>
            </a:r>
          </a:p>
        </p:txBody>
      </p:sp>
      <p:sp>
        <p:nvSpPr>
          <p:cNvPr id="9" name="Rounded Rectangle 8"/>
          <p:cNvSpPr/>
          <p:nvPr/>
        </p:nvSpPr>
        <p:spPr>
          <a:xfrm>
            <a:off x="6336792" y="1645920"/>
            <a:ext cx="5120640" cy="429768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defRPr sz="1200" b="1">
                <a:solidFill>
                  <a:srgbClr val="2DD4BF"/>
                </a:solidFill>
              </a:defRPr>
            </a:pPr>
            <a:r>
              <a:t>OBSTACLE 05</a:t>
            </a:r>
          </a:p>
          <a:p>
            <a:pPr>
              <a:spcBef>
                <a:spcPts val="400"/>
              </a:spcBef>
              <a:defRPr sz="2100" b="1">
                <a:solidFill>
                  <a:srgbClr val="F8FAFC"/>
                </a:solidFill>
              </a:defRPr>
            </a:pPr>
            <a:r>
              <a:t>Lack of Mentorship &amp; Over-Reliance on AI</a:t>
            </a:r>
          </a:p>
          <a:p>
            <a:pPr>
              <a:spcBef>
                <a:spcPts val="1800"/>
              </a:spcBef>
              <a:defRPr sz="1400" b="1">
                <a:solidFill>
                  <a:srgbClr val="F87171"/>
                </a:solidFill>
              </a:defRPr>
            </a:pPr>
            <a:r>
              <a:t>⚠️ The Challenge:</a:t>
            </a:r>
          </a:p>
          <a:p>
            <a:pPr>
              <a:spcBef>
                <a:spcPts val="400"/>
              </a:spcBef>
              <a:defRPr sz="1450">
                <a:solidFill>
                  <a:srgbClr val="94A3B8"/>
                </a:solidFill>
              </a:defRPr>
            </a:pPr>
            <a:r>
              <a:t>AI models can hallucinate convincingly and lack lived human experience, personal feedback, or professional intuition.</a:t>
            </a:r>
          </a:p>
          <a:p>
            <a:pPr>
              <a:spcBef>
                <a:spcPts val="1800"/>
              </a:spcBef>
              <a:defRPr sz="1400" b="1">
                <a:solidFill>
                  <a:srgbClr val="2DD4BF"/>
                </a:solidFill>
              </a:defRPr>
            </a:pPr>
            <a:r>
              <a:t>✅ How AI Mentor Solves It:</a:t>
            </a:r>
          </a:p>
          <a:p>
            <a:pPr>
              <a:spcBef>
                <a:spcPts val="400"/>
              </a:spcBef>
              <a:defRPr sz="1450">
                <a:solidFill>
                  <a:srgbClr val="E2E8F0"/>
                </a:solidFill>
              </a:defRPr>
            </a:pPr>
            <a:r>
              <a:t>Combines AI research speed with systematic methods to find, connect with, and learn from experienced human practitioners.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AI Mentor Philosophy</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7</a:t>
            </a:r>
          </a:p>
        </p:txBody>
      </p:sp>
      <p:sp>
        <p:nvSpPr>
          <p:cNvPr id="8" name="Rounded Rectangle 7"/>
          <p:cNvSpPr/>
          <p:nvPr/>
        </p:nvSpPr>
        <p:spPr>
          <a:xfrm>
            <a:off x="731520" y="1645920"/>
            <a:ext cx="548640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a:lstStyle/>
          <a:p>
            <a:pPr algn="ctr">
              <a:defRPr sz="1300" b="1">
                <a:solidFill>
                  <a:srgbClr val="38BDF8"/>
                </a:solidFill>
              </a:defRPr>
            </a:pPr>
            <a:r>
              <a:t>THE 8 PRINCIPLES OF MASTERY</a:t>
            </a:r>
          </a:p>
          <a:p>
            <a:pPr>
              <a:spcBef>
                <a:spcPts val="900"/>
              </a:spcBef>
              <a:defRPr sz="1650" b="1">
                <a:solidFill>
                  <a:srgbClr val="F8FAFC"/>
                </a:solidFill>
              </a:defRPr>
            </a:pPr>
            <a:r>
              <a:t>1. Don't learn everything.</a:t>
            </a:r>
          </a:p>
          <a:p>
            <a:pPr>
              <a:spcBef>
                <a:spcPts val="900"/>
              </a:spcBef>
              <a:defRPr sz="1650" b="1">
                <a:solidFill>
                  <a:srgbClr val="F8FAFC"/>
                </a:solidFill>
              </a:defRPr>
            </a:pPr>
            <a:r>
              <a:t>2. Understand what matters.</a:t>
            </a:r>
          </a:p>
          <a:p>
            <a:pPr>
              <a:spcBef>
                <a:spcPts val="900"/>
              </a:spcBef>
              <a:defRPr sz="1650" b="1">
                <a:solidFill>
                  <a:srgbClr val="F8FAFC"/>
                </a:solidFill>
              </a:defRPr>
            </a:pPr>
            <a:r>
              <a:t>3. Build strong fundamentals.</a:t>
            </a:r>
          </a:p>
          <a:p>
            <a:pPr>
              <a:spcBef>
                <a:spcPts val="900"/>
              </a:spcBef>
              <a:defRPr sz="1650" b="1">
                <a:solidFill>
                  <a:srgbClr val="F8FAFC"/>
                </a:solidFill>
              </a:defRPr>
            </a:pPr>
            <a:r>
              <a:t>4. Use AI wisely.</a:t>
            </a:r>
          </a:p>
          <a:p>
            <a:pPr>
              <a:spcBef>
                <a:spcPts val="900"/>
              </a:spcBef>
              <a:defRPr sz="1650" b="1">
                <a:solidFill>
                  <a:srgbClr val="F8FAFC"/>
                </a:solidFill>
              </a:defRPr>
            </a:pPr>
            <a:r>
              <a:t>5. Verify important information.</a:t>
            </a:r>
          </a:p>
          <a:p>
            <a:pPr>
              <a:spcBef>
                <a:spcPts val="900"/>
              </a:spcBef>
              <a:defRPr sz="1650" b="1">
                <a:solidFill>
                  <a:srgbClr val="F8FAFC"/>
                </a:solidFill>
              </a:defRPr>
            </a:pPr>
            <a:r>
              <a:t>6. Learn from real people.</a:t>
            </a:r>
          </a:p>
          <a:p>
            <a:pPr>
              <a:spcBef>
                <a:spcPts val="900"/>
              </a:spcBef>
              <a:defRPr sz="1650" b="1">
                <a:solidFill>
                  <a:srgbClr val="F8FAFC"/>
                </a:solidFill>
              </a:defRPr>
            </a:pPr>
            <a:r>
              <a:t>7. Take action.</a:t>
            </a:r>
          </a:p>
          <a:p>
            <a:pPr>
              <a:spcBef>
                <a:spcPts val="900"/>
              </a:spcBef>
              <a:defRPr sz="1650" b="1">
                <a:solidFill>
                  <a:srgbClr val="F8FAFC"/>
                </a:solidFill>
              </a:defRPr>
            </a:pPr>
            <a:r>
              <a:t>8. Keep improving.</a:t>
            </a:r>
          </a:p>
        </p:txBody>
      </p:sp>
      <p:sp>
        <p:nvSpPr>
          <p:cNvPr id="9" name="Rounded Rectangle 8"/>
          <p:cNvSpPr/>
          <p:nvPr/>
        </p:nvSpPr>
        <p:spPr>
          <a:xfrm>
            <a:off x="6492240" y="1645920"/>
            <a:ext cx="4937760" cy="429768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2000" b="1">
                <a:solidFill>
                  <a:srgbClr val="FBBF24"/>
                </a:solidFill>
              </a:defRPr>
            </a:pPr>
            <a:r>
              <a:t>🎯 Core Takeaways</a:t>
            </a:r>
          </a:p>
          <a:p>
            <a:pPr>
              <a:spcBef>
                <a:spcPts val="1600"/>
              </a:spcBef>
              <a:defRPr sz="1500" b="1">
                <a:solidFill>
                  <a:srgbClr val="F8FAFC"/>
                </a:solidFill>
              </a:defRPr>
            </a:pPr>
            <a:r>
              <a:t>• Focus over Exhaustion</a:t>
            </a:r>
          </a:p>
          <a:p>
            <a:pPr>
              <a:spcBef>
                <a:spcPts val="300"/>
              </a:spcBef>
              <a:defRPr sz="1300">
                <a:solidFill>
                  <a:srgbClr val="94A3B8"/>
                </a:solidFill>
              </a:defRPr>
            </a:pPr>
            <a:r>
              <a:t>Stop trying to drink from the firehose. Master the durable 20% that underpins 80% of real work.</a:t>
            </a:r>
          </a:p>
          <a:p>
            <a:pPr>
              <a:spcBef>
                <a:spcPts val="1600"/>
              </a:spcBef>
              <a:defRPr sz="1500" b="1">
                <a:solidFill>
                  <a:srgbClr val="F8FAFC"/>
                </a:solidFill>
              </a:defRPr>
            </a:pPr>
            <a:r>
              <a:t>• Action over Consumption</a:t>
            </a:r>
          </a:p>
          <a:p>
            <a:pPr>
              <a:spcBef>
                <a:spcPts val="300"/>
              </a:spcBef>
              <a:defRPr sz="1300">
                <a:solidFill>
                  <a:srgbClr val="94A3B8"/>
                </a:solidFill>
              </a:defRPr>
            </a:pPr>
            <a:r>
              <a:t>Passive watching creates the illusion of competence. Active building creates actual problem-solving ability.</a:t>
            </a:r>
          </a:p>
          <a:p>
            <a:pPr>
              <a:spcBef>
                <a:spcPts val="1600"/>
              </a:spcBef>
              <a:defRPr sz="1500" b="1">
                <a:solidFill>
                  <a:srgbClr val="F8FAFC"/>
                </a:solidFill>
              </a:defRPr>
            </a:pPr>
            <a:r>
              <a:t>• Human + AI Synergy</a:t>
            </a:r>
          </a:p>
          <a:p>
            <a:pPr>
              <a:spcBef>
                <a:spcPts val="300"/>
              </a:spcBef>
              <a:defRPr sz="1300">
                <a:solidFill>
                  <a:srgbClr val="94A3B8"/>
                </a:solidFill>
              </a:defRPr>
            </a:pPr>
            <a:r>
              <a:t>Use AI as a supersonic research accelerator, and use real human mentors for strategic direction and sanity checks.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Golden Rule: AI as an Accelerator, Not an Oracle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8</a:t>
            </a:r>
          </a:p>
        </p:txBody>
      </p:sp>
      <p:sp>
        <p:nvSpPr>
          <p:cNvPr id="8" name="Rounded Rectangle 7"/>
          <p:cNvSpPr/>
          <p:nvPr/>
        </p:nvSpPr>
        <p:spPr>
          <a:xfrm>
            <a:off x="731520" y="1645920"/>
            <a:ext cx="10698480" cy="192024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28600"/>
          <a:lstStyle/>
          <a:p>
            <a:pPr algn="ctr">
              <a:defRPr sz="1300" b="1">
                <a:solidFill>
                  <a:srgbClr val="FBBF24"/>
                </a:solidFill>
              </a:defRPr>
            </a:pPr>
            <a:r>
              <a:t>⚠️ THE GOLDEN RULE OF THE AI ERA</a:t>
            </a:r>
          </a:p>
          <a:p>
            <a:pPr>
              <a:spcBef>
                <a:spcPts val="500"/>
              </a:spcBef>
              <a:defRPr sz="2000" i="1">
                <a:solidFill>
                  <a:srgbClr val="F8FAFC"/>
                </a:solidFill>
              </a:defRPr>
            </a:pPr>
            <a:r>
              <a:t>“AI can synthesize information in seconds, but it does NOT replace judgment, rigorous practice, or human insight.”</a:t>
            </a:r>
          </a:p>
          <a:p>
            <a:pPr>
              <a:spcBef>
                <a:spcPts val="600"/>
              </a:spcBef>
              <a:defRPr sz="1350">
                <a:solidFill>
                  <a:srgbClr val="94A3B8"/>
                </a:solidFill>
              </a:defRPr>
            </a:pPr>
            <a:r>
              <a:t>Always verify critical technical, architectural, or career decisions against authoritative documentation and experienced practitioners.</a:t>
            </a:r>
          </a:p>
        </p:txBody>
      </p:sp>
      <p:sp>
        <p:nvSpPr>
          <p:cNvPr id="9" name="Rounded Rectangle 8"/>
          <p:cNvSpPr/>
          <p:nvPr/>
        </p:nvSpPr>
        <p:spPr>
          <a:xfrm>
            <a:off x="731520" y="3840480"/>
            <a:ext cx="5120640" cy="214884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600" b="1">
                <a:solidFill>
                  <a:srgbClr val="2DD4BF"/>
                </a:solidFill>
              </a:defRPr>
            </a:pPr>
            <a:r>
              <a:t>✅ What AI Is Best Used For</a:t>
            </a:r>
          </a:p>
          <a:p>
            <a:pPr>
              <a:spcBef>
                <a:spcPts val="400"/>
              </a:spcBef>
              <a:defRPr sz="1300">
                <a:solidFill>
                  <a:srgbClr val="E2E8F0"/>
                </a:solidFill>
              </a:defRPr>
            </a:pPr>
            <a:r>
              <a:t>• Rapid exploration of new concepts &amp; complex syntax</a:t>
            </a:r>
          </a:p>
          <a:p>
            <a:pPr>
              <a:spcBef>
                <a:spcPts val="400"/>
              </a:spcBef>
              <a:defRPr sz="1300">
                <a:solidFill>
                  <a:srgbClr val="E2E8F0"/>
                </a:solidFill>
              </a:defRPr>
            </a:pPr>
            <a:r>
              <a:t>• Generating structured roadmaps &amp; practice exercises</a:t>
            </a:r>
          </a:p>
          <a:p>
            <a:pPr>
              <a:spcBef>
                <a:spcPts val="400"/>
              </a:spcBef>
              <a:defRPr sz="1300">
                <a:solidFill>
                  <a:srgbClr val="E2E8F0"/>
                </a:solidFill>
              </a:defRPr>
            </a:pPr>
            <a:r>
              <a:t>• Debugging cryptic errors &amp; brainstorming solutions</a:t>
            </a:r>
          </a:p>
        </p:txBody>
      </p:sp>
      <p:sp>
        <p:nvSpPr>
          <p:cNvPr id="10" name="Rounded Rectangle 9"/>
          <p:cNvSpPr/>
          <p:nvPr/>
        </p:nvSpPr>
        <p:spPr>
          <a:xfrm>
            <a:off x="6309360" y="3840480"/>
            <a:ext cx="5120640" cy="2148840"/>
          </a:xfrm>
          <a:prstGeom prst="roundRect">
            <a:avLst/>
          </a:prstGeom>
          <a:solidFill>
            <a:srgbClr val="141C2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600" b="1">
                <a:solidFill>
                  <a:srgbClr val="F87171"/>
                </a:solidFill>
              </a:defRPr>
            </a:pPr>
            <a:r>
              <a:t>❌ What AI Cannot Replace</a:t>
            </a:r>
          </a:p>
          <a:p>
            <a:pPr>
              <a:spcBef>
                <a:spcPts val="400"/>
              </a:spcBef>
              <a:defRPr sz="1300">
                <a:solidFill>
                  <a:srgbClr val="E2E8F0"/>
                </a:solidFill>
              </a:defRPr>
            </a:pPr>
            <a:r>
              <a:t>• Lived professional wisdom &amp; battle-tested experience</a:t>
            </a:r>
          </a:p>
          <a:p>
            <a:pPr>
              <a:spcBef>
                <a:spcPts val="400"/>
              </a:spcBef>
              <a:defRPr sz="1300">
                <a:solidFill>
                  <a:srgbClr val="E2E8F0"/>
                </a:solidFill>
              </a:defRPr>
            </a:pPr>
            <a:r>
              <a:t>• Personal empathy, team leadership, and trust</a:t>
            </a:r>
          </a:p>
          <a:p>
            <a:pPr>
              <a:spcBef>
                <a:spcPts val="400"/>
              </a:spcBef>
              <a:defRPr sz="1300">
                <a:solidFill>
                  <a:srgbClr val="E2E8F0"/>
                </a:solidFill>
              </a:defRPr>
            </a:pPr>
            <a:r>
              <a:t>• Hands-on intuition earned by fixing real production bugs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0.1 • WHAT IS AI MENTOR?</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Master Curriculum Progression &amp; Next Steps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Video Masterclass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9</a:t>
            </a:r>
          </a:p>
        </p:txBody>
      </p:sp>
      <p:sp>
        <p:nvSpPr>
          <p:cNvPr id="8" name="Rounded Rectangle 7"/>
          <p:cNvSpPr/>
          <p:nvPr/>
        </p:nvSpPr>
        <p:spPr>
          <a:xfrm>
            <a:off x="731520" y="1600200"/>
            <a:ext cx="10698480" cy="77724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F8FAFC"/>
                </a:solidFill>
              </a:defRPr>
            </a:pPr>
            <a:r>
              <a:t>Module 00: Introduction to AI Mentor</a:t>
            </a:r>
          </a:p>
          <a:p>
            <a:pPr>
              <a:spcBef>
                <a:spcPts val="200"/>
              </a:spcBef>
              <a:defRPr sz="1200">
                <a:solidFill>
                  <a:srgbClr val="38BDF8"/>
                </a:solidFill>
              </a:defRPr>
            </a:pPr>
            <a:r>
              <a:t>Foundations, mindset, and overcoming self-learning traps.  [CURRENT LESSON]</a:t>
            </a:r>
          </a:p>
        </p:txBody>
      </p:sp>
      <p:sp>
        <p:nvSpPr>
          <p:cNvPr id="9" name="Rounded Rectangle 8"/>
          <p:cNvSpPr/>
          <p:nvPr/>
        </p:nvSpPr>
        <p:spPr>
          <a:xfrm>
            <a:off x="731520" y="2542032"/>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F8FAFC"/>
                </a:solidFill>
              </a:defRPr>
            </a:pPr>
            <a:r>
              <a:t>Module 01: Find Your Way</a:t>
            </a:r>
          </a:p>
          <a:p>
            <a:pPr>
              <a:spcBef>
                <a:spcPts val="200"/>
              </a:spcBef>
              <a:defRPr sz="1200">
                <a:solidFill>
                  <a:srgbClr val="2DD4BF"/>
                </a:solidFill>
              </a:defRPr>
            </a:pPr>
            <a:r>
              <a:t>Deep skill analysis, custom career roadmaps, and your first AI Skill Jar.  [UP NEXT]</a:t>
            </a:r>
          </a:p>
        </p:txBody>
      </p:sp>
      <p:sp>
        <p:nvSpPr>
          <p:cNvPr id="10" name="Rounded Rectangle 9"/>
          <p:cNvSpPr/>
          <p:nvPr/>
        </p:nvSpPr>
        <p:spPr>
          <a:xfrm>
            <a:off x="731520" y="3483864"/>
            <a:ext cx="10698480" cy="77724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94A3B8"/>
                </a:solidFill>
              </a:defRPr>
            </a:pPr>
            <a:r>
              <a:t>Module 02: Explore The Domain</a:t>
            </a:r>
          </a:p>
          <a:p>
            <a:pPr>
              <a:spcBef>
                <a:spcPts val="200"/>
              </a:spcBef>
              <a:defRPr sz="1200">
                <a:solidFill>
                  <a:srgbClr val="94A3B8"/>
                </a:solidFill>
              </a:defRPr>
            </a:pPr>
            <a:r>
              <a:t>Industry landscape, hiring profiles, workflows, and market opportunities.  [UPCOMING]</a:t>
            </a:r>
          </a:p>
        </p:txBody>
      </p:sp>
      <p:sp>
        <p:nvSpPr>
          <p:cNvPr id="11" name="Rounded Rectangle 10"/>
          <p:cNvSpPr/>
          <p:nvPr/>
        </p:nvSpPr>
        <p:spPr>
          <a:xfrm>
            <a:off x="731520" y="4425696"/>
            <a:ext cx="10698480" cy="77724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94A3B8"/>
                </a:solidFill>
              </a:defRPr>
            </a:pPr>
            <a:r>
              <a:t>Module 03: Actionable Frameworks</a:t>
            </a:r>
          </a:p>
          <a:p>
            <a:pPr>
              <a:spcBef>
                <a:spcPts val="200"/>
              </a:spcBef>
              <a:defRPr sz="1200">
                <a:solidFill>
                  <a:srgbClr val="94A3B8"/>
                </a:solidFill>
              </a:defRPr>
            </a:pPr>
            <a:r>
              <a:t>Structured prompt systems, hands-on building, and verification loops.  [UPCOMING]</a:t>
            </a:r>
          </a:p>
        </p:txBody>
      </p:sp>
      <p:sp>
        <p:nvSpPr>
          <p:cNvPr id="12" name="Rounded Rectangle 11"/>
          <p:cNvSpPr/>
          <p:nvPr/>
        </p:nvSpPr>
        <p:spPr>
          <a:xfrm>
            <a:off x="731520" y="5367528"/>
            <a:ext cx="10698480" cy="77724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94A3B8"/>
                </a:solidFill>
              </a:defRPr>
            </a:pPr>
            <a:r>
              <a:t>Module 04: The Human Bridge</a:t>
            </a:r>
          </a:p>
          <a:p>
            <a:pPr>
              <a:spcBef>
                <a:spcPts val="200"/>
              </a:spcBef>
              <a:defRPr sz="1200">
                <a:solidFill>
                  <a:srgbClr val="94A3B8"/>
                </a:solidFill>
              </a:defRPr>
            </a:pPr>
            <a:r>
              <a:t>Finding real mentors, authentic networking, and landing career roles.  [UPCOMING]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1280160"/>
          </a:xfrm>
          <a:prstGeom prst="rect">
            <a:avLst/>
          </a:prstGeom>
          <a:noFill/>
        </p:spPr>
        <p:txBody>
          <a:bodyPr wrap="square">
            <a:spAutoFit/>
          </a:bodyPr>
          <a:lstStyle/>
          <a:p>
            <a:pPr>
              <a:defRPr sz="1400" b="1">
                <a:solidFill>
                  <a:srgbClr val="FBBF24"/>
                </a:solidFill>
              </a:defRPr>
            </a:pPr>
            <a:r>
              <a:t>READY TO TRANSFORM YOUR LEARNING JOURNEY?</a:t>
            </a:r>
          </a:p>
          <a:p>
            <a:pPr>
              <a:spcBef>
                <a:spcPts val="400"/>
              </a:spcBef>
              <a:defRPr sz="3600" b="1">
                <a:solidFill>
                  <a:srgbClr val="F8FAFC"/>
                </a:solidFill>
              </a:defRPr>
            </a:pPr>
            <a:r>
              <a:t>Next Lesson: Module 01 — Find Your Way</a:t>
            </a:r>
          </a:p>
        </p:txBody>
      </p:sp>
      <p:sp>
        <p:nvSpPr>
          <p:cNvPr id="5" name="Rounded Rectangle 4"/>
          <p:cNvSpPr/>
          <p:nvPr/>
        </p:nvSpPr>
        <p:spPr>
          <a:xfrm>
            <a:off x="731520" y="2834640"/>
            <a:ext cx="10698480" cy="27432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2DD4BF"/>
                </a:solidFill>
              </a:defRPr>
            </a:pPr>
            <a:r>
              <a:t>Empowering Learners Worldwide  •  R.K. SKILLFORGE</a:t>
            </a:r>
          </a:p>
          <a:p>
            <a:pPr>
              <a:spcBef>
                <a:spcPts val="1000"/>
              </a:spcBef>
              <a:defRPr sz="1500">
                <a:solidFill>
                  <a:srgbClr val="E2E8F0"/>
                </a:solidFill>
              </a:defRPr>
            </a:pPr>
            <a:r>
              <a:t>👍  Like this video &amp; Subscribe to our channel for the full AI Mentor series</a:t>
            </a:r>
          </a:p>
          <a:p>
            <a:pPr>
              <a:spcBef>
                <a:spcPts val="1000"/>
              </a:spcBef>
              <a:defRPr sz="1500">
                <a:solidFill>
                  <a:srgbClr val="E2E8F0"/>
                </a:solidFill>
              </a:defRPr>
            </a:pPr>
            <a:r>
              <a:t>⭐  Star the GitHub Repository to download slides, templates &amp; prompt jars</a:t>
            </a:r>
          </a:p>
          <a:p>
            <a:pPr>
              <a:spcBef>
                <a:spcPts val="1000"/>
              </a:spcBef>
              <a:defRPr sz="1500">
                <a:solidFill>
                  <a:srgbClr val="E2E8F0"/>
                </a:solidFill>
              </a:defRPr>
            </a:pPr>
            <a:r>
              <a:t>💬  Drop your current target skill or career question in the comments below</a:t>
            </a:r>
          </a:p>
          <a:p>
            <a:pPr>
              <a:spcBef>
                <a:spcPts val="1000"/>
              </a:spcBef>
              <a:defRPr sz="1500">
                <a:solidFill>
                  <a:srgbClr val="E2E8F0"/>
                </a:solidFill>
              </a:defRPr>
            </a:pPr>
            <a:r>
              <a:t>➡️  Click the next video to begin Module 01: Find Your Way</a:t>
            </a:r>
          </a:p>
        </p:txBody>
      </p:sp>
      <p:sp>
        <p:nvSpPr>
          <p:cNvPr id="6" name="TextBox 5"/>
          <p:cNvSpPr txBox="1"/>
          <p:nvPr/>
        </p:nvSpPr>
        <p:spPr>
          <a:xfrm>
            <a:off x="731520" y="5806440"/>
            <a:ext cx="10698480" cy="457200"/>
          </a:xfrm>
          <a:prstGeom prst="rect">
            <a:avLst/>
          </a:prstGeom>
          <a:noFill/>
        </p:spPr>
        <p:txBody>
          <a:bodyPr wrap="none">
            <a:spAutoFit/>
          </a:bodyPr>
          <a:lstStyle/>
          <a:p>
            <a:pPr algn="ctr">
              <a:defRPr sz="1300">
                <a:solidFill>
                  <a:srgbClr val="94A3B8"/>
                </a:solidFill>
              </a:defRPr>
            </a:pPr>
            <a:r>
              <a:t>© R.K. SKILLFORGE   |   AI Mentor Course   |   100% Free Lifetime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